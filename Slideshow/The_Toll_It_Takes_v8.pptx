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bg-s02.jpg" ContentType="image/jpg"/>
  <Override PartName="/ppt/media/bg-s03.jpg" ContentType="image/jpg"/>
  <Override PartName="/ppt/media/bg-s04.jpg" ContentType="image/jpg"/>
  <Override PartName="/ppt/media/bg-s05.jpg" ContentType="image/jpg"/>
  <Override PartName="/ppt/media/bg-s06.jpg" ContentType="image/jpg"/>
  <Override PartName="/ppt/media/bg-s07.jpg" ContentType="image/jpg"/>
  <Override PartName="/ppt/media/bg-s08.jpg" ContentType="image/jpg"/>
  <Override PartName="/ppt/media/bg-s09.jpg" ContentType="image/jpg"/>
  <Override PartName="/ppt/media/bg-s10.jpg" ContentType="image/jpg"/>
  <Override PartName="/ppt/media/bg-s11.jpg" ContentType="image/jpg"/>
  <Override PartName="/ppt/media/bg-s12.jpg" ContentType="image/jpg"/>
  <Override PartName="/ppt/media/bg-s13.jpg" ContentType="image/jpg"/>
  <Override PartName="/ppt/media/bg-s14.jpg" ContentType="image/jpg"/>
  <Override PartName="/ppt/media/bg-s15.jpg" ContentType="image/jpg"/>
  <Override PartName="/ppt/media/bg-s16.jpg" ContentType="image/jpg"/>
  <Override PartName="/ppt/media/bg-s17.jpg" ContentType="image/jpg"/>
  <Override PartName="/ppt/media/bg-s18.jpg" ContentType="image/jpg"/>
  <Override PartName="/ppt/media/bg-s20.jpg" ContentType="image/jpg"/>
  <Override PartName="/ppt/media/bg-s21.jpg" ContentType="image/jpg"/>
  <Override PartName="/ppt/media/bg-s22.jpg" ContentType="image/jpg"/>
  <Override PartName="/ppt/media/bg-s23.jpg" ContentType="image/jpg"/>
  <Override PartName="/ppt/media/bg-s24.jpg" ContentType="image/jpg"/>
  <Override PartName="/ppt/media/bg-s27.jpg" ContentType="image/jpg"/>
  <Override PartName="/ppt/media/bg-s28.jpg" ContentType="image/jpg"/>
  <Override PartName="/ppt/media/bg-s29.jpg" ContentType="image/jpg"/>
  <Override PartName="/ppt/media/bg-s30.jpg" ContentType="image/jpg"/>
  <Override PartName="/ppt/media/bg-s31.jpg" ContentType="image/jpg"/>
  <Override PartName="/ppt/media/bg-s32.jpg" ContentType="image/jpg"/>
  <Override PartName="/ppt/media/bg-s33.jpg" ContentType="image/jpg"/>
  <Override PartName="/ppt/media/bg-s34.jpg" ContentType="image/jpg"/>
  <Override PartName="/ppt/media/bg-s35.jpg" ContentType="image/jpg"/>
  <Override PartName="/ppt/media/bg-s36.jpg" ContentType="image/jpg"/>
  <Override PartName="/ppt/media/image-1-1.jpg" ContentType="image/jpg"/>
  <Override PartName="/ppt/media/ph-fdr-dark.jpg" ContentType="image/jpg"/>
  <Override PartName="/ppt/media/ph-hellgate-purple.jpg" ContentType="image/jpg"/>
  <Override PartName="/ppt/media/ph-triborough.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January of 2025, New York started charging nine dollars to drive into Manhattan below 60th Street, and the city sold this as cleaner air, while the South Bronx heard it as the cars coming to them instead. My name is Furkan, and this project looks at whether either of those turned out to be true, and what that should change about where the city spends its money.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sides have data. A Cornell study measured PM two-point-five going down 22 percent inside the zone, while a South Bronx community network measured increases at most of their sensors and blamed diverted traffic. Nobody had held both claims to the same standard, so that is what I built, one analysis with one set of controls applied to every monitor the same way.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want to give the answer up front. Inside the zone the air got cleaner by about one microgram at the bridge landings, and that holds under every test I ran, while outside the zone nothing I can measure changed, including neighborhoods that are neither poor nor near a highway. Through this, the question of whether disadvantaged neighborhoods were treated worse turns out to be the wrong cut, because the line that matters is 60th Street and not the designation.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what I worked with. Eleven city monitors reading PM two-point-five every hour since 2019, rolled into daily averages with at least 18 valid hours, and two Queens monitors as controls, which sit far enough from the zone that whatever they do reflects the city and not the toll, plus MTA counts at every crossing, the zone geofence, and the state's disadvantaged tracts, which is what I mean by EJ.</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map is the whole argument in one picture. Green means the air fell and brick means it rose, while filled means I am confident and hollow means the change is too small to separate from zero. The only two filled green dots are inside the line, at the Manhattan and Williamsburg Bridge landings, and both are designated tracts, so the benefit did reach poor neighborhoods, just the ones inside. Cross into the Bronx and every dot goes hollow, and the rest of this talk is making sure that picture is not an accident.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trust the dots you have to trust the method. For each monitor I fit the pre toll readings with a trend, a seasonal cycle, and the two Queens controls, which projects what it would have read with no toll, the dashed line, and then I measure the jump at the toll date. If smoke or a mild winter moved the entire city, the controls moved too and get subtracted, so the toll only gets credit for what they cannot explain. At Manhattan Bridge the solid line drops below the dashed one and stays there, while at Mott Haven the two lines sit on top of each other.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numbers behind the picture. Manhattan Bridge came out at minus 1.33 with the entire range below zero, so there is no version of the data where it did not fall, and Williamsburg came out at minus 1.04 with the same story. Mott Haven came out at plus 0.30 with a p value of 0.61, which means a number that size shows up six times out of ten when nothing is going on, so I do not call that a result.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the equity question, and why it is the wrong cut. Four of these five monitors sit in designated tracts, including the two that improved the most, so the EJ label and the inside the zone label describe nearly the same monitors, and no statistical method can separate two labels that point at the same dots. Holding the zone constant in a larger model, the EJ gap lands between minus 0.4 and zero and is not significant, which tells us a toll draws a line on a map, whoever is inside gets the benefit, and income never enters into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weak spot in my own result is that it says nothing happened in the Bronx, and nothing is the easiest thing to claim and the hardest to prove. So I attacked it nine different ways, each aimed at a doubt a skeptic would raise, and I will show you four of them while the rest are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doubt is that diversion might be hiding inside the daily average. The toll is 75 percent cheaper overnight, so dodging it happens by day, which is why I ran the model on each day's daytime reading minus its nighttime reading, since weather hits both equally and cancels while traffic does not. At Mott Haven the gap did not move, and at Cross Bronx on weekdays it widened by 0.9, which is the one bar out of sixteen that clears the bar, so it is a hint. Inside the zone the daytime air got slightly better, which is exactly what fewer daytime cars looks like.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second doubt is about the mechanism itself. The critics' story is a chain where the toll makes cars reroute, the Bronx bridges get busier, and Mott Haven's air gets worse, and this chart tests the last link. Each dot is one pre toll day with Throgs Neck traffic across and Mott Haven air up, and the slope is only 0.018 micrograms per thousand vehicles. After the toll the Throgs Neck ran 2,041 vehicles a day above forecast, which comes out to 0.04 against the 0.30 people worry about, so diverted traffic explains one eighth of it and the chain breaks at the last link.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slide that settles it, because it fixes the problem from slide eight. The city has no outside the zone monitor in a neighborhood that is not designated, so I found some by pulling volunteer PurpleAir sensors, correcting them with the EPA's formula, and screening twelve of them, of which three passed. Then I ran the simplest comparison there is, 2025 minus 2024 on matched days, minus the same change at the control. Mott Haven came out at plus 0.87, Bay Ridge, which is middle class and not designated and nowhere near an expressway, came out at plus 0.85, and Brooklyn Heights at plus 1.26. A neighborhood with no highway and no designation moved exactly as much as the South Bronx, so this is not a Bronx story or an EJ story, it is a zone story.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are all nine checks on one table, where each row is a monitor, each column is a check, green says cleaner, brick says dirtier, and bold means that check is significant on its own, and this half, inside or on the edge of the zone, is green almost everywhere.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half is outside the zone, where the Bronx rows mix green and brick with no pattern, and the volunteer sensors look just like the Bronx rows. Same nine tests, same answer.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the community study the brief cites, they found small increases at their Bronx sensors and so did I in the raw numbers, so we only disagree about what to compare it to. When I subtract a control, the same increase shows up in Bay Ridge, so Bronx air went up but it did not go up more than everywhere else.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traffic data says the same thing. The tunnels into the zone lost 14 and 7 percent against forecast, while the Bronx bridges, where diverted cars would have to show up, stayed within two percent. About 73,000 fewer vehicles a day enter the zone, and they did not go around, they mostly went away, which is the mechanism behind cleaner air inside and the reason there is nothing to find outside.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the toll did not hurt the Bronx, and here is why that is not good news. The Mott Haven monitor sits 44 meters from the Major Deegan and six kilometers from the zone, with nine school entries within 400 meters, and it read about 7.5 before the toll and reads 7.5 now, because a toll on Manhattan has no lever on an expressway next door. The Health Department estimates traffic is about 14 percent of the city's PM, which is one to two micrograms here, so cutting the expressway's volume in half would plausibly remove half a unit to a full unit, more than the toll achieved anywhere outside the zone. That is a back of the envelope calculation, but it tells you the fix is on this street and not downtown.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brings me to the policy point. The toll worked where it charges, including for designated neighborhoods inside the line, it did not do the harm its critics feared, and it was never going to reach the Bronx, which had the worst air and asthma rates in the city before the toll and still does. The state attached about 125 million dollars in mitigation, including 10 million for roadside vegetation and 10 million for school air filtration, with Hunts Point and Mott Haven among the target communities, and it was justified as compensation for diverted traffic that the MTA now says did not materialize. So the question is what to do with a budget that is already there for a problem that was already there, and Part II is my answer.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brief quotes Du Bois imagining a New York with forests where the concrete used to be, and argues you cannot get there until something stops needing the land at street level. Inside the zone the toll did exactly that, but in Mott Haven nothing did, so the design has to work with the street as it is.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start with the street as it is. From the city's footprint and centerline files, the buildings average 33 feet tall and the streets are 32 feet wide, a height to width ratio of about one, which makes this a street canyon. From the 2015 tree census the canopy is 4 percent against 22 citywide, so the gap is large, but the canyon means you cannot simply close it with trees.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are three ways to plant here, and this is the trade off the brief asked us to face. Dense trees at 20 foot spacing means about 15,000 trees, spaced at 40 feet means about 7,400, and the third option is a green wall. The Forest Service's i-Tree rates say dense planting removes about 6,900 kilograms a year at maturity, but in a canyon above a ratio of 0.5 a dense canopy can trap pollution at street level, so I discount by the geometry, 13 percent for dense and 5 for spaced. Dense still wins at about 6,000 kilograms, but only if the species branch high enough to leave the canyon open, and it also intercepts about 80 million liters of stormwater a year.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is the catch, since trees deliver 10 percent of their mature removal in year one, 55 at year ten, and 90 at year twenty, while walls and screens deliver their full effect from day one, so it is screens now while the trees come up.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four species were chosen for this street rather than from a default list. Honeylocust leads because it branches high and shades without closing the canyon, lacebark elm clears truck height, swamp white oak is for the long run, and male ginkgo goes in the hardest spots, and all four tolerate road salt.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piece I would build first, because it is where the people are. P.S. 43 and Mott Haven Academy share 180 feet of frontage on Brown Place, and a 20 foot vegetative screen there removes about 12 kilograms a year, which is small citywide but sits exactly where several hundred children spend six hours a day and works in year one. If the mitigation money buys one thing, it should be this.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this is the claim. Congestion pricing is eliminating pollution and not moving it, but only inside the zone, and outside the zone nothing changed. It did not hurt the Bronx and it did not touch the Bronx either, because a toll on Manhattan has no lever on an expressway 44 meters from a school, so the city should spend the money already on the table on what actually reaches it, trees sized to the canyon and screens at the schools. Thank you, and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backup slides that I will not present unless someone asks about them. They are all nine checks in order, followed by the limitations.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someone asks about weather, I added wind speed, temperature, rain, humidity, and wind direction from LaGuardia to every model, and nothing flipped sign while the ranges got shorter at eight of eleven sites. The four bars entirely left of zero are all in or on the edge of the zone, and SI Expressway and Hamilton Bridge are greyed out because they have under 200 pre toll days in a single season, which means the seasonal terms cannot be identified.</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someone asks about rush hour, each bar is the change in the daytime minus nighttime gap after the toll, and diversion would show up by day because the toll is 75 percent cheaper at night. Mott Haven is near zero, and Cross Bronx on weekdays is the one significant bar out of sixteen among the monitors with a full pre toll year.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someone asks about the placebo test, I planted fake toll dates in the pre toll data to see whether the method finds effects that are not there. The long baseline model, which uses data back to 2019 with only one control, finds fake effects of plus or minus 30 units, so I discarded that model, and this chart is here to show why the main results do not use it.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someone asks about the controls, this model drops them entirely by putting all eleven monitors in one regression with a fixed effect for each site and each day, so that anything citywide cancels out. The dots are relative to BQE, the in zone bridges sit about 1.3 to 1.6 below the Bronx on the same days, and no single site is significant on its own under a wild cluster bootstrap. With both the EJ label and the zone label in the model, the EJ effect is minus 0.38 to plus 0.02.</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someone asks whether diversion could cause it, the slope is 0.018 per thousand cars, times 2,041 extra cars, which equals 0.04 micrograms, or one eighth of the 0.30. The slope itself is not significant, which cuts the same way, since it means bridge traffic is only weakly tied to the air at Mott Haven.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someone asks about NO2, it comes almost entirely from engines, which makes it a sharper fingerprint of traffic than particles are. The two state monitors in the Bronx fell 0.4 parts per billion in 2025, which is the same as the Queens control, and neither monitor is on the Deegan or the Bruckner, so this is borough level evidence rather than corridor level.</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someone asks to see it without a model, this is 2025 minus 2024 on matched days, minus the control. The bridges inside the zone are down 0.6 to 0.8 and still falling in 2026, while the Bronx is up about 0.9 against Van Wyck and roughly flat against Queens College. The choice of control shifts the Bronx by about a unit, so the safe reading is no improvement rather than worse.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someone asks whether the model is driving the result, I removed the term that lets the effect change over time. Manhattan Bridge survives, Williamsburg goes borderline, and Mott Haven flips from plus 0.30 to minus 0.65, which is exactly why I claim no direction there. Queensboro is significant only in the simpler model.</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someone asks how the sensors were chosen, twelve were screened for two agreeing channels, physically plausible readings, humidity for the EPA correction, 80 percent coverage, and 200 pre toll days. Three passed, which were Bay Ridge, Brooklyn Heights, and East Harlem, and six pass a looser 70 percent bar as a sensitivity check.</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someone asks what could be wrong, both Queens controls fell in 2025, so the outside zone increases relative to them may partly be control drift, which makes no change the safer reading. Only three volunteer sensors passed, Mott Haven has nine pre toll months, Hunts Point was offline across the toll date, and the boulevard number is a back of the envelope calculation. All of that is written on the page.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Bg" Type="http://schemas.openxmlformats.org/officeDocument/2006/relationships/image" Target="../media/bg-s02.jpg"/><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Bg" Type="http://schemas.openxmlformats.org/officeDocument/2006/relationships/image" Target="../media/bg-s03.jpg"/><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Bg" Type="http://schemas.openxmlformats.org/officeDocument/2006/relationships/image" Target="../media/bg-s04.jpg"/><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Bg" Type="http://schemas.openxmlformats.org/officeDocument/2006/relationships/image" Target="../media/bg-s05.jpg"/><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Bg" Type="http://schemas.openxmlformats.org/officeDocument/2006/relationships/image" Target="../media/bg-s06.jpg"/><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Bg" Type="http://schemas.openxmlformats.org/officeDocument/2006/relationships/image" Target="../media/bg-s07.jpg"/><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Bg" Type="http://schemas.openxmlformats.org/officeDocument/2006/relationships/image" Target="../media/bg-s08.jpg"/><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Bg" Type="http://schemas.openxmlformats.org/officeDocument/2006/relationships/image" Target="../media/bg-s09.jpg"/><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Bg" Type="http://schemas.openxmlformats.org/officeDocument/2006/relationships/image" Target="../media/bg-s10.jpg"/><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Bg" Type="http://schemas.openxmlformats.org/officeDocument/2006/relationships/image" Target="../media/bg-s11.jpg"/><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Bg" Type="http://schemas.openxmlformats.org/officeDocument/2006/relationships/image" Target="../media/bg-s12.jpg"/><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Bg" Type="http://schemas.openxmlformats.org/officeDocument/2006/relationships/image" Target="../media/bg-s13.jpg"/><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Bg" Type="http://schemas.openxmlformats.org/officeDocument/2006/relationships/image" Target="../media/bg-s14.jpg"/><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Bg" Type="http://schemas.openxmlformats.org/officeDocument/2006/relationships/image" Target="../media/bg-s15.jpg"/><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Bg" Type="http://schemas.openxmlformats.org/officeDocument/2006/relationships/image" Target="../media/bg-s16.jpg"/><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Bg" Type="http://schemas.openxmlformats.org/officeDocument/2006/relationships/image" Target="../media/bg-s17.jpg"/><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Bg" Type="http://schemas.openxmlformats.org/officeDocument/2006/relationships/image" Target="../media/bg-s18.jpg"/><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Ph" Type="http://schemas.openxmlformats.org/officeDocument/2006/relationships/image" Target="../media/ph-triborough.jpg"/><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Bg" Type="http://schemas.openxmlformats.org/officeDocument/2006/relationships/image" Target="../media/bg-s20.jpg"/><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Bg" Type="http://schemas.openxmlformats.org/officeDocument/2006/relationships/image" Target="../media/bg-s21.jpg"/><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Bg" Type="http://schemas.openxmlformats.org/officeDocument/2006/relationships/image" Target="../media/bg-s22.jpg"/><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Bg" Type="http://schemas.openxmlformats.org/officeDocument/2006/relationships/image" Target="../media/bg-s23.jpg"/><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Bg" Type="http://schemas.openxmlformats.org/officeDocument/2006/relationships/image" Target="../media/bg-s24.jpg"/><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Bg" Type="http://schemas.openxmlformats.org/officeDocument/2006/relationships/image" Target="../media/ph-fdr-dark.jpg"/><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Bg" Type="http://schemas.openxmlformats.org/officeDocument/2006/relationships/image" Target="../media/ph-hellgate-purple.jpg"/><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Bg" Type="http://schemas.openxmlformats.org/officeDocument/2006/relationships/image" Target="../media/bg-s27.jpg"/><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Bg" Type="http://schemas.openxmlformats.org/officeDocument/2006/relationships/image" Target="../media/bg-s28.jpg"/><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Bg" Type="http://schemas.openxmlformats.org/officeDocument/2006/relationships/image" Target="../media/bg-s29.jpg"/><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Bg" Type="http://schemas.openxmlformats.org/officeDocument/2006/relationships/image" Target="../media/bg-s30.jpg"/><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Bg" Type="http://schemas.openxmlformats.org/officeDocument/2006/relationships/image" Target="../media/bg-s31.jpg"/><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Bg" Type="http://schemas.openxmlformats.org/officeDocument/2006/relationships/image" Target="../media/bg-s32.jpg"/><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Bg" Type="http://schemas.openxmlformats.org/officeDocument/2006/relationships/image" Target="../media/bg-s33.jpg"/><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Bg" Type="http://schemas.openxmlformats.org/officeDocument/2006/relationships/image" Target="../media/bg-s34.jpg"/><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Bg" Type="http://schemas.openxmlformats.org/officeDocument/2006/relationships/image" Target="../media/bg-s35.jpg"/><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Bg" Type="http://schemas.openxmlformats.org/officeDocument/2006/relationships/image" Target="../media/bg-s36.jpg"/><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mg/s01.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8000"/>
            </a:srgbClr>
          </a:solidFill>
          <a:ln w="12700">
            <a:solidFill>
              <a:srgbClr val="000000">
                <a:alpha val="0"/>
              </a:srgbClr>
            </a:solidFill>
            <a:prstDash val="solid"/>
          </a:ln>
        </p:spPr>
      </p:sp>
      <p:sp>
        <p:nvSpPr>
          <p:cNvPr id="4" name="Text 1"/>
          <p:cNvSpPr txBox="1"/>
          <p:nvPr/>
        </p:nvSpPr>
        <p:spPr>
          <a:xfrm>
            <a:off x="548640" y="2377440"/>
            <a:ext cx="914400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The Toll It Takes</a:t>
            </a:r>
            <a:endParaRPr lang="en-US" sz="6000" dirty="0"/>
          </a:p>
        </p:txBody>
      </p:sp>
      <p:sp>
        <p:nvSpPr>
          <p:cNvPr id="5" name="Text 2"/>
          <p:cNvSpPr txBox="1"/>
          <p:nvPr/>
        </p:nvSpPr>
        <p:spPr>
          <a:xfrm>
            <a:off x="548640" y="3474720"/>
            <a:ext cx="8229600" cy="1005840"/>
          </a:xfrm>
          <a:prstGeom prst="rect">
            <a:avLst/>
          </a:prstGeom>
          <a:noFill/>
          <a:ln/>
        </p:spPr>
        <p:txBody>
          <a:bodyPr wrap="square" lIns="0" tIns="0" rIns="0" bIns="0" rtlCol="0" anchor="t"/>
          <a:lstStyle/>
          <a:p>
            <a:pPr indent="0" marL="0">
              <a:lnSpc>
                <a:spcPct val="120000"/>
              </a:lnSpc>
              <a:buNone/>
            </a:pPr>
            <a:r>
              <a:rPr lang="en-US" sz="2200" dirty="0">
                <a:solidFill>
                  <a:srgbClr val="FFFFFF"/>
                </a:solidFill>
                <a:latin typeface="Arial" pitchFamily="34" charset="0"/>
                <a:ea typeface="Arial" pitchFamily="34" charset="-122"/>
                <a:cs typeface="Arial" pitchFamily="34" charset="-120"/>
              </a:rPr>
              <a:t>Congestion pricing cleaned the air where it charges.</a:t>
            </a:r>
            <a:endParaRPr lang="en-US" sz="2200" dirty="0"/>
          </a:p>
          <a:p>
            <a:pPr indent="0" marL="0">
              <a:lnSpc>
                <a:spcPct val="120000"/>
              </a:lnSpc>
              <a:buNone/>
            </a:pPr>
            <a:r>
              <a:rPr lang="en-US" sz="2200" dirty="0">
                <a:solidFill>
                  <a:srgbClr val="FFFFFF"/>
                </a:solidFill>
                <a:latin typeface="Arial" pitchFamily="34" charset="0"/>
                <a:ea typeface="Arial" pitchFamily="34" charset="-122"/>
                <a:cs typeface="Arial" pitchFamily="34" charset="-120"/>
              </a:rPr>
              <a:t>What about everyone else?</a:t>
            </a:r>
            <a:endParaRPr lang="en-US" sz="2200" dirty="0"/>
          </a:p>
        </p:txBody>
      </p:sp>
      <p:sp>
        <p:nvSpPr>
          <p:cNvPr id="6" name="Text 3"/>
          <p:cNvSpPr txBox="1"/>
          <p:nvPr/>
        </p:nvSpPr>
        <p:spPr>
          <a:xfrm>
            <a:off x="548640" y="4709160"/>
            <a:ext cx="8229600" cy="365760"/>
          </a:xfrm>
          <a:prstGeom prst="rect">
            <a:avLst/>
          </a:prstGeom>
          <a:noFill/>
          <a:ln/>
        </p:spPr>
        <p:txBody>
          <a:bodyPr wrap="square" lIns="0" tIns="0" rIns="0" bIns="0" rtlCol="0" anchor="ctr"/>
          <a:lstStyle/>
          <a:p>
            <a:pPr indent="0" marL="0">
              <a:buNone/>
            </a:pPr>
            <a:r>
              <a:rPr lang="en-US" sz="1400" dirty="0">
                <a:solidFill>
                  <a:srgbClr val="DDDDDD"/>
                </a:solidFill>
                <a:latin typeface="Arial" pitchFamily="34" charset="0"/>
                <a:ea typeface="Arial" pitchFamily="34" charset="-122"/>
                <a:cs typeface="Arial" pitchFamily="34" charset="-120"/>
              </a:rPr>
              <a:t>Furkan Beray  ·  NYC Congestion Pricing Datathon 2026</a:t>
            </a:r>
            <a:endParaRPr lang="en-US" sz="1400" dirty="0"/>
          </a:p>
        </p:txBody>
      </p:sp>
      <p:sp>
        <p:nvSpPr>
          <p:cNvPr id="7" name="Text 4"/>
          <p:cNvSpPr txBox="1"/>
          <p:nvPr/>
        </p:nvSpPr>
        <p:spPr>
          <a:xfrm>
            <a:off x="548640" y="6355080"/>
            <a:ext cx="10972800" cy="320040"/>
          </a:xfrm>
          <a:prstGeom prst="rect">
            <a:avLst/>
          </a:prstGeom>
          <a:noFill/>
          <a:ln/>
        </p:spPr>
        <p:txBody>
          <a:bodyPr wrap="square" lIns="0" tIns="0" rIns="0" bIns="0" rtlCol="0" anchor="ctr"/>
          <a:lstStyle/>
          <a:p>
            <a:pPr indent="0" marL="0">
              <a:buNone/>
            </a:pPr>
            <a:r>
              <a:rPr lang="en-US" sz="800" dirty="0">
                <a:solidFill>
                  <a:srgbClr val="BBBBBB"/>
                </a:solidFill>
                <a:latin typeface="Arial" pitchFamily="34" charset="0"/>
                <a:ea typeface="Arial" pitchFamily="34" charset="-122"/>
                <a:cs typeface="Arial" pitchFamily="34" charset="-120"/>
              </a:rPr>
              <a:t>Southbound traffic on the Major Deegan Expressway at Willis Avenue, Mott Haven, a few blocks from the NYCCAS monitor. Photo: Famartin, Wikimedia Commons, CC BY-SA 4.0; shown in monochrome.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THE QUESTION</a:t>
            </a:r>
            <a:endParaRPr lang="en-US" sz="1050" dirty="0"/>
          </a:p>
        </p:txBody>
      </p:sp>
      <p:sp>
        <p:nvSpPr>
          <p:cNvPr id="3" name="Text 1"/>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4" name="Text 2"/>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2 / 36</a:t>
            </a:r>
            <a:endParaRPr lang="en-US" sz="900" dirty="0"/>
          </a:p>
        </p:txBody>
      </p:sp>
      <p:sp>
        <p:nvSpPr>
          <p:cNvPr id="6" name="Text 3"/>
          <p:cNvSpPr txBox="1"/>
          <p:nvPr/>
        </p:nvSpPr>
        <p:spPr>
          <a:xfrm>
            <a:off x="548640" y="914400"/>
            <a:ext cx="10241280" cy="1828800"/>
          </a:xfrm>
          <a:prstGeom prst="rect">
            <a:avLst/>
          </a:prstGeom>
          <a:noFill/>
          <a:ln/>
        </p:spPr>
        <p:txBody>
          <a:bodyPr wrap="square" lIns="0" tIns="0" rIns="0" bIns="0" rtlCol="0" anchor="t"/>
          <a:lstStyle/>
          <a:p>
            <a:pPr indent="0" marL="0">
              <a:lnSpc>
                <a:spcPct val="115000"/>
              </a:lnSpc>
              <a:buNone/>
            </a:pPr>
            <a:r>
              <a:rPr lang="en-US" sz="3000" i="1" dirty="0">
                <a:solidFill>
                  <a:srgbClr val="4B2E83"/>
                </a:solidFill>
                <a:latin typeface="Cambria" pitchFamily="34" charset="0"/>
                <a:ea typeface="Cambria" pitchFamily="34" charset="-122"/>
                <a:cs typeface="Cambria" pitchFamily="34" charset="-120"/>
              </a:rPr>
              <a:t>“Is congestion pricing eliminating pollution, or moving it? And if it’s moving, is it moving toward neighborhoods that were already the most vulnerable?”</a:t>
            </a:r>
            <a:endParaRPr lang="en-US" sz="3000" dirty="0"/>
          </a:p>
        </p:txBody>
      </p:sp>
      <p:sp>
        <p:nvSpPr>
          <p:cNvPr id="7" name="Text 4"/>
          <p:cNvSpPr txBox="1"/>
          <p:nvPr/>
        </p:nvSpPr>
        <p:spPr>
          <a:xfrm>
            <a:off x="548640" y="2788920"/>
            <a:ext cx="5486400" cy="320040"/>
          </a:xfrm>
          <a:prstGeom prst="rect">
            <a:avLst/>
          </a:prstGeom>
          <a:noFill/>
          <a:ln/>
        </p:spPr>
        <p:txBody>
          <a:bodyPr wrap="square" lIns="0" tIns="0" rIns="0" bIns="0" rtlCol="0" anchor="ctr"/>
          <a:lstStyle/>
          <a:p>
            <a:pPr indent="0" marL="0">
              <a:buNone/>
            </a:pPr>
            <a:r>
              <a:rPr lang="en-US" sz="1200" dirty="0">
                <a:solidFill>
                  <a:srgbClr val="6B6B6B"/>
                </a:solidFill>
                <a:latin typeface="Arial" pitchFamily="34" charset="0"/>
                <a:ea typeface="Arial" pitchFamily="34" charset="-122"/>
                <a:cs typeface="Arial" pitchFamily="34" charset="-120"/>
              </a:rPr>
              <a:t>— the datathon brief</a:t>
            </a:r>
            <a:endParaRPr lang="en-US" sz="1200" dirty="0"/>
          </a:p>
        </p:txBody>
      </p:sp>
      <p:sp>
        <p:nvSpPr>
          <p:cNvPr id="8" name="Shape 5"/>
          <p:cNvSpPr/>
          <p:nvPr/>
        </p:nvSpPr>
        <p:spPr>
          <a:xfrm>
            <a:off x="548640" y="3337560"/>
            <a:ext cx="11064240" cy="0"/>
          </a:xfrm>
          <a:prstGeom prst="line">
            <a:avLst/>
          </a:prstGeom>
          <a:noFill/>
          <a:ln w="9525">
            <a:solidFill>
              <a:srgbClr val="DDDDDD"/>
            </a:solidFill>
            <a:prstDash val="solid"/>
          </a:ln>
        </p:spPr>
      </p:sp>
      <p:sp>
        <p:nvSpPr>
          <p:cNvPr id="9" name="Text 6"/>
          <p:cNvSpPr txBox="1"/>
          <p:nvPr/>
        </p:nvSpPr>
        <p:spPr>
          <a:xfrm>
            <a:off x="548640" y="3566160"/>
            <a:ext cx="5120640" cy="274320"/>
          </a:xfrm>
          <a:prstGeom prst="rect">
            <a:avLst/>
          </a:prstGeom>
          <a:noFill/>
          <a:ln/>
        </p:spPr>
        <p:txBody>
          <a:bodyPr wrap="square" lIns="0" tIns="0" rIns="0" bIns="0" rtlCol="0" anchor="ctr"/>
          <a:lstStyle/>
          <a:p>
            <a:pPr indent="0" marL="0">
              <a:buNone/>
            </a:pPr>
            <a:r>
              <a:rPr lang="en-US" sz="1050" b="1" spc="200" kern="0" dirty="0">
                <a:solidFill>
                  <a:srgbClr val="2F6B3A"/>
                </a:solidFill>
                <a:latin typeface="Arial" pitchFamily="34" charset="0"/>
                <a:ea typeface="Arial" pitchFamily="34" charset="-122"/>
                <a:cs typeface="Arial" pitchFamily="34" charset="-120"/>
              </a:rPr>
              <a:t>THE HEADLINE</a:t>
            </a:r>
            <a:endParaRPr lang="en-US" sz="1050" dirty="0"/>
          </a:p>
        </p:txBody>
      </p:sp>
      <p:sp>
        <p:nvSpPr>
          <p:cNvPr id="10" name="Text 7"/>
          <p:cNvSpPr txBox="1"/>
          <p:nvPr/>
        </p:nvSpPr>
        <p:spPr>
          <a:xfrm>
            <a:off x="548640" y="3886200"/>
            <a:ext cx="5120640" cy="1280160"/>
          </a:xfrm>
          <a:prstGeom prst="rect">
            <a:avLst/>
          </a:prstGeom>
          <a:noFill/>
          <a:ln/>
        </p:spPr>
        <p:txBody>
          <a:bodyPr wrap="square" lIns="0" tIns="0" rIns="0" bIns="0" rtlCol="0" anchor="t"/>
          <a:lstStyle/>
          <a:p>
            <a:pPr indent="0" marL="0">
              <a:lnSpc>
                <a:spcPct val="120000"/>
              </a:lnSpc>
              <a:buNone/>
            </a:pPr>
            <a:r>
              <a:rPr lang="en-US" sz="1800" dirty="0">
                <a:solidFill>
                  <a:srgbClr val="1A1A1A"/>
                </a:solidFill>
                <a:latin typeface="Arial" pitchFamily="34" charset="0"/>
                <a:ea typeface="Arial" pitchFamily="34" charset="-122"/>
                <a:cs typeface="Arial" pitchFamily="34" charset="-120"/>
              </a:rPr>
              <a:t>PM₂.₅ down 22% inside the zone in the first six months (Cornell, npj Clean Air).</a:t>
            </a:r>
            <a:endParaRPr lang="en-US" sz="1800" dirty="0"/>
          </a:p>
        </p:txBody>
      </p:sp>
      <p:sp>
        <p:nvSpPr>
          <p:cNvPr id="11" name="Text 8"/>
          <p:cNvSpPr txBox="1"/>
          <p:nvPr/>
        </p:nvSpPr>
        <p:spPr>
          <a:xfrm>
            <a:off x="6492240" y="3566160"/>
            <a:ext cx="5120640" cy="274320"/>
          </a:xfrm>
          <a:prstGeom prst="rect">
            <a:avLst/>
          </a:prstGeom>
          <a:noFill/>
          <a:ln/>
        </p:spPr>
        <p:txBody>
          <a:bodyPr wrap="square" lIns="0" tIns="0" rIns="0" bIns="0" rtlCol="0" anchor="ctr"/>
          <a:lstStyle/>
          <a:p>
            <a:pPr indent="0" marL="0">
              <a:buNone/>
            </a:pPr>
            <a:r>
              <a:rPr lang="en-US" sz="1050" b="1" spc="200" kern="0" dirty="0">
                <a:solidFill>
                  <a:srgbClr val="B4391B"/>
                </a:solidFill>
                <a:latin typeface="Arial" pitchFamily="34" charset="0"/>
                <a:ea typeface="Arial" pitchFamily="34" charset="-122"/>
                <a:cs typeface="Arial" pitchFamily="34" charset="-120"/>
              </a:rPr>
              <a:t>THE WORRY</a:t>
            </a:r>
            <a:endParaRPr lang="en-US" sz="1050" dirty="0"/>
          </a:p>
        </p:txBody>
      </p:sp>
      <p:sp>
        <p:nvSpPr>
          <p:cNvPr id="12" name="Text 9"/>
          <p:cNvSpPr txBox="1"/>
          <p:nvPr/>
        </p:nvSpPr>
        <p:spPr>
          <a:xfrm>
            <a:off x="6492240" y="3886200"/>
            <a:ext cx="5120640" cy="1280160"/>
          </a:xfrm>
          <a:prstGeom prst="rect">
            <a:avLst/>
          </a:prstGeom>
          <a:noFill/>
          <a:ln/>
        </p:spPr>
        <p:txBody>
          <a:bodyPr wrap="square" lIns="0" tIns="0" rIns="0" bIns="0" rtlCol="0" anchor="t"/>
          <a:lstStyle/>
          <a:p>
            <a:pPr indent="0" marL="0">
              <a:lnSpc>
                <a:spcPct val="120000"/>
              </a:lnSpc>
              <a:buNone/>
            </a:pPr>
            <a:r>
              <a:rPr lang="en-US" sz="1800" dirty="0">
                <a:solidFill>
                  <a:srgbClr val="1A1A1A"/>
                </a:solidFill>
                <a:latin typeface="Arial" pitchFamily="34" charset="0"/>
                <a:ea typeface="Arial" pitchFamily="34" charset="-122"/>
                <a:cs typeface="Arial" pitchFamily="34" charset="-120"/>
              </a:rPr>
              <a:t>Increases at 12–14 of 19 South Bronx community sensors; traffic diverting to avoid the toll (South Bronx Unite).</a:t>
            </a:r>
            <a:endParaRPr lang="en-US" sz="1800" dirty="0"/>
          </a:p>
        </p:txBody>
      </p:sp>
      <p:sp>
        <p:nvSpPr>
          <p:cNvPr id="13" name="Text 10"/>
          <p:cNvSpPr txBox="1"/>
          <p:nvPr/>
        </p:nvSpPr>
        <p:spPr>
          <a:xfrm>
            <a:off x="548640" y="5577840"/>
            <a:ext cx="10972800" cy="457200"/>
          </a:xfrm>
          <a:prstGeom prst="rect">
            <a:avLst/>
          </a:prstGeom>
          <a:noFill/>
          <a:ln/>
        </p:spPr>
        <p:txBody>
          <a:bodyPr wrap="square" lIns="0" tIns="0" rIns="0" bIns="0" rtlCol="0" anchor="ctr"/>
          <a:lstStyle/>
          <a:p>
            <a:pPr indent="0" marL="0">
              <a:buNone/>
            </a:pPr>
            <a:r>
              <a:rPr lang="en-US" sz="2000" i="1" dirty="0">
                <a:solidFill>
                  <a:srgbClr val="1A1A1A"/>
                </a:solidFill>
                <a:latin typeface="Cambria" pitchFamily="34" charset="0"/>
                <a:ea typeface="Cambria" pitchFamily="34" charset="-122"/>
                <a:cs typeface="Cambria" pitchFamily="34" charset="-120"/>
              </a:rPr>
              <a:t>Same policy, two claims. This project tests both with the same data.</a:t>
            </a:r>
            <a:endParaRPr lang="en-US" sz="200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Joey Zhou, Unsplash</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THE ANSWER</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Three findings</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3 / 36</a:t>
            </a:r>
            <a:endParaRPr lang="en-US" sz="900" dirty="0"/>
          </a:p>
        </p:txBody>
      </p:sp>
      <p:sp>
        <p:nvSpPr>
          <p:cNvPr id="7" name="Text 4"/>
          <p:cNvSpPr txBox="1"/>
          <p:nvPr/>
        </p:nvSpPr>
        <p:spPr>
          <a:xfrm>
            <a:off x="548640" y="1600200"/>
            <a:ext cx="4663440" cy="731520"/>
          </a:xfrm>
          <a:prstGeom prst="rect">
            <a:avLst/>
          </a:prstGeom>
          <a:noFill/>
          <a:ln/>
        </p:spPr>
        <p:txBody>
          <a:bodyPr wrap="square" lIns="0" tIns="0" rIns="0" bIns="0" rtlCol="0" anchor="t"/>
          <a:lstStyle/>
          <a:p>
            <a:pPr indent="0" marL="0">
              <a:buNone/>
            </a:pPr>
            <a:r>
              <a:rPr lang="en-US" sz="3000" b="1" dirty="0">
                <a:solidFill>
                  <a:srgbClr val="2F6B3A"/>
                </a:solidFill>
                <a:latin typeface="Arial" pitchFamily="34" charset="0"/>
                <a:ea typeface="Arial" pitchFamily="34" charset="-122"/>
                <a:cs typeface="Arial" pitchFamily="34" charset="-120"/>
              </a:rPr>
              <a:t>−0.6 to −1.6 µg/m³</a:t>
            </a:r>
            <a:endParaRPr lang="en-US" sz="3000" dirty="0"/>
          </a:p>
        </p:txBody>
      </p:sp>
      <p:sp>
        <p:nvSpPr>
          <p:cNvPr id="8" name="Text 5"/>
          <p:cNvSpPr txBox="1"/>
          <p:nvPr/>
        </p:nvSpPr>
        <p:spPr>
          <a:xfrm>
            <a:off x="5577840" y="1600200"/>
            <a:ext cx="6035040" cy="411480"/>
          </a:xfrm>
          <a:prstGeom prst="rect">
            <a:avLst/>
          </a:prstGeom>
          <a:noFill/>
          <a:ln/>
        </p:spPr>
        <p:txBody>
          <a:bodyPr wrap="square" lIns="0" tIns="0" rIns="0" bIns="0" rtlCol="0" anchor="t"/>
          <a:lstStyle/>
          <a:p>
            <a:pPr indent="0" marL="0">
              <a:buNone/>
            </a:pPr>
            <a:r>
              <a:rPr lang="en-US" sz="2000" b="1" dirty="0">
                <a:solidFill>
                  <a:srgbClr val="1A1A1A"/>
                </a:solidFill>
                <a:latin typeface="Cambria" pitchFamily="34" charset="0"/>
                <a:ea typeface="Cambria" pitchFamily="34" charset="-122"/>
                <a:cs typeface="Cambria" pitchFamily="34" charset="-120"/>
              </a:rPr>
              <a:t>Inside the zone, the air got cleaner.</a:t>
            </a:r>
            <a:endParaRPr lang="en-US" sz="2000" dirty="0"/>
          </a:p>
        </p:txBody>
      </p:sp>
      <p:sp>
        <p:nvSpPr>
          <p:cNvPr id="9" name="Text 6"/>
          <p:cNvSpPr txBox="1"/>
          <p:nvPr/>
        </p:nvSpPr>
        <p:spPr>
          <a:xfrm>
            <a:off x="5577840" y="2057400"/>
            <a:ext cx="6035040" cy="822960"/>
          </a:xfrm>
          <a:prstGeom prst="rect">
            <a:avLst/>
          </a:prstGeom>
          <a:noFill/>
          <a:ln/>
        </p:spPr>
        <p:txBody>
          <a:bodyPr wrap="square" lIns="0" tIns="0" rIns="0" bIns="0" rtlCol="0" anchor="t"/>
          <a:lstStyle/>
          <a:p>
            <a:pPr indent="0" marL="0">
              <a:lnSpc>
                <a:spcPct val="120000"/>
              </a:lnSpc>
              <a:buNone/>
            </a:pPr>
            <a:r>
              <a:rPr lang="en-US" sz="1400" dirty="0">
                <a:solidFill>
                  <a:srgbClr val="6B6B6B"/>
                </a:solidFill>
                <a:latin typeface="Arial" pitchFamily="34" charset="0"/>
                <a:ea typeface="Arial" pitchFamily="34" charset="-122"/>
                <a:cs typeface="Arial" pitchFamily="34" charset="-120"/>
              </a:rPr>
              <a:t>Confirmed at the Manhattan and Williamsburg Bridge landings, both inside the zone, both in designated tracts.</a:t>
            </a:r>
            <a:endParaRPr lang="en-US" sz="1400" dirty="0"/>
          </a:p>
        </p:txBody>
      </p:sp>
      <p:sp>
        <p:nvSpPr>
          <p:cNvPr id="10" name="Shape 7"/>
          <p:cNvSpPr/>
          <p:nvPr/>
        </p:nvSpPr>
        <p:spPr>
          <a:xfrm>
            <a:off x="548640" y="2971800"/>
            <a:ext cx="11064240" cy="0"/>
          </a:xfrm>
          <a:prstGeom prst="line">
            <a:avLst/>
          </a:prstGeom>
          <a:noFill/>
          <a:ln w="9525">
            <a:solidFill>
              <a:srgbClr val="DDDDDD"/>
            </a:solidFill>
            <a:prstDash val="solid"/>
          </a:ln>
        </p:spPr>
      </p:sp>
      <p:sp>
        <p:nvSpPr>
          <p:cNvPr id="11" name="Text 8"/>
          <p:cNvSpPr txBox="1"/>
          <p:nvPr/>
        </p:nvSpPr>
        <p:spPr>
          <a:xfrm>
            <a:off x="548640" y="3172968"/>
            <a:ext cx="4663440" cy="731520"/>
          </a:xfrm>
          <a:prstGeom prst="rect">
            <a:avLst/>
          </a:prstGeom>
          <a:noFill/>
          <a:ln/>
        </p:spPr>
        <p:txBody>
          <a:bodyPr wrap="square" lIns="0" tIns="0" rIns="0" bIns="0" rtlCol="0" anchor="t"/>
          <a:lstStyle/>
          <a:p>
            <a:pPr indent="0" marL="0">
              <a:buNone/>
            </a:pPr>
            <a:r>
              <a:rPr lang="en-US" sz="3000" b="1" dirty="0">
                <a:solidFill>
                  <a:srgbClr val="6B6B6B"/>
                </a:solidFill>
                <a:latin typeface="Arial" pitchFamily="34" charset="0"/>
                <a:ea typeface="Arial" pitchFamily="34" charset="-122"/>
                <a:cs typeface="Arial" pitchFamily="34" charset="-120"/>
              </a:rPr>
              <a:t>No measurable change</a:t>
            </a:r>
            <a:endParaRPr lang="en-US" sz="3000" dirty="0"/>
          </a:p>
        </p:txBody>
      </p:sp>
      <p:sp>
        <p:nvSpPr>
          <p:cNvPr id="12" name="Text 9"/>
          <p:cNvSpPr txBox="1"/>
          <p:nvPr/>
        </p:nvSpPr>
        <p:spPr>
          <a:xfrm>
            <a:off x="5577840" y="3172968"/>
            <a:ext cx="6035040" cy="411480"/>
          </a:xfrm>
          <a:prstGeom prst="rect">
            <a:avLst/>
          </a:prstGeom>
          <a:noFill/>
          <a:ln/>
        </p:spPr>
        <p:txBody>
          <a:bodyPr wrap="square" lIns="0" tIns="0" rIns="0" bIns="0" rtlCol="0" anchor="t"/>
          <a:lstStyle/>
          <a:p>
            <a:pPr indent="0" marL="0">
              <a:buNone/>
            </a:pPr>
            <a:r>
              <a:rPr lang="en-US" sz="2000" b="1" dirty="0">
                <a:solidFill>
                  <a:srgbClr val="1A1A1A"/>
                </a:solidFill>
                <a:latin typeface="Cambria" pitchFamily="34" charset="0"/>
                <a:ea typeface="Cambria" pitchFamily="34" charset="-122"/>
                <a:cs typeface="Cambria" pitchFamily="34" charset="-120"/>
              </a:rPr>
              <a:t>Outside the zone, nothing moved.</a:t>
            </a:r>
            <a:endParaRPr lang="en-US" sz="2000" dirty="0"/>
          </a:p>
        </p:txBody>
      </p:sp>
      <p:sp>
        <p:nvSpPr>
          <p:cNvPr id="13" name="Text 10"/>
          <p:cNvSpPr txBox="1"/>
          <p:nvPr/>
        </p:nvSpPr>
        <p:spPr>
          <a:xfrm>
            <a:off x="5577840" y="3630168"/>
            <a:ext cx="6035040" cy="822960"/>
          </a:xfrm>
          <a:prstGeom prst="rect">
            <a:avLst/>
          </a:prstGeom>
          <a:noFill/>
          <a:ln/>
        </p:spPr>
        <p:txBody>
          <a:bodyPr wrap="square" lIns="0" tIns="0" rIns="0" bIns="0" rtlCol="0" anchor="t"/>
          <a:lstStyle/>
          <a:p>
            <a:pPr indent="0" marL="0">
              <a:lnSpc>
                <a:spcPct val="120000"/>
              </a:lnSpc>
              <a:buNone/>
            </a:pPr>
            <a:r>
              <a:rPr lang="en-US" sz="1400" dirty="0">
                <a:solidFill>
                  <a:srgbClr val="6B6B6B"/>
                </a:solidFill>
                <a:latin typeface="Arial" pitchFamily="34" charset="0"/>
                <a:ea typeface="Arial" pitchFamily="34" charset="-122"/>
                <a:cs typeface="Arial" pitchFamily="34" charset="-120"/>
              </a:rPr>
              <a:t>Not the Bronx, not Brooklyn, not the non-EJ neighborhoods we added to check.</a:t>
            </a:r>
            <a:endParaRPr lang="en-US" sz="1400" dirty="0"/>
          </a:p>
        </p:txBody>
      </p:sp>
      <p:sp>
        <p:nvSpPr>
          <p:cNvPr id="14" name="Shape 11"/>
          <p:cNvSpPr/>
          <p:nvPr/>
        </p:nvSpPr>
        <p:spPr>
          <a:xfrm>
            <a:off x="548640" y="4544568"/>
            <a:ext cx="11064240" cy="0"/>
          </a:xfrm>
          <a:prstGeom prst="line">
            <a:avLst/>
          </a:prstGeom>
          <a:noFill/>
          <a:ln w="9525">
            <a:solidFill>
              <a:srgbClr val="DDDDDD"/>
            </a:solidFill>
            <a:prstDash val="solid"/>
          </a:ln>
        </p:spPr>
      </p:sp>
      <p:sp>
        <p:nvSpPr>
          <p:cNvPr id="15" name="Text 12"/>
          <p:cNvSpPr txBox="1"/>
          <p:nvPr/>
        </p:nvSpPr>
        <p:spPr>
          <a:xfrm>
            <a:off x="548640" y="4745736"/>
            <a:ext cx="4663440" cy="731520"/>
          </a:xfrm>
          <a:prstGeom prst="rect">
            <a:avLst/>
          </a:prstGeom>
          <a:noFill/>
          <a:ln/>
        </p:spPr>
        <p:txBody>
          <a:bodyPr wrap="square" lIns="0" tIns="0" rIns="0" bIns="0" rtlCol="0" anchor="t"/>
          <a:lstStyle/>
          <a:p>
            <a:pPr indent="0" marL="0">
              <a:buNone/>
            </a:pPr>
            <a:r>
              <a:rPr lang="en-US" sz="3000" b="1" dirty="0">
                <a:solidFill>
                  <a:srgbClr val="4B2E83"/>
                </a:solidFill>
                <a:latin typeface="Arial" pitchFamily="34" charset="0"/>
                <a:ea typeface="Arial" pitchFamily="34" charset="-122"/>
                <a:cs typeface="Arial" pitchFamily="34" charset="-120"/>
              </a:rPr>
              <a:t>Zone, not EJ</a:t>
            </a:r>
            <a:endParaRPr lang="en-US" sz="3000" dirty="0"/>
          </a:p>
        </p:txBody>
      </p:sp>
      <p:sp>
        <p:nvSpPr>
          <p:cNvPr id="16" name="Text 13"/>
          <p:cNvSpPr txBox="1"/>
          <p:nvPr/>
        </p:nvSpPr>
        <p:spPr>
          <a:xfrm>
            <a:off x="5577840" y="4745736"/>
            <a:ext cx="6035040" cy="411480"/>
          </a:xfrm>
          <a:prstGeom prst="rect">
            <a:avLst/>
          </a:prstGeom>
          <a:noFill/>
          <a:ln/>
        </p:spPr>
        <p:txBody>
          <a:bodyPr wrap="square" lIns="0" tIns="0" rIns="0" bIns="0" rtlCol="0" anchor="t"/>
          <a:lstStyle/>
          <a:p>
            <a:pPr indent="0" marL="0">
              <a:buNone/>
            </a:pPr>
            <a:r>
              <a:rPr lang="en-US" sz="2000" b="1" dirty="0">
                <a:solidFill>
                  <a:srgbClr val="1A1A1A"/>
                </a:solidFill>
                <a:latin typeface="Cambria" pitchFamily="34" charset="0"/>
                <a:ea typeface="Cambria" pitchFamily="34" charset="-122"/>
                <a:cs typeface="Cambria" pitchFamily="34" charset="-120"/>
              </a:rPr>
              <a:t>The line is what matters.</a:t>
            </a:r>
            <a:endParaRPr lang="en-US" sz="2000" dirty="0"/>
          </a:p>
        </p:txBody>
      </p:sp>
      <p:sp>
        <p:nvSpPr>
          <p:cNvPr id="17" name="Text 14"/>
          <p:cNvSpPr txBox="1"/>
          <p:nvPr/>
        </p:nvSpPr>
        <p:spPr>
          <a:xfrm>
            <a:off x="5577840" y="5202936"/>
            <a:ext cx="6035040" cy="822960"/>
          </a:xfrm>
          <a:prstGeom prst="rect">
            <a:avLst/>
          </a:prstGeom>
          <a:noFill/>
          <a:ln/>
        </p:spPr>
        <p:txBody>
          <a:bodyPr wrap="square" lIns="0" tIns="0" rIns="0" bIns="0" rtlCol="0" anchor="t"/>
          <a:lstStyle/>
          <a:p>
            <a:pPr indent="0" marL="0">
              <a:lnSpc>
                <a:spcPct val="120000"/>
              </a:lnSpc>
              <a:buNone/>
            </a:pPr>
            <a:r>
              <a:rPr lang="en-US" sz="1400" dirty="0">
                <a:solidFill>
                  <a:srgbClr val="6B6B6B"/>
                </a:solidFill>
                <a:latin typeface="Arial" pitchFamily="34" charset="0"/>
                <a:ea typeface="Arial" pitchFamily="34" charset="-122"/>
                <a:cs typeface="Arial" pitchFamily="34" charset="-120"/>
              </a:rPr>
              <a:t>Whether a neighborhood is designated disadvantaged doesn’t explain the pattern. Which side of 60th Street does.</a:t>
            </a:r>
            <a:endParaRPr lang="en-US" sz="140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Lerone Pieters, Unsplash; monochrome</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PART I · SECTION 1</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The data</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4 / 36</a:t>
            </a:r>
            <a:endParaRPr lang="en-US" sz="900" dirty="0"/>
          </a:p>
        </p:txBody>
      </p:sp>
      <p:pic>
        <p:nvPicPr>
          <p:cNvPr id="7" name="Image 0" descr="img/s04.png">    </p:cNvPr>
          <p:cNvPicPr>
            <a:picLocks noChangeAspect="1"/>
          </p:cNvPicPr>
          <p:nvPr/>
        </p:nvPicPr>
        <p:blipFill>
          <a:blip r:embed="rId1"/>
          <a:stretch>
            <a:fillRect/>
          </a:stretch>
        </p:blipFill>
        <p:spPr>
          <a:xfrm>
            <a:off x="548640" y="1417320"/>
            <a:ext cx="7095626" cy="4892040"/>
          </a:xfrm>
          <a:prstGeom prst="rect">
            <a:avLst/>
          </a:prstGeom>
        </p:spPr>
      </p:pic>
      <p:sp>
        <p:nvSpPr>
          <p:cNvPr id="8" name="Text 4"/>
          <p:cNvSpPr txBox="1"/>
          <p:nvPr/>
        </p:nvSpPr>
        <p:spPr>
          <a:xfrm>
            <a:off x="8055746" y="1463040"/>
            <a:ext cx="3584566" cy="3200400"/>
          </a:xfrm>
          <a:prstGeom prst="rect">
            <a:avLst/>
          </a:prstGeom>
          <a:noFill/>
          <a:ln/>
        </p:spPr>
        <p:txBody>
          <a:bodyPr wrap="square" lIns="0" tIns="0" rIns="0" bIns="0" rtlCol="0" anchor="t"/>
          <a:lstStyle/>
          <a:p>
            <a:pPr indent="0" marL="0">
              <a:lnSpc>
                <a:spcPct val="115000"/>
              </a:lnSpc>
              <a:spcAft>
                <a:spcPts val="1080"/>
              </a:spcAft>
              <a:buNone/>
            </a:pPr>
            <a:r>
              <a:rPr lang="en-US" sz="1500" dirty="0">
                <a:solidFill>
                  <a:srgbClr val="1A1A1A"/>
                </a:solidFill>
                <a:latin typeface="Arial" pitchFamily="34" charset="0"/>
                <a:ea typeface="Arial" pitchFamily="34" charset="-122"/>
                <a:cs typeface="Arial" pitchFamily="34" charset="-120"/>
              </a:rPr>
              <a:t>11 NYCCAS monitors, hourly PM₂.₅, 2019–2026</a:t>
            </a:r>
            <a:endParaRPr lang="en-US" sz="1500" dirty="0"/>
          </a:p>
          <a:p>
            <a:pPr indent="0" marL="0">
              <a:lnSpc>
                <a:spcPct val="115000"/>
              </a:lnSpc>
              <a:spcAft>
                <a:spcPts val="1080"/>
              </a:spcAft>
              <a:buNone/>
            </a:pPr>
            <a:r>
              <a:rPr lang="en-US" sz="1500" dirty="0">
                <a:solidFill>
                  <a:srgbClr val="1A1A1A"/>
                </a:solidFill>
                <a:latin typeface="Arial" pitchFamily="34" charset="0"/>
                <a:ea typeface="Arial" pitchFamily="34" charset="-122"/>
                <a:cs typeface="Arial" pitchFamily="34" charset="-120"/>
              </a:rPr>
              <a:t>2 control monitors in Queens: Queens College and Van Wyck</a:t>
            </a:r>
            <a:endParaRPr lang="en-US" sz="1500" dirty="0"/>
          </a:p>
          <a:p>
            <a:pPr indent="0" marL="0">
              <a:lnSpc>
                <a:spcPct val="115000"/>
              </a:lnSpc>
              <a:spcAft>
                <a:spcPts val="1080"/>
              </a:spcAft>
              <a:buNone/>
            </a:pPr>
            <a:r>
              <a:rPr lang="en-US" sz="1500" dirty="0">
                <a:solidFill>
                  <a:srgbClr val="1A1A1A"/>
                </a:solidFill>
                <a:latin typeface="Arial" pitchFamily="34" charset="0"/>
                <a:ea typeface="Arial" pitchFamily="34" charset="-122"/>
                <a:cs typeface="Arial" pitchFamily="34" charset="-120"/>
              </a:rPr>
              <a:t>MTA counts at every bridge and tunnel</a:t>
            </a:r>
            <a:endParaRPr lang="en-US" sz="1500" dirty="0"/>
          </a:p>
          <a:p>
            <a:pPr indent="0" marL="0">
              <a:lnSpc>
                <a:spcPct val="115000"/>
              </a:lnSpc>
              <a:spcAft>
                <a:spcPts val="1080"/>
              </a:spcAft>
              <a:buNone/>
            </a:pPr>
            <a:r>
              <a:rPr lang="en-US" sz="1500" dirty="0">
                <a:solidFill>
                  <a:srgbClr val="1A1A1A"/>
                </a:solidFill>
                <a:latin typeface="Arial" pitchFamily="34" charset="0"/>
                <a:ea typeface="Arial" pitchFamily="34" charset="-122"/>
                <a:cs typeface="Arial" pitchFamily="34" charset="-120"/>
              </a:rPr>
              <a:t>Toll-zone geofence and the state’s disadvantaged-community tracts</a:t>
            </a:r>
            <a:endParaRPr lang="en-US" sz="1500" dirty="0"/>
          </a:p>
        </p:txBody>
      </p:sp>
      <p:sp>
        <p:nvSpPr>
          <p:cNvPr id="9" name="Text 5"/>
          <p:cNvSpPr txBox="1"/>
          <p:nvPr/>
        </p:nvSpPr>
        <p:spPr>
          <a:xfrm>
            <a:off x="8055746" y="4846320"/>
            <a:ext cx="3584566"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Hunts Point is omitted: its monitor was offline across the toll date, so no before/after comparison exists.</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Famartin, Wikimedia Commons, CC BY-SA 4.0; monochrome</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PART I · SECTION 1</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Two filled dots, both inside the line</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5 / 36</a:t>
            </a:r>
            <a:endParaRPr lang="en-US" sz="900" dirty="0"/>
          </a:p>
        </p:txBody>
      </p:sp>
      <p:pic>
        <p:nvPicPr>
          <p:cNvPr id="7" name="Image 0" descr="img/s05.png">    </p:cNvPr>
          <p:cNvPicPr>
            <a:picLocks noChangeAspect="1"/>
          </p:cNvPicPr>
          <p:nvPr/>
        </p:nvPicPr>
        <p:blipFill>
          <a:blip r:embed="rId1"/>
          <a:stretch>
            <a:fillRect/>
          </a:stretch>
        </p:blipFill>
        <p:spPr>
          <a:xfrm>
            <a:off x="548640" y="1417320"/>
            <a:ext cx="8503920" cy="4436212"/>
          </a:xfrm>
          <a:prstGeom prst="rect">
            <a:avLst/>
          </a:prstGeom>
        </p:spPr>
      </p:pic>
      <p:sp>
        <p:nvSpPr>
          <p:cNvPr id="8" name="Shape 4"/>
          <p:cNvSpPr/>
          <p:nvPr/>
        </p:nvSpPr>
        <p:spPr>
          <a:xfrm>
            <a:off x="9418320" y="1600200"/>
            <a:ext cx="292608" cy="292608"/>
          </a:xfrm>
          <a:prstGeom prst="ellipse">
            <a:avLst/>
          </a:prstGeom>
          <a:solidFill>
            <a:srgbClr val="2F6B3A"/>
          </a:solidFill>
          <a:ln w="12700">
            <a:solidFill>
              <a:srgbClr val="2F6B3A"/>
            </a:solidFill>
            <a:prstDash val="solid"/>
          </a:ln>
        </p:spPr>
      </p:sp>
      <p:sp>
        <p:nvSpPr>
          <p:cNvPr id="9" name="Text 5"/>
          <p:cNvSpPr txBox="1"/>
          <p:nvPr/>
        </p:nvSpPr>
        <p:spPr>
          <a:xfrm>
            <a:off x="9829800" y="1536192"/>
            <a:ext cx="1810512" cy="32004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Manhattan Bridge</a:t>
            </a:r>
            <a:endParaRPr lang="en-US" sz="1500" dirty="0"/>
          </a:p>
        </p:txBody>
      </p:sp>
      <p:sp>
        <p:nvSpPr>
          <p:cNvPr id="10" name="Text 6"/>
          <p:cNvSpPr txBox="1"/>
          <p:nvPr/>
        </p:nvSpPr>
        <p:spPr>
          <a:xfrm>
            <a:off x="9829800" y="1856232"/>
            <a:ext cx="1810512" cy="731520"/>
          </a:xfrm>
          <a:prstGeom prst="rect">
            <a:avLst/>
          </a:prstGeom>
          <a:noFill/>
          <a:ln/>
        </p:spPr>
        <p:txBody>
          <a:bodyPr wrap="square" lIns="0" tIns="0" rIns="0" bIns="0" rtlCol="0" anchor="t"/>
          <a:lstStyle/>
          <a:p>
            <a:pPr indent="0" marL="0">
              <a:lnSpc>
                <a:spcPct val="120000"/>
              </a:lnSpc>
              <a:buNone/>
            </a:pPr>
            <a:r>
              <a:rPr lang="en-US" sz="1300" dirty="0">
                <a:solidFill>
                  <a:srgbClr val="6B6B6B"/>
                </a:solidFill>
                <a:latin typeface="Arial" pitchFamily="34" charset="0"/>
                <a:ea typeface="Arial" pitchFamily="34" charset="-122"/>
                <a:cs typeface="Arial" pitchFamily="34" charset="-120"/>
              </a:rPr>
              <a:t>Chinatown. Inside the zone. Confirmed cleaner.</a:t>
            </a:r>
            <a:endParaRPr lang="en-US" sz="1300" dirty="0"/>
          </a:p>
        </p:txBody>
      </p:sp>
      <p:sp>
        <p:nvSpPr>
          <p:cNvPr id="11" name="Shape 7"/>
          <p:cNvSpPr/>
          <p:nvPr/>
        </p:nvSpPr>
        <p:spPr>
          <a:xfrm>
            <a:off x="9418320" y="2788920"/>
            <a:ext cx="292608" cy="292608"/>
          </a:xfrm>
          <a:prstGeom prst="ellipse">
            <a:avLst/>
          </a:prstGeom>
          <a:solidFill>
            <a:srgbClr val="FFFFFF"/>
          </a:solidFill>
          <a:ln w="25400">
            <a:solidFill>
              <a:srgbClr val="B4391B"/>
            </a:solidFill>
            <a:prstDash val="solid"/>
          </a:ln>
        </p:spPr>
      </p:sp>
      <p:sp>
        <p:nvSpPr>
          <p:cNvPr id="12" name="Text 8"/>
          <p:cNvSpPr txBox="1"/>
          <p:nvPr/>
        </p:nvSpPr>
        <p:spPr>
          <a:xfrm>
            <a:off x="9829800" y="2724912"/>
            <a:ext cx="1810512" cy="32004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Mott Haven</a:t>
            </a:r>
            <a:endParaRPr lang="en-US" sz="1500" dirty="0"/>
          </a:p>
        </p:txBody>
      </p:sp>
      <p:sp>
        <p:nvSpPr>
          <p:cNvPr id="13" name="Text 9"/>
          <p:cNvSpPr txBox="1"/>
          <p:nvPr/>
        </p:nvSpPr>
        <p:spPr>
          <a:xfrm>
            <a:off x="9829800" y="3044952"/>
            <a:ext cx="1810512" cy="822960"/>
          </a:xfrm>
          <a:prstGeom prst="rect">
            <a:avLst/>
          </a:prstGeom>
          <a:noFill/>
          <a:ln/>
        </p:spPr>
        <p:txBody>
          <a:bodyPr wrap="square" lIns="0" tIns="0" rIns="0" bIns="0" rtlCol="0" anchor="t"/>
          <a:lstStyle/>
          <a:p>
            <a:pPr indent="0" marL="0">
              <a:lnSpc>
                <a:spcPct val="120000"/>
              </a:lnSpc>
              <a:buNone/>
            </a:pPr>
            <a:r>
              <a:rPr lang="en-US" sz="1300" dirty="0">
                <a:solidFill>
                  <a:srgbClr val="6B6B6B"/>
                </a:solidFill>
                <a:latin typeface="Arial" pitchFamily="34" charset="0"/>
                <a:ea typeface="Arial" pitchFamily="34" charset="-122"/>
                <a:cs typeface="Arial" pitchFamily="34" charset="-120"/>
              </a:rPr>
              <a:t>South Bronx. Outside the zone. Hollow: no measurable change.</a:t>
            </a:r>
            <a:endParaRPr lang="en-US" sz="1300" dirty="0"/>
          </a:p>
        </p:txBody>
      </p:sp>
      <p:sp>
        <p:nvSpPr>
          <p:cNvPr id="14" name="Shape 10"/>
          <p:cNvSpPr/>
          <p:nvPr/>
        </p:nvSpPr>
        <p:spPr>
          <a:xfrm>
            <a:off x="9418320" y="4114800"/>
            <a:ext cx="2221992" cy="0"/>
          </a:xfrm>
          <a:prstGeom prst="line">
            <a:avLst/>
          </a:prstGeom>
          <a:noFill/>
          <a:ln w="9525">
            <a:solidFill>
              <a:srgbClr val="DDDDDD"/>
            </a:solidFill>
            <a:prstDash val="solid"/>
          </a:ln>
        </p:spPr>
      </p:sp>
      <p:sp>
        <p:nvSpPr>
          <p:cNvPr id="15" name="Text 11"/>
          <p:cNvSpPr txBox="1"/>
          <p:nvPr/>
        </p:nvSpPr>
        <p:spPr>
          <a:xfrm>
            <a:off x="9418320" y="4251960"/>
            <a:ext cx="2221992" cy="914400"/>
          </a:xfrm>
          <a:prstGeom prst="rect">
            <a:avLst/>
          </a:prstGeom>
          <a:noFill/>
          <a:ln/>
        </p:spPr>
        <p:txBody>
          <a:bodyPr wrap="square" lIns="0" tIns="0" rIns="0" bIns="0" rtlCol="0" anchor="t"/>
          <a:lstStyle/>
          <a:p>
            <a:pPr indent="0" marL="0">
              <a:lnSpc>
                <a:spcPct val="125000"/>
              </a:lnSpc>
              <a:buNone/>
            </a:pPr>
            <a:r>
              <a:rPr lang="en-US" sz="1200" dirty="0">
                <a:solidFill>
                  <a:srgbClr val="1A1A1A"/>
                </a:solidFill>
                <a:latin typeface="Arial" pitchFamily="34" charset="0"/>
                <a:ea typeface="Arial" pitchFamily="34" charset="-122"/>
                <a:cs typeface="Arial" pitchFamily="34" charset="-120"/>
              </a:rPr>
              <a:t>Filled = significant (p &lt; 0.05).</a:t>
            </a:r>
            <a:endParaRPr lang="en-US" sz="1200" dirty="0"/>
          </a:p>
          <a:p>
            <a:pPr indent="0" marL="0">
              <a:lnSpc>
                <a:spcPct val="125000"/>
              </a:lnSpc>
              <a:buNone/>
            </a:pPr>
            <a:r>
              <a:rPr lang="en-US" sz="1200" dirty="0">
                <a:solidFill>
                  <a:srgbClr val="1A1A1A"/>
                </a:solidFill>
                <a:latin typeface="Arial" pitchFamily="34" charset="0"/>
                <a:ea typeface="Arial" pitchFamily="34" charset="-122"/>
                <a:cs typeface="Arial" pitchFamily="34" charset="-120"/>
              </a:rPr>
              <a:t>Hollow = not distinguishable from zero.</a:t>
            </a:r>
            <a:endParaRPr lang="en-US" sz="1200" dirty="0"/>
          </a:p>
        </p:txBody>
      </p:sp>
      <p:sp>
        <p:nvSpPr>
          <p:cNvPr id="16" name="Text 12"/>
          <p:cNvSpPr txBox="1"/>
          <p:nvPr/>
        </p:nvSpPr>
        <p:spPr>
          <a:xfrm>
            <a:off x="9418320" y="5257800"/>
            <a:ext cx="2221992"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The two filled green dots are both in state-designated tracts. The toll’s benefit reached poor neighborhoods — the ones inside the line.</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Hieu Vu Minh, Unsplash; monochrome</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PART I · SECTION 2</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How the test works</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6 / 36</a:t>
            </a:r>
            <a:endParaRPr lang="en-US" sz="900" dirty="0"/>
          </a:p>
        </p:txBody>
      </p:sp>
      <p:sp>
        <p:nvSpPr>
          <p:cNvPr id="7" name="Text 4"/>
          <p:cNvSpPr txBox="1"/>
          <p:nvPr/>
        </p:nvSpPr>
        <p:spPr>
          <a:xfrm>
            <a:off x="548640" y="1463040"/>
            <a:ext cx="3657600" cy="3200400"/>
          </a:xfrm>
          <a:prstGeom prst="rect">
            <a:avLst/>
          </a:prstGeom>
          <a:noFill/>
          <a:ln/>
        </p:spPr>
        <p:txBody>
          <a:bodyPr wrap="square" lIns="0" tIns="0" rIns="0" bIns="0" rtlCol="0" anchor="t"/>
          <a:lstStyle/>
          <a:p>
            <a:pPr indent="0" marL="0">
              <a:lnSpc>
                <a:spcPct val="115000"/>
              </a:lnSpc>
              <a:spcAft>
                <a:spcPts val="1260"/>
              </a:spcAft>
              <a:buNone/>
            </a:pPr>
            <a:r>
              <a:rPr lang="en-US" sz="1500" dirty="0">
                <a:solidFill>
                  <a:srgbClr val="1A1A1A"/>
                </a:solidFill>
                <a:latin typeface="Arial" pitchFamily="34" charset="0"/>
                <a:ea typeface="Arial" pitchFamily="34" charset="-122"/>
                <a:cs typeface="Arial" pitchFamily="34" charset="-120"/>
              </a:rPr>
              <a:t>Dashed line: what would have happened without the toll.</a:t>
            </a:r>
            <a:endParaRPr lang="en-US" sz="1500" dirty="0"/>
          </a:p>
          <a:p>
            <a:pPr indent="0" marL="0">
              <a:lnSpc>
                <a:spcPct val="115000"/>
              </a:lnSpc>
              <a:spcAft>
                <a:spcPts val="1260"/>
              </a:spcAft>
              <a:buNone/>
            </a:pPr>
            <a:r>
              <a:rPr lang="en-US" sz="1500" dirty="0">
                <a:solidFill>
                  <a:srgbClr val="1A1A1A"/>
                </a:solidFill>
                <a:latin typeface="Arial" pitchFamily="34" charset="0"/>
                <a:ea typeface="Arial" pitchFamily="34" charset="-122"/>
                <a:cs typeface="Arial" pitchFamily="34" charset="-120"/>
              </a:rPr>
              <a:t>Solid line: what happened.</a:t>
            </a:r>
            <a:endParaRPr lang="en-US" sz="1500" dirty="0"/>
          </a:p>
          <a:p>
            <a:pPr indent="0" marL="0">
              <a:lnSpc>
                <a:spcPct val="115000"/>
              </a:lnSpc>
              <a:spcAft>
                <a:spcPts val="1260"/>
              </a:spcAft>
              <a:buNone/>
            </a:pPr>
            <a:r>
              <a:rPr lang="en-US" sz="1500" dirty="0">
                <a:solidFill>
                  <a:srgbClr val="1A1A1A"/>
                </a:solidFill>
                <a:latin typeface="Arial" pitchFamily="34" charset="0"/>
                <a:ea typeface="Arial" pitchFamily="34" charset="-122"/>
                <a:cs typeface="Arial" pitchFamily="34" charset="-120"/>
              </a:rPr>
              <a:t>Two Queens control monitors absorb weather, smoke, and anything citywide.</a:t>
            </a:r>
            <a:endParaRPr lang="en-US" sz="1500" dirty="0"/>
          </a:p>
        </p:txBody>
      </p:sp>
      <p:sp>
        <p:nvSpPr>
          <p:cNvPr id="8" name="Text 5"/>
          <p:cNvSpPr txBox="1"/>
          <p:nvPr/>
        </p:nvSpPr>
        <p:spPr>
          <a:xfrm>
            <a:off x="548640" y="3657600"/>
            <a:ext cx="365760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Interrupted time series with HAC standard errors. The jump at January 5, 2025 is the estimate.</a:t>
            </a:r>
            <a:endParaRPr lang="en-US" sz="1050" dirty="0"/>
          </a:p>
        </p:txBody>
      </p:sp>
      <p:pic>
        <p:nvPicPr>
          <p:cNvPr id="9" name="Image 0" descr="img/s06a.png">    </p:cNvPr>
          <p:cNvPicPr>
            <a:picLocks noChangeAspect="1"/>
          </p:cNvPicPr>
          <p:nvPr/>
        </p:nvPicPr>
        <p:blipFill>
          <a:blip r:embed="rId1"/>
          <a:stretch>
            <a:fillRect/>
          </a:stretch>
        </p:blipFill>
        <p:spPr>
          <a:xfrm>
            <a:off x="4572000" y="1371600"/>
            <a:ext cx="5826265" cy="2194560"/>
          </a:xfrm>
          <a:prstGeom prst="rect">
            <a:avLst/>
          </a:prstGeom>
        </p:spPr>
      </p:pic>
      <p:sp>
        <p:nvSpPr>
          <p:cNvPr id="10" name="Text 6"/>
          <p:cNvSpPr txBox="1"/>
          <p:nvPr/>
        </p:nvSpPr>
        <p:spPr>
          <a:xfrm>
            <a:off x="4572000" y="3584448"/>
            <a:ext cx="7040880" cy="274320"/>
          </a:xfrm>
          <a:prstGeom prst="rect">
            <a:avLst/>
          </a:prstGeom>
          <a:noFill/>
          <a:ln/>
        </p:spPr>
        <p:txBody>
          <a:bodyPr wrap="square" lIns="0" tIns="0" rIns="0" bIns="0" rtlCol="0" anchor="ctr"/>
          <a:lstStyle/>
          <a:p>
            <a:pPr indent="0" marL="0">
              <a:buNone/>
            </a:pPr>
            <a:r>
              <a:rPr lang="en-US" sz="1100" b="1" dirty="0">
                <a:solidFill>
                  <a:srgbClr val="2F6B3A"/>
                </a:solidFill>
                <a:latin typeface="Arial" pitchFamily="34" charset="0"/>
                <a:ea typeface="Arial" pitchFamily="34" charset="-122"/>
                <a:cs typeface="Arial" pitchFamily="34" charset="-120"/>
              </a:rPr>
              <a:t>Manhattan Bridge — the lines separate</a:t>
            </a:r>
            <a:endParaRPr lang="en-US" sz="1100" dirty="0"/>
          </a:p>
        </p:txBody>
      </p:sp>
      <p:pic>
        <p:nvPicPr>
          <p:cNvPr id="11" name="Image 1" descr="img/s06b.png">    </p:cNvPr>
          <p:cNvPicPr>
            <a:picLocks noChangeAspect="1"/>
          </p:cNvPicPr>
          <p:nvPr/>
        </p:nvPicPr>
        <p:blipFill>
          <a:blip r:embed="rId2"/>
          <a:stretch>
            <a:fillRect/>
          </a:stretch>
        </p:blipFill>
        <p:spPr>
          <a:xfrm>
            <a:off x="4572000" y="3977640"/>
            <a:ext cx="5817685" cy="2194560"/>
          </a:xfrm>
          <a:prstGeom prst="rect">
            <a:avLst/>
          </a:prstGeom>
        </p:spPr>
      </p:pic>
      <p:sp>
        <p:nvSpPr>
          <p:cNvPr id="12" name="Text 7"/>
          <p:cNvSpPr txBox="1"/>
          <p:nvPr/>
        </p:nvSpPr>
        <p:spPr>
          <a:xfrm>
            <a:off x="4572000" y="6190488"/>
            <a:ext cx="7040880" cy="274320"/>
          </a:xfrm>
          <a:prstGeom prst="rect">
            <a:avLst/>
          </a:prstGeom>
          <a:noFill/>
          <a:ln/>
        </p:spPr>
        <p:txBody>
          <a:bodyPr wrap="square" lIns="0" tIns="0" rIns="0" bIns="0" rtlCol="0" anchor="ctr"/>
          <a:lstStyle/>
          <a:p>
            <a:pPr indent="0" marL="0">
              <a:buNone/>
            </a:pPr>
            <a:r>
              <a:rPr lang="en-US" sz="1100" b="1" dirty="0">
                <a:solidFill>
                  <a:srgbClr val="6B6B6B"/>
                </a:solidFill>
                <a:latin typeface="Arial" pitchFamily="34" charset="0"/>
                <a:ea typeface="Arial" pitchFamily="34" charset="-122"/>
                <a:cs typeface="Arial" pitchFamily="34" charset="-120"/>
              </a:rPr>
              <a:t>Mott Haven — the lines sit on top of each other</a:t>
            </a:r>
            <a:endParaRPr lang="en-US" sz="110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Joey Zhou, Unsplash</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PART I · SECTION 3</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The numbers</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7 / 36</a:t>
            </a:r>
            <a:endParaRPr lang="en-US" sz="900" dirty="0"/>
          </a:p>
        </p:txBody>
      </p:sp>
      <p:sp>
        <p:nvSpPr>
          <p:cNvPr id="7" name="Text 4"/>
          <p:cNvSpPr txBox="1"/>
          <p:nvPr/>
        </p:nvSpPr>
        <p:spPr>
          <a:xfrm>
            <a:off x="548640" y="1508760"/>
            <a:ext cx="4206240" cy="1047750"/>
          </a:xfrm>
          <a:prstGeom prst="rect">
            <a:avLst/>
          </a:prstGeom>
          <a:noFill/>
          <a:ln/>
        </p:spPr>
        <p:txBody>
          <a:bodyPr wrap="square" lIns="0" tIns="0" rIns="0" bIns="0" rtlCol="0" anchor="t"/>
          <a:lstStyle/>
          <a:p>
            <a:pPr indent="0" marL="0">
              <a:buNone/>
            </a:pPr>
            <a:r>
              <a:rPr lang="en-US" sz="6600" b="1" dirty="0">
                <a:solidFill>
                  <a:srgbClr val="2F6B3A"/>
                </a:solidFill>
                <a:latin typeface="Arial" pitchFamily="34" charset="0"/>
                <a:ea typeface="Arial" pitchFamily="34" charset="-122"/>
                <a:cs typeface="Arial" pitchFamily="34" charset="-120"/>
              </a:rPr>
              <a:t>−1.33</a:t>
            </a:r>
            <a:endParaRPr lang="en-US" sz="6600" dirty="0"/>
          </a:p>
        </p:txBody>
      </p:sp>
      <p:sp>
        <p:nvSpPr>
          <p:cNvPr id="8" name="Text 5"/>
          <p:cNvSpPr txBox="1"/>
          <p:nvPr/>
        </p:nvSpPr>
        <p:spPr>
          <a:xfrm>
            <a:off x="548640" y="2514600"/>
            <a:ext cx="4206240" cy="45720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Manhattan Bridge  ·  p = 0.03  ·  confirmed</a:t>
            </a:r>
            <a:endParaRPr lang="en-US" sz="1300" dirty="0"/>
          </a:p>
        </p:txBody>
      </p:sp>
      <p:sp>
        <p:nvSpPr>
          <p:cNvPr id="9" name="Text 6"/>
          <p:cNvSpPr txBox="1"/>
          <p:nvPr/>
        </p:nvSpPr>
        <p:spPr>
          <a:xfrm>
            <a:off x="548640" y="3429000"/>
            <a:ext cx="4206240" cy="1047750"/>
          </a:xfrm>
          <a:prstGeom prst="rect">
            <a:avLst/>
          </a:prstGeom>
          <a:noFill/>
          <a:ln/>
        </p:spPr>
        <p:txBody>
          <a:bodyPr wrap="square" lIns="0" tIns="0" rIns="0" bIns="0" rtlCol="0" anchor="t"/>
          <a:lstStyle/>
          <a:p>
            <a:pPr indent="0" marL="0">
              <a:buNone/>
            </a:pPr>
            <a:r>
              <a:rPr lang="en-US" sz="6600" b="1" dirty="0">
                <a:solidFill>
                  <a:srgbClr val="6B6B6B"/>
                </a:solidFill>
                <a:latin typeface="Arial" pitchFamily="34" charset="0"/>
                <a:ea typeface="Arial" pitchFamily="34" charset="-122"/>
                <a:cs typeface="Arial" pitchFamily="34" charset="-120"/>
              </a:rPr>
              <a:t>+0.30</a:t>
            </a:r>
            <a:endParaRPr lang="en-US" sz="6600" dirty="0"/>
          </a:p>
        </p:txBody>
      </p:sp>
      <p:sp>
        <p:nvSpPr>
          <p:cNvPr id="10" name="Text 7"/>
          <p:cNvSpPr txBox="1"/>
          <p:nvPr/>
        </p:nvSpPr>
        <p:spPr>
          <a:xfrm>
            <a:off x="548640" y="4434840"/>
            <a:ext cx="4206240" cy="45720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Mott Haven  ·  p = 0.61  ·  a coin flip</a:t>
            </a:r>
            <a:endParaRPr lang="en-US" sz="1300" dirty="0"/>
          </a:p>
        </p:txBody>
      </p:sp>
      <p:sp>
        <p:nvSpPr>
          <p:cNvPr id="11" name="Text 8"/>
          <p:cNvSpPr txBox="1"/>
          <p:nvPr/>
        </p:nvSpPr>
        <p:spPr>
          <a:xfrm>
            <a:off x="548640" y="5212080"/>
            <a:ext cx="420624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For scale: NYC air averages about 7 µg/m³. A 1-unit drop at a bridge landing is real, and it matches the Health Department’s own evaluation.</a:t>
            </a:r>
            <a:endParaRPr lang="en-US" sz="1050" dirty="0"/>
          </a:p>
        </p:txBody>
      </p:sp>
      <p:pic>
        <p:nvPicPr>
          <p:cNvPr id="12" name="Image 0" descr="img/s07.png">    </p:cNvPr>
          <p:cNvPicPr>
            <a:picLocks noChangeAspect="1"/>
          </p:cNvPicPr>
          <p:nvPr/>
        </p:nvPicPr>
        <p:blipFill>
          <a:blip r:embed="rId1"/>
          <a:stretch>
            <a:fillRect/>
          </a:stretch>
        </p:blipFill>
        <p:spPr>
          <a:xfrm>
            <a:off x="5029200" y="1417320"/>
            <a:ext cx="6611112" cy="2927253"/>
          </a:xfrm>
          <a:prstGeom prst="rect">
            <a:avLst/>
          </a:prstGeom>
        </p:spPr>
      </p:pic>
      <p:sp>
        <p:nvSpPr>
          <p:cNvPr id="13" name="Text 9"/>
          <p:cNvSpPr txBox="1"/>
          <p:nvPr/>
        </p:nvSpPr>
        <p:spPr>
          <a:xfrm>
            <a:off x="5029200" y="4454301"/>
            <a:ext cx="658368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Read each row in three steps: sign of β (negative = cleaner), whether the 95% range includes zero, and p below 0.05.</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Hieu Vu Minh, Unsplash; monochrome</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PART I · SECTION 4</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The equity question can’t be separated from the zone</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8 / 36</a:t>
            </a:r>
            <a:endParaRPr lang="en-US" sz="900" dirty="0"/>
          </a:p>
        </p:txBody>
      </p:sp>
      <p:sp>
        <p:nvSpPr>
          <p:cNvPr id="7" name="Text 4"/>
          <p:cNvSpPr txBox="1"/>
          <p:nvPr/>
        </p:nvSpPr>
        <p:spPr>
          <a:xfrm>
            <a:off x="548640" y="1508760"/>
            <a:ext cx="3931920" cy="3200400"/>
          </a:xfrm>
          <a:prstGeom prst="rect">
            <a:avLst/>
          </a:prstGeom>
          <a:noFill/>
          <a:ln/>
        </p:spPr>
        <p:txBody>
          <a:bodyPr wrap="square" lIns="0" tIns="0" rIns="0" bIns="0" rtlCol="0" anchor="t"/>
          <a:lstStyle/>
          <a:p>
            <a:pPr indent="0" marL="0">
              <a:lnSpc>
                <a:spcPct val="115000"/>
              </a:lnSpc>
              <a:spcAft>
                <a:spcPts val="1080"/>
              </a:spcAft>
              <a:buNone/>
            </a:pPr>
            <a:r>
              <a:rPr lang="en-US" sz="1500" dirty="0">
                <a:solidFill>
                  <a:srgbClr val="1A1A1A"/>
                </a:solidFill>
                <a:latin typeface="Arial" pitchFamily="34" charset="0"/>
                <a:ea typeface="Arial" pitchFamily="34" charset="-122"/>
                <a:cs typeface="Arial" pitchFamily="34" charset="-120"/>
              </a:rPr>
              <a:t>Every in-zone monitor but one sits in a designated tract.</a:t>
            </a:r>
            <a:endParaRPr lang="en-US" sz="1500" dirty="0"/>
          </a:p>
          <a:p>
            <a:pPr indent="0" marL="0">
              <a:lnSpc>
                <a:spcPct val="115000"/>
              </a:lnSpc>
              <a:spcAft>
                <a:spcPts val="1080"/>
              </a:spcAft>
              <a:buNone/>
            </a:pPr>
            <a:r>
              <a:rPr lang="en-US" sz="1500" dirty="0">
                <a:solidFill>
                  <a:srgbClr val="1A1A1A"/>
                </a:solidFill>
                <a:latin typeface="Arial" pitchFamily="34" charset="0"/>
                <a:ea typeface="Arial" pitchFamily="34" charset="-122"/>
                <a:cs typeface="Arial" pitchFamily="34" charset="-120"/>
              </a:rPr>
              <a:t>Every outside-zone monitor with a full record does too.</a:t>
            </a:r>
            <a:endParaRPr lang="en-US" sz="1500" dirty="0"/>
          </a:p>
          <a:p>
            <a:pPr indent="0" marL="0">
              <a:lnSpc>
                <a:spcPct val="115000"/>
              </a:lnSpc>
              <a:spcAft>
                <a:spcPts val="1080"/>
              </a:spcAft>
              <a:buNone/>
            </a:pPr>
            <a:r>
              <a:rPr lang="en-US" sz="1500" dirty="0">
                <a:solidFill>
                  <a:srgbClr val="1A1A1A"/>
                </a:solidFill>
                <a:latin typeface="Arial" pitchFamily="34" charset="0"/>
                <a:ea typeface="Arial" pitchFamily="34" charset="-122"/>
                <a:cs typeface="Arial" pitchFamily="34" charset="-120"/>
              </a:rPr>
              <a:t>So “EJ” and “outside the zone” are nearly the same list of monitors.</a:t>
            </a:r>
            <a:endParaRPr lang="en-US" sz="1500" dirty="0"/>
          </a:p>
        </p:txBody>
      </p:sp>
      <p:sp>
        <p:nvSpPr>
          <p:cNvPr id="8" name="Text 5"/>
          <p:cNvSpPr txBox="1"/>
          <p:nvPr/>
        </p:nvSpPr>
        <p:spPr>
          <a:xfrm>
            <a:off x="548640" y="3840480"/>
            <a:ext cx="4206240" cy="539750"/>
          </a:xfrm>
          <a:prstGeom prst="rect">
            <a:avLst/>
          </a:prstGeom>
          <a:noFill/>
          <a:ln/>
        </p:spPr>
        <p:txBody>
          <a:bodyPr wrap="square" lIns="0" tIns="0" rIns="0" bIns="0" rtlCol="0" anchor="t"/>
          <a:lstStyle/>
          <a:p>
            <a:pPr indent="0" marL="0">
              <a:buNone/>
            </a:pPr>
            <a:r>
              <a:rPr lang="en-US" sz="3400" b="1" dirty="0">
                <a:solidFill>
                  <a:srgbClr val="4B2E83"/>
                </a:solidFill>
                <a:latin typeface="Arial" pitchFamily="34" charset="0"/>
                <a:ea typeface="Arial" pitchFamily="34" charset="-122"/>
                <a:cs typeface="Arial" pitchFamily="34" charset="-120"/>
              </a:rPr>
              <a:t>−0.38 to +0.02</a:t>
            </a:r>
            <a:endParaRPr lang="en-US" sz="3400" dirty="0"/>
          </a:p>
        </p:txBody>
      </p:sp>
      <p:sp>
        <p:nvSpPr>
          <p:cNvPr id="9" name="Text 6"/>
          <p:cNvSpPr txBox="1"/>
          <p:nvPr/>
        </p:nvSpPr>
        <p:spPr>
          <a:xfrm>
            <a:off x="548640" y="4358640"/>
            <a:ext cx="4206240" cy="45720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EJ gap holding the zone constant · not significant</a:t>
            </a:r>
            <a:endParaRPr lang="en-US" sz="1300" dirty="0"/>
          </a:p>
        </p:txBody>
      </p:sp>
      <p:pic>
        <p:nvPicPr>
          <p:cNvPr id="10" name="Image 0" descr="img/s08.png">    </p:cNvPr>
          <p:cNvPicPr>
            <a:picLocks noChangeAspect="1"/>
          </p:cNvPicPr>
          <p:nvPr/>
        </p:nvPicPr>
        <p:blipFill>
          <a:blip r:embed="rId1"/>
          <a:stretch>
            <a:fillRect/>
          </a:stretch>
        </p:blipFill>
        <p:spPr>
          <a:xfrm>
            <a:off x="4937760" y="1417320"/>
            <a:ext cx="6702552" cy="3511393"/>
          </a:xfrm>
          <a:prstGeom prst="rect">
            <a:avLst/>
          </a:prstGeom>
        </p:spPr>
      </p:pic>
      <p:sp>
        <p:nvSpPr>
          <p:cNvPr id="11" name="Text 7"/>
          <p:cNvSpPr txBox="1"/>
          <p:nvPr/>
        </p:nvSpPr>
        <p:spPr>
          <a:xfrm>
            <a:off x="4937760" y="5038441"/>
            <a:ext cx="667512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Color = designated tract. Shape = inside/outside the zone. No fitted line: five points can’t carry one.</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Lerone Pieters, Unsplash; monochrome</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PART I · SECTION 5</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2800" b="1" dirty="0">
                <a:solidFill>
                  <a:srgbClr val="1A1A1A"/>
                </a:solidFill>
                <a:latin typeface="Cambria" pitchFamily="34" charset="0"/>
                <a:ea typeface="Cambria" pitchFamily="34" charset="-122"/>
                <a:cs typeface="Cambria" pitchFamily="34" charset="-120"/>
              </a:rPr>
              <a:t>Nine ways I tried to break it</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9 / 36</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743200"/>
                <a:gridCol w="3931920"/>
                <a:gridCol w="4416552"/>
              </a:tblGrid>
              <a:tr h="457200">
                <a:tc>
                  <a:txBody>
                    <a:bodyPr/>
                    <a:lstStyle/>
                    <a:p>
                      <a:pPr indent="0" marL="0">
                        <a:buNone/>
                      </a:pPr>
                      <a:r>
                        <a:rPr lang="en-US" sz="1100" b="1" dirty="0">
                          <a:solidFill>
                            <a:srgbClr val="4B2E83"/>
                          </a:solidFill>
                          <a:latin typeface="Arial" pitchFamily="34" charset="0"/>
                          <a:ea typeface="Arial" pitchFamily="34" charset="-122"/>
                          <a:cs typeface="Arial" pitchFamily="34" charset="-120"/>
                        </a:rPr>
                        <a:t>The doubt</a:t>
                      </a:r>
                      <a:endParaRPr lang="en-US" sz="110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indent="0" marL="0">
                        <a:buNone/>
                      </a:pPr>
                      <a:r>
                        <a:rPr lang="en-US" sz="1100" b="1" dirty="0">
                          <a:solidFill>
                            <a:srgbClr val="4B2E83"/>
                          </a:solidFill>
                          <a:latin typeface="Arial" pitchFamily="34" charset="0"/>
                          <a:ea typeface="Arial" pitchFamily="34" charset="-122"/>
                          <a:cs typeface="Arial" pitchFamily="34" charset="-120"/>
                        </a:rPr>
                        <a:t>The check</a:t>
                      </a:r>
                      <a:endParaRPr lang="en-US" sz="110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indent="0" marL="0">
                        <a:buNone/>
                      </a:pPr>
                      <a:r>
                        <a:rPr lang="en-US" sz="1100" b="1" dirty="0">
                          <a:solidFill>
                            <a:srgbClr val="4B2E83"/>
                          </a:solidFill>
                          <a:latin typeface="Arial" pitchFamily="34" charset="0"/>
                          <a:ea typeface="Arial" pitchFamily="34" charset="-122"/>
                          <a:cs typeface="Arial" pitchFamily="34" charset="-120"/>
                        </a:rPr>
                        <a:t>The answer</a:t>
                      </a:r>
                      <a:endParaRPr lang="en-US" sz="110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r h="457200">
                <a:tc>
                  <a:txBody>
                    <a:bodyPr/>
                    <a:lstStyle/>
                    <a:p>
                      <a:pPr indent="0" marL="0">
                        <a:buNone/>
                      </a:pPr>
                      <a:r>
                        <a:rPr lang="en-US" sz="1150" b="1" dirty="0">
                          <a:solidFill>
                            <a:srgbClr val="1A1A1A"/>
                          </a:solidFill>
                          <a:latin typeface="Arial" pitchFamily="34" charset="0"/>
                          <a:ea typeface="Arial" pitchFamily="34" charset="-122"/>
                          <a:cs typeface="Arial" pitchFamily="34" charset="-120"/>
                        </a:rPr>
                        <a:t>Weather drove it?</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Weather-adjusted model (wind, temperature, rain, humidity, wind sector)</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Signs unchanged at all 11 sites; ranges shorter at 8 of 11.</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457200">
                <a:tc>
                  <a:txBody>
                    <a:bodyPr/>
                    <a:lstStyle/>
                    <a:p>
                      <a:pPr indent="0" marL="0">
                        <a:buNone/>
                      </a:pPr>
                      <a:r>
                        <a:rPr lang="en-US" sz="1150" b="1" dirty="0">
                          <a:solidFill>
                            <a:srgbClr val="1A1A1A"/>
                          </a:solidFill>
                          <a:latin typeface="Arial" pitchFamily="34" charset="0"/>
                          <a:ea typeface="Arial" pitchFamily="34" charset="-122"/>
                          <a:cs typeface="Arial" pitchFamily="34" charset="-120"/>
                        </a:rPr>
                        <a:t>Rush hour would show diversion?</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Daytime-minus-nighttime gap, before vs after</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1 of 16 bars significant (Cross Bronx, weekdays). Mott Haven: nothing.</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A1A1A"/>
                          </a:solidFill>
                          <a:latin typeface="Arial" pitchFamily="34" charset="0"/>
                          <a:ea typeface="Arial" pitchFamily="34" charset="-122"/>
                          <a:cs typeface="Arial" pitchFamily="34" charset="-120"/>
                        </a:rPr>
                        <a:t>The model invents effects?</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Fake toll dates in pre-toll data</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Inconclusive: the long-baseline model makes fake effects of ±30 µg/m³. Discarded.</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457200">
                <a:tc>
                  <a:txBody>
                    <a:bodyPr/>
                    <a:lstStyle/>
                    <a:p>
                      <a:pPr indent="0" marL="0">
                        <a:buNone/>
                      </a:pPr>
                      <a:r>
                        <a:rPr lang="en-US" sz="1150" b="1" dirty="0">
                          <a:solidFill>
                            <a:srgbClr val="1A1A1A"/>
                          </a:solidFill>
                          <a:latin typeface="Arial" pitchFamily="34" charset="0"/>
                          <a:ea typeface="Arial" pitchFamily="34" charset="-122"/>
                          <a:cs typeface="Arial" pitchFamily="34" charset="-120"/>
                        </a:rPr>
                        <a:t>Bad control monitors?</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All sites in one model; every day gets its own baseline</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Same gap. EJ effect −0.38 to +0.02, not significant.</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A1A1A"/>
                          </a:solidFill>
                          <a:latin typeface="Arial" pitchFamily="34" charset="0"/>
                          <a:ea typeface="Arial" pitchFamily="34" charset="-122"/>
                          <a:cs typeface="Arial" pitchFamily="34" charset="-120"/>
                        </a:rPr>
                        <a:t>Could diversion physically cause it?</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Traffic–pollution slope × extra Throgs Neck cars</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0.018 × 2,041 = 0.04 µg/m³. One-eighth of the number in question.</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457200">
                <a:tc>
                  <a:txBody>
                    <a:bodyPr/>
                    <a:lstStyle/>
                    <a:p>
                      <a:pPr indent="0" marL="0">
                        <a:buNone/>
                      </a:pPr>
                      <a:r>
                        <a:rPr lang="en-US" sz="1150" b="1" dirty="0">
                          <a:solidFill>
                            <a:srgbClr val="1A1A1A"/>
                          </a:solidFill>
                          <a:latin typeface="Arial" pitchFamily="34" charset="0"/>
                          <a:ea typeface="Arial" pitchFamily="34" charset="-122"/>
                          <a:cs typeface="Arial" pitchFamily="34" charset="-120"/>
                        </a:rPr>
                        <a:t>Wrong pollutant?</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NO₂ at state monitors in the Bronx</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Moved with the Queens control. No traffic signal.</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A1A1A"/>
                          </a:solidFill>
                          <a:latin typeface="Arial" pitchFamily="34" charset="0"/>
                          <a:ea typeface="Arial" pitchFamily="34" charset="-122"/>
                          <a:cs typeface="Arial" pitchFamily="34" charset="-120"/>
                        </a:rPr>
                        <a:t>It’s just the model?</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Plain subtraction, 2025 vs 2024, minus the control</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Bridges inside the zone −0.6 to −0.8. Bronx flat or up.</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457200">
                <a:tc>
                  <a:txBody>
                    <a:bodyPr/>
                    <a:lstStyle/>
                    <a:p>
                      <a:pPr indent="0" marL="0">
                        <a:buNone/>
                      </a:pPr>
                      <a:r>
                        <a:rPr lang="en-US" sz="1150" b="1" dirty="0">
                          <a:solidFill>
                            <a:srgbClr val="1A1A1A"/>
                          </a:solidFill>
                          <a:latin typeface="Arial" pitchFamily="34" charset="0"/>
                          <a:ea typeface="Arial" pitchFamily="34" charset="-122"/>
                          <a:cs typeface="Arial" pitchFamily="34" charset="-120"/>
                        </a:rPr>
                        <a:t>One modeling choice?</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Simpler model, one term removed</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Manhattan Bridge survives. Mott Haven flips sign: no direction.</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A1A1A"/>
                          </a:solidFill>
                          <a:latin typeface="Arial" pitchFamily="34" charset="0"/>
                          <a:ea typeface="Arial" pitchFamily="34" charset="-122"/>
                          <a:cs typeface="Arial" pitchFamily="34" charset="-120"/>
                        </a:rPr>
                        <a:t>Missing the comparison?</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Added outside-zone volunteer sensors in non-designated neighborhoods</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EJ gap still zero. Bay Ridge moved like the Bronx.</a:t>
                      </a:r>
                      <a:endParaRPr lang="en-US" sz="1150" dirty="0">
                        <a:latin typeface="Arial" charset="0"/>
                        <a:ea typeface="Arial" charset="0"/>
                        <a:cs typeface="Arial" charset="0"/>
                      </a:endParaRPr>
                    </a:p>
                  </a:txBody>
                  <a:tcPr marL="54864" marR="54864" marT="54864" marB="54864"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bl>
          </a:graphicData>
        </a:graphic>
      </p:graphicFrame>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Clay LeConey, Unsplash; monochrome</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CHECK 2</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Rush hour</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10 / 36</a:t>
            </a:r>
            <a:endParaRPr lang="en-US" sz="900" dirty="0"/>
          </a:p>
        </p:txBody>
      </p:sp>
      <p:sp>
        <p:nvSpPr>
          <p:cNvPr id="7" name="Text 4"/>
          <p:cNvSpPr txBox="1"/>
          <p:nvPr/>
        </p:nvSpPr>
        <p:spPr>
          <a:xfrm>
            <a:off x="548640" y="1463040"/>
            <a:ext cx="3749040" cy="3200400"/>
          </a:xfrm>
          <a:prstGeom prst="rect">
            <a:avLst/>
          </a:prstGeom>
          <a:noFill/>
          <a:ln/>
        </p:spPr>
        <p:txBody>
          <a:bodyPr wrap="square" lIns="0" tIns="0" rIns="0" bIns="0" rtlCol="0" anchor="t"/>
          <a:lstStyle/>
          <a:p>
            <a:pPr indent="0" marL="0">
              <a:lnSpc>
                <a:spcPct val="115000"/>
              </a:lnSpc>
              <a:spcAft>
                <a:spcPts val="1080"/>
              </a:spcAft>
              <a:buNone/>
            </a:pPr>
            <a:r>
              <a:rPr lang="en-US" sz="1450" dirty="0">
                <a:solidFill>
                  <a:srgbClr val="1A1A1A"/>
                </a:solidFill>
                <a:latin typeface="Arial" pitchFamily="34" charset="0"/>
                <a:ea typeface="Arial" pitchFamily="34" charset="-122"/>
                <a:cs typeface="Arial" pitchFamily="34" charset="-120"/>
              </a:rPr>
              <a:t>The toll is 75% cheaper overnight. If drivers were dodging it through the Bronx, Bronx air would get worse by day.</a:t>
            </a:r>
            <a:endParaRPr lang="en-US" sz="1450" dirty="0"/>
          </a:p>
          <a:p>
            <a:pPr indent="0" marL="0">
              <a:lnSpc>
                <a:spcPct val="115000"/>
              </a:lnSpc>
              <a:spcAft>
                <a:spcPts val="1080"/>
              </a:spcAft>
              <a:buNone/>
            </a:pPr>
            <a:r>
              <a:rPr lang="en-US" sz="1450" dirty="0">
                <a:solidFill>
                  <a:srgbClr val="1A1A1A"/>
                </a:solidFill>
                <a:latin typeface="Arial" pitchFamily="34" charset="0"/>
                <a:ea typeface="Arial" pitchFamily="34" charset="-122"/>
                <a:cs typeface="Arial" pitchFamily="34" charset="-120"/>
              </a:rPr>
              <a:t>Each bar: how much the day-minus-night gap changed after the toll.</a:t>
            </a:r>
            <a:endParaRPr lang="en-US" sz="1450" dirty="0"/>
          </a:p>
          <a:p>
            <a:pPr indent="0" marL="0">
              <a:lnSpc>
                <a:spcPct val="115000"/>
              </a:lnSpc>
              <a:spcAft>
                <a:spcPts val="1080"/>
              </a:spcAft>
              <a:buNone/>
            </a:pPr>
            <a:r>
              <a:rPr lang="en-US" sz="1450" dirty="0">
                <a:solidFill>
                  <a:srgbClr val="1A1A1A"/>
                </a:solidFill>
                <a:latin typeface="Arial" pitchFamily="34" charset="0"/>
                <a:ea typeface="Arial" pitchFamily="34" charset="-122"/>
                <a:cs typeface="Arial" pitchFamily="34" charset="-120"/>
              </a:rPr>
              <a:t>Mott Haven: nothing.</a:t>
            </a:r>
            <a:endParaRPr lang="en-US" sz="1450" dirty="0"/>
          </a:p>
          <a:p>
            <a:pPr indent="0" marL="0">
              <a:lnSpc>
                <a:spcPct val="115000"/>
              </a:lnSpc>
              <a:spcAft>
                <a:spcPts val="1080"/>
              </a:spcAft>
              <a:buNone/>
            </a:pPr>
            <a:r>
              <a:rPr lang="en-US" sz="1450" dirty="0">
                <a:solidFill>
                  <a:srgbClr val="1A1A1A"/>
                </a:solidFill>
                <a:latin typeface="Arial" pitchFamily="34" charset="0"/>
                <a:ea typeface="Arial" pitchFamily="34" charset="-122"/>
                <a:cs typeface="Arial" pitchFamily="34" charset="-120"/>
              </a:rPr>
              <a:t>Cross Bronx, weekdays: one hit out of sixteen. A hint, not a finding.</a:t>
            </a:r>
            <a:endParaRPr lang="en-US" sz="1450" dirty="0"/>
          </a:p>
        </p:txBody>
      </p:sp>
      <p:pic>
        <p:nvPicPr>
          <p:cNvPr id="8" name="Image 0" descr="img/s10.png">    </p:cNvPr>
          <p:cNvPicPr>
            <a:picLocks noChangeAspect="1"/>
          </p:cNvPicPr>
          <p:nvPr/>
        </p:nvPicPr>
        <p:blipFill>
          <a:blip r:embed="rId1"/>
          <a:stretch>
            <a:fillRect/>
          </a:stretch>
        </p:blipFill>
        <p:spPr>
          <a:xfrm>
            <a:off x="4754880" y="1554480"/>
            <a:ext cx="6885432" cy="2784775"/>
          </a:xfrm>
          <a:prstGeom prst="rect">
            <a:avLst/>
          </a:prstGeom>
        </p:spPr>
      </p:pic>
      <p:sp>
        <p:nvSpPr>
          <p:cNvPr id="9" name="Text 5"/>
          <p:cNvSpPr txBox="1"/>
          <p:nvPr/>
        </p:nvSpPr>
        <p:spPr>
          <a:xfrm>
            <a:off x="4754880" y="4448983"/>
            <a:ext cx="685800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Black outline = significant. Faded bars = monitors with under 200 pre-toll days; not interpreted.</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Pexels, free license</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CHECK 5</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Could diverted traffic even cause it?</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11 / 36</a:t>
            </a:r>
            <a:endParaRPr lang="en-US" sz="900" dirty="0"/>
          </a:p>
        </p:txBody>
      </p:sp>
      <p:sp>
        <p:nvSpPr>
          <p:cNvPr id="7" name="Text 4"/>
          <p:cNvSpPr txBox="1"/>
          <p:nvPr/>
        </p:nvSpPr>
        <p:spPr>
          <a:xfrm>
            <a:off x="548640" y="1371600"/>
            <a:ext cx="11064240" cy="685800"/>
          </a:xfrm>
          <a:prstGeom prst="rect">
            <a:avLst/>
          </a:prstGeom>
          <a:noFill/>
          <a:ln/>
        </p:spPr>
        <p:txBody>
          <a:bodyPr wrap="square" lIns="0" tIns="0" rIns="0" bIns="0" rtlCol="0" anchor="ctr"/>
          <a:lstStyle/>
          <a:p>
            <a:pPr indent="0" marL="0">
              <a:buNone/>
            </a:pPr>
            <a:r>
              <a:rPr lang="en-US" sz="4000" b="1" dirty="0">
                <a:solidFill>
                  <a:srgbClr val="4B2E83"/>
                </a:solidFill>
                <a:latin typeface="Arial" pitchFamily="34" charset="0"/>
                <a:ea typeface="Arial" pitchFamily="34" charset="-122"/>
                <a:cs typeface="Arial" pitchFamily="34" charset="-120"/>
              </a:rPr>
              <a:t>0.018 × 2,041 = 0.04 µg/m³</a:t>
            </a:r>
            <a:endParaRPr lang="en-US" sz="4000" dirty="0"/>
          </a:p>
        </p:txBody>
      </p:sp>
      <p:sp>
        <p:nvSpPr>
          <p:cNvPr id="8" name="Text 5"/>
          <p:cNvSpPr txBox="1"/>
          <p:nvPr/>
        </p:nvSpPr>
        <p:spPr>
          <a:xfrm>
            <a:off x="548640" y="2084832"/>
            <a:ext cx="11064240" cy="36576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Pollution per extra 1,000 cars on the Throgs Neck × extra cars after the toll = one-eighth of the +0.30 at Mott Haven.</a:t>
            </a:r>
            <a:endParaRPr lang="en-US" sz="1400" dirty="0"/>
          </a:p>
        </p:txBody>
      </p:sp>
      <p:pic>
        <p:nvPicPr>
          <p:cNvPr id="9" name="Image 0" descr="img/s11.png">    </p:cNvPr>
          <p:cNvPicPr>
            <a:picLocks noChangeAspect="1"/>
          </p:cNvPicPr>
          <p:nvPr/>
        </p:nvPicPr>
        <p:blipFill>
          <a:blip r:embed="rId1"/>
          <a:stretch>
            <a:fillRect/>
          </a:stretch>
        </p:blipFill>
        <p:spPr>
          <a:xfrm>
            <a:off x="1911850" y="2560320"/>
            <a:ext cx="8365253" cy="3383280"/>
          </a:xfrm>
          <a:prstGeom prst="rect">
            <a:avLst/>
          </a:prstGeom>
        </p:spPr>
      </p:pic>
      <p:sp>
        <p:nvSpPr>
          <p:cNvPr id="10" name="Text 6"/>
          <p:cNvSpPr txBox="1"/>
          <p:nvPr/>
        </p:nvSpPr>
        <p:spPr>
          <a:xfrm>
            <a:off x="548640" y="6016752"/>
            <a:ext cx="1097280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Each dot is one pre-toll day. A steep line would mean bridge traffic drives Mott Haven air. The line is nearly flat.</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New York Public Library, public domain</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CHECK 9 · THE SLIDE THAT SETTLES IT</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The missing comparison</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12 / 36</a:t>
            </a:r>
            <a:endParaRPr lang="en-US" sz="900" dirty="0"/>
          </a:p>
        </p:txBody>
      </p:sp>
      <p:sp>
        <p:nvSpPr>
          <p:cNvPr id="7" name="Text 4"/>
          <p:cNvSpPr txBox="1"/>
          <p:nvPr/>
        </p:nvSpPr>
        <p:spPr>
          <a:xfrm>
            <a:off x="548640" y="1325880"/>
            <a:ext cx="3566160" cy="822960"/>
          </a:xfrm>
          <a:prstGeom prst="rect">
            <a:avLst/>
          </a:prstGeom>
          <a:noFill/>
          <a:ln/>
        </p:spPr>
        <p:txBody>
          <a:bodyPr wrap="square" lIns="0" tIns="0" rIns="0" bIns="0" rtlCol="0" anchor="t"/>
          <a:lstStyle/>
          <a:p>
            <a:pPr indent="0" marL="0">
              <a:buNone/>
            </a:pPr>
            <a:r>
              <a:rPr lang="en-US" sz="4800" b="1" dirty="0">
                <a:solidFill>
                  <a:srgbClr val="B4391B"/>
                </a:solidFill>
                <a:latin typeface="Arial" pitchFamily="34" charset="0"/>
                <a:ea typeface="Arial" pitchFamily="34" charset="-122"/>
                <a:cs typeface="Arial" pitchFamily="34" charset="-120"/>
              </a:rPr>
              <a:t>+0.87</a:t>
            </a:r>
            <a:endParaRPr lang="en-US" sz="4800" dirty="0"/>
          </a:p>
        </p:txBody>
      </p:sp>
      <p:sp>
        <p:nvSpPr>
          <p:cNvPr id="8" name="Text 5"/>
          <p:cNvSpPr txBox="1"/>
          <p:nvPr/>
        </p:nvSpPr>
        <p:spPr>
          <a:xfrm>
            <a:off x="548640" y="2103120"/>
            <a:ext cx="3566160" cy="32004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Mott Haven</a:t>
            </a:r>
            <a:endParaRPr lang="en-US" sz="1500" dirty="0"/>
          </a:p>
        </p:txBody>
      </p:sp>
      <p:sp>
        <p:nvSpPr>
          <p:cNvPr id="9" name="Text 6"/>
          <p:cNvSpPr txBox="1"/>
          <p:nvPr/>
        </p:nvSpPr>
        <p:spPr>
          <a:xfrm>
            <a:off x="548640" y="2395728"/>
            <a:ext cx="3566160" cy="320040"/>
          </a:xfrm>
          <a:prstGeom prst="rect">
            <a:avLst/>
          </a:prstGeom>
          <a:noFill/>
          <a:ln/>
        </p:spPr>
        <p:txBody>
          <a:bodyPr wrap="square" lIns="0" tIns="0" rIns="0" bIns="0" rtlCol="0" anchor="ctr"/>
          <a:lstStyle/>
          <a:p>
            <a:pPr indent="0" marL="0">
              <a:buNone/>
            </a:pPr>
            <a:r>
              <a:rPr lang="en-US" sz="1100" dirty="0">
                <a:solidFill>
                  <a:srgbClr val="6B6B6B"/>
                </a:solidFill>
                <a:latin typeface="Arial" pitchFamily="34" charset="0"/>
                <a:ea typeface="Arial" pitchFamily="34" charset="-122"/>
                <a:cs typeface="Arial" pitchFamily="34" charset="-120"/>
              </a:rPr>
              <a:t>South Bronx · designated · expressway at 44 m</a:t>
            </a:r>
            <a:endParaRPr lang="en-US" sz="1100" dirty="0"/>
          </a:p>
        </p:txBody>
      </p:sp>
      <p:sp>
        <p:nvSpPr>
          <p:cNvPr id="10" name="Text 7"/>
          <p:cNvSpPr txBox="1"/>
          <p:nvPr/>
        </p:nvSpPr>
        <p:spPr>
          <a:xfrm>
            <a:off x="4251960" y="1325880"/>
            <a:ext cx="3566160" cy="822960"/>
          </a:xfrm>
          <a:prstGeom prst="rect">
            <a:avLst/>
          </a:prstGeom>
          <a:noFill/>
          <a:ln/>
        </p:spPr>
        <p:txBody>
          <a:bodyPr wrap="square" lIns="0" tIns="0" rIns="0" bIns="0" rtlCol="0" anchor="t"/>
          <a:lstStyle/>
          <a:p>
            <a:pPr indent="0" marL="0">
              <a:buNone/>
            </a:pPr>
            <a:r>
              <a:rPr lang="en-US" sz="4800" b="1" dirty="0">
                <a:solidFill>
                  <a:srgbClr val="B4391B"/>
                </a:solidFill>
                <a:latin typeface="Arial" pitchFamily="34" charset="0"/>
                <a:ea typeface="Arial" pitchFamily="34" charset="-122"/>
                <a:cs typeface="Arial" pitchFamily="34" charset="-120"/>
              </a:rPr>
              <a:t>+0.85</a:t>
            </a:r>
            <a:endParaRPr lang="en-US" sz="4800" dirty="0"/>
          </a:p>
        </p:txBody>
      </p:sp>
      <p:sp>
        <p:nvSpPr>
          <p:cNvPr id="11" name="Text 8"/>
          <p:cNvSpPr txBox="1"/>
          <p:nvPr/>
        </p:nvSpPr>
        <p:spPr>
          <a:xfrm>
            <a:off x="4251960" y="2103120"/>
            <a:ext cx="3566160" cy="32004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Bay Ridge</a:t>
            </a:r>
            <a:endParaRPr lang="en-US" sz="1500" dirty="0"/>
          </a:p>
        </p:txBody>
      </p:sp>
      <p:sp>
        <p:nvSpPr>
          <p:cNvPr id="12" name="Text 9"/>
          <p:cNvSpPr txBox="1"/>
          <p:nvPr/>
        </p:nvSpPr>
        <p:spPr>
          <a:xfrm>
            <a:off x="4251960" y="2395728"/>
            <a:ext cx="3566160" cy="320040"/>
          </a:xfrm>
          <a:prstGeom prst="rect">
            <a:avLst/>
          </a:prstGeom>
          <a:noFill/>
          <a:ln/>
        </p:spPr>
        <p:txBody>
          <a:bodyPr wrap="square" lIns="0" tIns="0" rIns="0" bIns="0" rtlCol="0" anchor="ctr"/>
          <a:lstStyle/>
          <a:p>
            <a:pPr indent="0" marL="0">
              <a:buNone/>
            </a:pPr>
            <a:r>
              <a:rPr lang="en-US" sz="1100" dirty="0">
                <a:solidFill>
                  <a:srgbClr val="6B6B6B"/>
                </a:solidFill>
                <a:latin typeface="Arial" pitchFamily="34" charset="0"/>
                <a:ea typeface="Arial" pitchFamily="34" charset="-122"/>
                <a:cs typeface="Arial" pitchFamily="34" charset="-120"/>
              </a:rPr>
              <a:t>Brooklyn · not designated · no expressway</a:t>
            </a:r>
            <a:endParaRPr lang="en-US" sz="1100" dirty="0"/>
          </a:p>
        </p:txBody>
      </p:sp>
      <p:sp>
        <p:nvSpPr>
          <p:cNvPr id="13" name="Text 10"/>
          <p:cNvSpPr txBox="1"/>
          <p:nvPr/>
        </p:nvSpPr>
        <p:spPr>
          <a:xfrm>
            <a:off x="7955280" y="1325880"/>
            <a:ext cx="3566160" cy="822960"/>
          </a:xfrm>
          <a:prstGeom prst="rect">
            <a:avLst/>
          </a:prstGeom>
          <a:noFill/>
          <a:ln/>
        </p:spPr>
        <p:txBody>
          <a:bodyPr wrap="square" lIns="0" tIns="0" rIns="0" bIns="0" rtlCol="0" anchor="t"/>
          <a:lstStyle/>
          <a:p>
            <a:pPr indent="0" marL="0">
              <a:buNone/>
            </a:pPr>
            <a:r>
              <a:rPr lang="en-US" sz="4800" b="1" dirty="0">
                <a:solidFill>
                  <a:srgbClr val="B4391B"/>
                </a:solidFill>
                <a:latin typeface="Arial" pitchFamily="34" charset="0"/>
                <a:ea typeface="Arial" pitchFamily="34" charset="-122"/>
                <a:cs typeface="Arial" pitchFamily="34" charset="-120"/>
              </a:rPr>
              <a:t>+1.26</a:t>
            </a:r>
            <a:endParaRPr lang="en-US" sz="4800" dirty="0"/>
          </a:p>
        </p:txBody>
      </p:sp>
      <p:sp>
        <p:nvSpPr>
          <p:cNvPr id="14" name="Text 11"/>
          <p:cNvSpPr txBox="1"/>
          <p:nvPr/>
        </p:nvSpPr>
        <p:spPr>
          <a:xfrm>
            <a:off x="7955280" y="2103120"/>
            <a:ext cx="3566160" cy="32004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Brooklyn Heights</a:t>
            </a:r>
            <a:endParaRPr lang="en-US" sz="1500" dirty="0"/>
          </a:p>
        </p:txBody>
      </p:sp>
      <p:sp>
        <p:nvSpPr>
          <p:cNvPr id="15" name="Text 12"/>
          <p:cNvSpPr txBox="1"/>
          <p:nvPr/>
        </p:nvSpPr>
        <p:spPr>
          <a:xfrm>
            <a:off x="7955280" y="2395728"/>
            <a:ext cx="3566160" cy="320040"/>
          </a:xfrm>
          <a:prstGeom prst="rect">
            <a:avLst/>
          </a:prstGeom>
          <a:noFill/>
          <a:ln/>
        </p:spPr>
        <p:txBody>
          <a:bodyPr wrap="square" lIns="0" tIns="0" rIns="0" bIns="0" rtlCol="0" anchor="ctr"/>
          <a:lstStyle/>
          <a:p>
            <a:pPr indent="0" marL="0">
              <a:buNone/>
            </a:pPr>
            <a:r>
              <a:rPr lang="en-US" sz="1100" dirty="0">
                <a:solidFill>
                  <a:srgbClr val="6B6B6B"/>
                </a:solidFill>
                <a:latin typeface="Arial" pitchFamily="34" charset="0"/>
                <a:ea typeface="Arial" pitchFamily="34" charset="-122"/>
                <a:cs typeface="Arial" pitchFamily="34" charset="-120"/>
              </a:rPr>
              <a:t>Brooklyn · not designated · no expressway</a:t>
            </a:r>
            <a:endParaRPr lang="en-US" sz="1100" dirty="0"/>
          </a:p>
        </p:txBody>
      </p:sp>
      <p:sp>
        <p:nvSpPr>
          <p:cNvPr id="16" name="Text 13"/>
          <p:cNvSpPr txBox="1"/>
          <p:nvPr/>
        </p:nvSpPr>
        <p:spPr>
          <a:xfrm>
            <a:off x="548640" y="2761488"/>
            <a:ext cx="10972800" cy="274320"/>
          </a:xfrm>
          <a:prstGeom prst="rect">
            <a:avLst/>
          </a:prstGeom>
          <a:noFill/>
          <a:ln/>
        </p:spPr>
        <p:txBody>
          <a:bodyPr wrap="square" lIns="0" tIns="0" rIns="0" bIns="0" rtlCol="0" anchor="ctr"/>
          <a:lstStyle/>
          <a:p>
            <a:pPr indent="0" marL="0">
              <a:buNone/>
            </a:pPr>
            <a:r>
              <a:rPr lang="en-US" sz="1100" i="1" dirty="0">
                <a:solidFill>
                  <a:srgbClr val="6B6B6B"/>
                </a:solidFill>
                <a:latin typeface="Arial" pitchFamily="34" charset="0"/>
                <a:ea typeface="Arial" pitchFamily="34" charset="-122"/>
                <a:cs typeface="Arial" pitchFamily="34" charset="-120"/>
              </a:rPr>
              <a:t>Change in 2025 vs 2024, relative to the Van Wyck control, µg/m³</a:t>
            </a:r>
            <a:endParaRPr lang="en-US" sz="1100" dirty="0"/>
          </a:p>
        </p:txBody>
      </p:sp>
      <p:pic>
        <p:nvPicPr>
          <p:cNvPr id="17" name="Image 0" descr="img/s12.png">    </p:cNvPr>
          <p:cNvPicPr>
            <a:picLocks noChangeAspect="1"/>
          </p:cNvPicPr>
          <p:nvPr/>
        </p:nvPicPr>
        <p:blipFill>
          <a:blip r:embed="rId1"/>
          <a:stretch>
            <a:fillRect/>
          </a:stretch>
        </p:blipFill>
        <p:spPr>
          <a:xfrm>
            <a:off x="2066939" y="3108960"/>
            <a:ext cx="8055073" cy="2743200"/>
          </a:xfrm>
          <a:prstGeom prst="rect">
            <a:avLst/>
          </a:prstGeom>
        </p:spPr>
      </p:pic>
      <p:sp>
        <p:nvSpPr>
          <p:cNvPr id="18" name="Text 14"/>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800" i="1" dirty="0">
                <a:solidFill>
                  <a:srgbClr val="1A1A1A"/>
                </a:solidFill>
                <a:latin typeface="Cambria" pitchFamily="34" charset="0"/>
                <a:ea typeface="Cambria" pitchFamily="34" charset="-122"/>
                <a:cs typeface="Cambria" pitchFamily="34" charset="-120"/>
              </a:rPr>
              <a:t>No highway, no designation, same change. Outside the zone, everyone moved together.</a:t>
            </a:r>
            <a:endParaRPr lang="en-US" sz="180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Lerone Pieters, Unsplash; monochrome</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CHECK 1–9</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Every monitor, every check — inside and on the boundary</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13 / 36</a:t>
            </a:r>
            <a:endParaRPr lang="en-US" sz="900" dirty="0"/>
          </a:p>
        </p:txBody>
      </p:sp>
      <p:pic>
        <p:nvPicPr>
          <p:cNvPr id="7" name="Image 0" descr="img/s13.png">    </p:cNvPr>
          <p:cNvPicPr>
            <a:picLocks noChangeAspect="1"/>
          </p:cNvPicPr>
          <p:nvPr/>
        </p:nvPicPr>
        <p:blipFill>
          <a:blip r:embed="rId1"/>
          <a:stretch>
            <a:fillRect/>
          </a:stretch>
        </p:blipFill>
        <p:spPr>
          <a:xfrm>
            <a:off x="548640" y="1417320"/>
            <a:ext cx="11091672" cy="4461317"/>
          </a:xfrm>
          <a:prstGeom prst="rect">
            <a:avLst/>
          </a:prstGeom>
        </p:spPr>
      </p:pic>
      <p:sp>
        <p:nvSpPr>
          <p:cNvPr id="8" name="Text 4"/>
          <p:cNvSpPr txBox="1"/>
          <p:nvPr/>
        </p:nvSpPr>
        <p:spPr>
          <a:xfrm>
            <a:off x="548640" y="5988365"/>
            <a:ext cx="1106424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Green = cleaner, brick = dirtier, bold = significant on its own. Verdict uses the five level-change columns; panel and rush-hour columns are shown for reference.</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Joey Zhou, Unsplash</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CHECK 1–9</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Every monitor, every check — outside the zone</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14 / 36</a:t>
            </a:r>
            <a:endParaRPr lang="en-US" sz="900" dirty="0"/>
          </a:p>
        </p:txBody>
      </p:sp>
      <p:pic>
        <p:nvPicPr>
          <p:cNvPr id="7" name="Image 0" descr="img/s14.png">    </p:cNvPr>
          <p:cNvPicPr>
            <a:picLocks noChangeAspect="1"/>
          </p:cNvPicPr>
          <p:nvPr/>
        </p:nvPicPr>
        <p:blipFill>
          <a:blip r:embed="rId1"/>
          <a:stretch>
            <a:fillRect/>
          </a:stretch>
        </p:blipFill>
        <p:spPr>
          <a:xfrm>
            <a:off x="798723" y="1417320"/>
            <a:ext cx="10591506" cy="4572000"/>
          </a:xfrm>
          <a:prstGeom prst="rect">
            <a:avLst/>
          </a:prstGeom>
        </p:spPr>
      </p:pic>
      <p:sp>
        <p:nvSpPr>
          <p:cNvPr id="8" name="Text 4"/>
          <p:cNvSpPr txBox="1"/>
          <p:nvPr/>
        </p:nvSpPr>
        <p:spPr>
          <a:xfrm>
            <a:off x="548640" y="6099048"/>
            <a:ext cx="1106424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The Bronx rows mix green and brick: no direction. Faded rows have under 200 pre-toll days. Volunteer sensors carry only the subtraction columns.</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Clay LeConey, Unsplash; monochrome</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RECONCILING</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2800" b="1" dirty="0">
                <a:solidFill>
                  <a:srgbClr val="1A1A1A"/>
                </a:solidFill>
                <a:latin typeface="Cambria" pitchFamily="34" charset="0"/>
                <a:ea typeface="Cambria" pitchFamily="34" charset="-122"/>
                <a:cs typeface="Cambria" pitchFamily="34" charset="-120"/>
              </a:rPr>
              <a:t>Same data as the community study. Different comparison.</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15 / 36</a:t>
            </a:r>
            <a:endParaRPr lang="en-US" sz="900" dirty="0"/>
          </a:p>
        </p:txBody>
      </p:sp>
      <p:sp>
        <p:nvSpPr>
          <p:cNvPr id="7" name="Text 4"/>
          <p:cNvSpPr txBox="1"/>
          <p:nvPr/>
        </p:nvSpPr>
        <p:spPr>
          <a:xfrm>
            <a:off x="548640" y="1600200"/>
            <a:ext cx="5212080" cy="274320"/>
          </a:xfrm>
          <a:prstGeom prst="rect">
            <a:avLst/>
          </a:prstGeom>
          <a:noFill/>
          <a:ln/>
        </p:spPr>
        <p:txBody>
          <a:bodyPr wrap="square" lIns="0" tIns="0" rIns="0" bIns="0" rtlCol="0" anchor="ctr"/>
          <a:lstStyle/>
          <a:p>
            <a:pPr indent="0" marL="0">
              <a:buNone/>
            </a:pPr>
            <a:r>
              <a:rPr lang="en-US" sz="1050" b="1" spc="200" kern="0" dirty="0">
                <a:solidFill>
                  <a:srgbClr val="B4391B"/>
                </a:solidFill>
                <a:latin typeface="Arial" pitchFamily="34" charset="0"/>
                <a:ea typeface="Arial" pitchFamily="34" charset="-122"/>
                <a:cs typeface="Arial" pitchFamily="34" charset="-120"/>
              </a:rPr>
              <a:t>SOUTH BRONX UNITE</a:t>
            </a:r>
            <a:endParaRPr lang="en-US" sz="1050" dirty="0"/>
          </a:p>
        </p:txBody>
      </p:sp>
      <p:sp>
        <p:nvSpPr>
          <p:cNvPr id="8" name="Text 5"/>
          <p:cNvSpPr txBox="1"/>
          <p:nvPr/>
        </p:nvSpPr>
        <p:spPr>
          <a:xfrm>
            <a:off x="548640" y="1965960"/>
            <a:ext cx="5212080" cy="3200400"/>
          </a:xfrm>
          <a:prstGeom prst="rect">
            <a:avLst/>
          </a:prstGeom>
          <a:noFill/>
          <a:ln/>
        </p:spPr>
        <p:txBody>
          <a:bodyPr wrap="square" lIns="0" tIns="0" rIns="0" bIns="0" rtlCol="0" anchor="t"/>
          <a:lstStyle/>
          <a:p>
            <a:pPr indent="0" marL="0">
              <a:lnSpc>
                <a:spcPct val="115000"/>
              </a:lnSpc>
              <a:spcAft>
                <a:spcPts val="1260"/>
              </a:spcAft>
              <a:buNone/>
            </a:pPr>
            <a:r>
              <a:rPr lang="en-US" sz="1700" dirty="0">
                <a:solidFill>
                  <a:srgbClr val="1A1A1A"/>
                </a:solidFill>
                <a:latin typeface="Arial" pitchFamily="34" charset="0"/>
                <a:ea typeface="Arial" pitchFamily="34" charset="-122"/>
                <a:cs typeface="Arial" pitchFamily="34" charset="-120"/>
              </a:rPr>
              <a:t>12–14 of 19 sensors up</a:t>
            </a:r>
            <a:endParaRPr lang="en-US" sz="1700" dirty="0"/>
          </a:p>
          <a:p>
            <a:pPr indent="0" marL="0">
              <a:lnSpc>
                <a:spcPct val="115000"/>
              </a:lnSpc>
              <a:spcAft>
                <a:spcPts val="1260"/>
              </a:spcAft>
              <a:buNone/>
            </a:pPr>
            <a:r>
              <a:rPr lang="en-US" sz="1700" dirty="0">
                <a:solidFill>
                  <a:srgbClr val="1A1A1A"/>
                </a:solidFill>
                <a:latin typeface="Arial" pitchFamily="34" charset="0"/>
                <a:ea typeface="Arial" pitchFamily="34" charset="-122"/>
                <a:cs typeface="Arial" pitchFamily="34" charset="-120"/>
              </a:rPr>
              <a:t>Average +0.22 µg/m³, up to +1.29 near expressways</a:t>
            </a:r>
            <a:endParaRPr lang="en-US" sz="1700" dirty="0"/>
          </a:p>
          <a:p>
            <a:pPr indent="0" marL="0">
              <a:lnSpc>
                <a:spcPct val="115000"/>
              </a:lnSpc>
              <a:spcAft>
                <a:spcPts val="1260"/>
              </a:spcAft>
              <a:buNone/>
            </a:pPr>
            <a:r>
              <a:rPr lang="en-US" sz="1700" dirty="0">
                <a:solidFill>
                  <a:srgbClr val="1A1A1A"/>
                </a:solidFill>
                <a:latin typeface="Arial" pitchFamily="34" charset="0"/>
                <a:ea typeface="Arial" pitchFamily="34" charset="-122"/>
                <a:cs typeface="Arial" pitchFamily="34" charset="-120"/>
              </a:rPr>
              <a:t>Reports raw year-over-year change</a:t>
            </a:r>
            <a:endParaRPr lang="en-US" sz="1700" dirty="0"/>
          </a:p>
        </p:txBody>
      </p:sp>
      <p:sp>
        <p:nvSpPr>
          <p:cNvPr id="9" name="Text 6"/>
          <p:cNvSpPr txBox="1"/>
          <p:nvPr/>
        </p:nvSpPr>
        <p:spPr>
          <a:xfrm>
            <a:off x="6400800" y="1600200"/>
            <a:ext cx="5212080" cy="274320"/>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THIS STUDY</a:t>
            </a:r>
            <a:endParaRPr lang="en-US" sz="1050" dirty="0"/>
          </a:p>
        </p:txBody>
      </p:sp>
      <p:sp>
        <p:nvSpPr>
          <p:cNvPr id="10" name="Text 7"/>
          <p:cNvSpPr txBox="1"/>
          <p:nvPr/>
        </p:nvSpPr>
        <p:spPr>
          <a:xfrm>
            <a:off x="6400800" y="1965960"/>
            <a:ext cx="5212080" cy="3200400"/>
          </a:xfrm>
          <a:prstGeom prst="rect">
            <a:avLst/>
          </a:prstGeom>
          <a:noFill/>
          <a:ln/>
        </p:spPr>
        <p:txBody>
          <a:bodyPr wrap="square" lIns="0" tIns="0" rIns="0" bIns="0" rtlCol="0" anchor="t"/>
          <a:lstStyle/>
          <a:p>
            <a:pPr indent="0" marL="0">
              <a:lnSpc>
                <a:spcPct val="115000"/>
              </a:lnSpc>
              <a:spcAft>
                <a:spcPts val="1260"/>
              </a:spcAft>
              <a:buNone/>
            </a:pPr>
            <a:r>
              <a:rPr lang="en-US" sz="1700" dirty="0">
                <a:solidFill>
                  <a:srgbClr val="1A1A1A"/>
                </a:solidFill>
                <a:latin typeface="Arial" pitchFamily="34" charset="0"/>
                <a:ea typeface="Arial" pitchFamily="34" charset="-122"/>
                <a:cs typeface="Arial" pitchFamily="34" charset="-120"/>
              </a:rPr>
              <a:t>Raw Bronx changes agree: small and mixed</a:t>
            </a:r>
            <a:endParaRPr lang="en-US" sz="1700" dirty="0"/>
          </a:p>
          <a:p>
            <a:pPr indent="0" marL="0">
              <a:lnSpc>
                <a:spcPct val="115000"/>
              </a:lnSpc>
              <a:spcAft>
                <a:spcPts val="1260"/>
              </a:spcAft>
              <a:buNone/>
            </a:pPr>
            <a:r>
              <a:rPr lang="en-US" sz="1700" dirty="0">
                <a:solidFill>
                  <a:srgbClr val="1A1A1A"/>
                </a:solidFill>
                <a:latin typeface="Arial" pitchFamily="34" charset="0"/>
                <a:ea typeface="Arial" pitchFamily="34" charset="-122"/>
                <a:cs typeface="Arial" pitchFamily="34" charset="-120"/>
              </a:rPr>
              <a:t>Subtract a control monitor, and Bay Ridge shows the same increase</a:t>
            </a:r>
            <a:endParaRPr lang="en-US" sz="1700" dirty="0"/>
          </a:p>
          <a:p>
            <a:pPr indent="0" marL="0">
              <a:lnSpc>
                <a:spcPct val="115000"/>
              </a:lnSpc>
              <a:spcAft>
                <a:spcPts val="1260"/>
              </a:spcAft>
              <a:buNone/>
            </a:pPr>
            <a:r>
              <a:rPr lang="en-US" sz="1700" dirty="0">
                <a:solidFill>
                  <a:srgbClr val="1A1A1A"/>
                </a:solidFill>
                <a:latin typeface="Arial" pitchFamily="34" charset="0"/>
                <a:ea typeface="Arial" pitchFamily="34" charset="-122"/>
                <a:cs typeface="Arial" pitchFamily="34" charset="-120"/>
              </a:rPr>
              <a:t>Asks “more than everywhere else?”, not “up?”</a:t>
            </a:r>
            <a:endParaRPr lang="en-US" sz="1700" dirty="0"/>
          </a:p>
        </p:txBody>
      </p:sp>
      <p:sp>
        <p:nvSpPr>
          <p:cNvPr id="11" name="Shape 8"/>
          <p:cNvSpPr/>
          <p:nvPr/>
        </p:nvSpPr>
        <p:spPr>
          <a:xfrm>
            <a:off x="548640" y="4526280"/>
            <a:ext cx="11064240" cy="0"/>
          </a:xfrm>
          <a:prstGeom prst="line">
            <a:avLst/>
          </a:prstGeom>
          <a:noFill/>
          <a:ln w="9525">
            <a:solidFill>
              <a:srgbClr val="DDDDDD"/>
            </a:solidFill>
            <a:prstDash val="solid"/>
          </a:ln>
        </p:spPr>
      </p:sp>
      <p:sp>
        <p:nvSpPr>
          <p:cNvPr id="12" name="Text 9"/>
          <p:cNvSpPr txBox="1"/>
          <p:nvPr/>
        </p:nvSpPr>
        <p:spPr>
          <a:xfrm>
            <a:off x="548640" y="4754880"/>
            <a:ext cx="11064240" cy="1097280"/>
          </a:xfrm>
          <a:prstGeom prst="rect">
            <a:avLst/>
          </a:prstGeom>
          <a:noFill/>
          <a:ln/>
        </p:spPr>
        <p:txBody>
          <a:bodyPr wrap="square" lIns="0" tIns="0" rIns="0" bIns="0" rtlCol="0" anchor="t"/>
          <a:lstStyle/>
          <a:p>
            <a:pPr indent="0" marL="0">
              <a:lnSpc>
                <a:spcPct val="120000"/>
              </a:lnSpc>
              <a:buNone/>
            </a:pPr>
            <a:r>
              <a:rPr lang="en-US" sz="1900" i="1" dirty="0">
                <a:solidFill>
                  <a:srgbClr val="1A1A1A"/>
                </a:solidFill>
                <a:latin typeface="Cambria" pitchFamily="34" charset="0"/>
                <a:ea typeface="Cambria" pitchFamily="34" charset="-122"/>
                <a:cs typeface="Cambria" pitchFamily="34" charset="-120"/>
              </a:rPr>
              <a:t>Their expressway sensors and our Cross Bronx rush-hour hint point the same way. We don’t disagree about what was measured — only about what to compare it to.</a:t>
            </a:r>
            <a:endParaRPr lang="en-US" sz="190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New York Public Library, public domain</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PART I · SECTION 6</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Where the cars went</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16 / 36</a:t>
            </a:r>
            <a:endParaRPr lang="en-US" sz="900" dirty="0"/>
          </a:p>
        </p:txBody>
      </p:sp>
      <p:sp>
        <p:nvSpPr>
          <p:cNvPr id="7" name="Text 4"/>
          <p:cNvSpPr txBox="1"/>
          <p:nvPr/>
        </p:nvSpPr>
        <p:spPr>
          <a:xfrm>
            <a:off x="548640" y="1463040"/>
            <a:ext cx="4023360" cy="508000"/>
          </a:xfrm>
          <a:prstGeom prst="rect">
            <a:avLst/>
          </a:prstGeom>
          <a:noFill/>
          <a:ln/>
        </p:spPr>
        <p:txBody>
          <a:bodyPr wrap="square" lIns="0" tIns="0" rIns="0" bIns="0" rtlCol="0" anchor="t"/>
          <a:lstStyle/>
          <a:p>
            <a:pPr indent="0" marL="0">
              <a:buNone/>
            </a:pPr>
            <a:r>
              <a:rPr lang="en-US" sz="3200" b="1" dirty="0">
                <a:solidFill>
                  <a:srgbClr val="2F6B3A"/>
                </a:solidFill>
                <a:latin typeface="Arial" pitchFamily="34" charset="0"/>
                <a:ea typeface="Arial" pitchFamily="34" charset="-122"/>
                <a:cs typeface="Arial" pitchFamily="34" charset="-120"/>
              </a:rPr>
              <a:t>−14% · −7%</a:t>
            </a:r>
            <a:endParaRPr lang="en-US" sz="3200" dirty="0"/>
          </a:p>
        </p:txBody>
      </p:sp>
      <p:sp>
        <p:nvSpPr>
          <p:cNvPr id="8" name="Text 5"/>
          <p:cNvSpPr txBox="1"/>
          <p:nvPr/>
        </p:nvSpPr>
        <p:spPr>
          <a:xfrm>
            <a:off x="548640" y="1950720"/>
            <a:ext cx="4023360" cy="4572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Tunnels into the zone, vs forecast</a:t>
            </a:r>
            <a:endParaRPr lang="en-US" sz="1200" dirty="0"/>
          </a:p>
        </p:txBody>
      </p:sp>
      <p:sp>
        <p:nvSpPr>
          <p:cNvPr id="9" name="Text 6"/>
          <p:cNvSpPr txBox="1"/>
          <p:nvPr/>
        </p:nvSpPr>
        <p:spPr>
          <a:xfrm>
            <a:off x="548640" y="2697480"/>
            <a:ext cx="4023360" cy="508000"/>
          </a:xfrm>
          <a:prstGeom prst="rect">
            <a:avLst/>
          </a:prstGeom>
          <a:noFill/>
          <a:ln/>
        </p:spPr>
        <p:txBody>
          <a:bodyPr wrap="square" lIns="0" tIns="0" rIns="0" bIns="0" rtlCol="0" anchor="t"/>
          <a:lstStyle/>
          <a:p>
            <a:pPr indent="0" marL="0">
              <a:buNone/>
            </a:pPr>
            <a:r>
              <a:rPr lang="en-US" sz="3200" b="1" dirty="0">
                <a:solidFill>
                  <a:srgbClr val="6B6B6B"/>
                </a:solidFill>
                <a:latin typeface="Arial" pitchFamily="34" charset="0"/>
                <a:ea typeface="Arial" pitchFamily="34" charset="-122"/>
                <a:cs typeface="Arial" pitchFamily="34" charset="-120"/>
              </a:rPr>
              <a:t>±2%</a:t>
            </a:r>
            <a:endParaRPr lang="en-US" sz="3200" dirty="0"/>
          </a:p>
        </p:txBody>
      </p:sp>
      <p:sp>
        <p:nvSpPr>
          <p:cNvPr id="10" name="Text 7"/>
          <p:cNvSpPr txBox="1"/>
          <p:nvPr/>
        </p:nvSpPr>
        <p:spPr>
          <a:xfrm>
            <a:off x="548640" y="3185160"/>
            <a:ext cx="4023360" cy="4572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Bronx bridges, vs forecast</a:t>
            </a:r>
            <a:endParaRPr lang="en-US" sz="1200" dirty="0"/>
          </a:p>
        </p:txBody>
      </p:sp>
      <p:sp>
        <p:nvSpPr>
          <p:cNvPr id="11" name="Text 8"/>
          <p:cNvSpPr txBox="1"/>
          <p:nvPr/>
        </p:nvSpPr>
        <p:spPr>
          <a:xfrm>
            <a:off x="548640" y="3931920"/>
            <a:ext cx="4023360" cy="508000"/>
          </a:xfrm>
          <a:prstGeom prst="rect">
            <a:avLst/>
          </a:prstGeom>
          <a:noFill/>
          <a:ln/>
        </p:spPr>
        <p:txBody>
          <a:bodyPr wrap="square" lIns="0" tIns="0" rIns="0" bIns="0" rtlCol="0" anchor="t"/>
          <a:lstStyle/>
          <a:p>
            <a:pPr indent="0" marL="0">
              <a:buNone/>
            </a:pPr>
            <a:r>
              <a:rPr lang="en-US" sz="3200" b="1" dirty="0">
                <a:solidFill>
                  <a:srgbClr val="4B2E83"/>
                </a:solidFill>
                <a:latin typeface="Arial" pitchFamily="34" charset="0"/>
                <a:ea typeface="Arial" pitchFamily="34" charset="-122"/>
                <a:cs typeface="Arial" pitchFamily="34" charset="-120"/>
              </a:rPr>
              <a:t>~73,000</a:t>
            </a:r>
            <a:endParaRPr lang="en-US" sz="3200" dirty="0"/>
          </a:p>
        </p:txBody>
      </p:sp>
      <p:sp>
        <p:nvSpPr>
          <p:cNvPr id="12" name="Text 9"/>
          <p:cNvSpPr txBox="1"/>
          <p:nvPr/>
        </p:nvSpPr>
        <p:spPr>
          <a:xfrm>
            <a:off x="548640" y="4419600"/>
            <a:ext cx="4023360" cy="4572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fewer entries a day. Not rerouted. Mostly gone.</a:t>
            </a:r>
            <a:endParaRPr lang="en-US" sz="1200" dirty="0"/>
          </a:p>
        </p:txBody>
      </p:sp>
      <p:pic>
        <p:nvPicPr>
          <p:cNvPr id="13" name="Image 0" descr="img/s16.png">    </p:cNvPr>
          <p:cNvPicPr>
            <a:picLocks noChangeAspect="1"/>
          </p:cNvPicPr>
          <p:nvPr/>
        </p:nvPicPr>
        <p:blipFill>
          <a:blip r:embed="rId1"/>
          <a:stretch>
            <a:fillRect/>
          </a:stretch>
        </p:blipFill>
        <p:spPr>
          <a:xfrm>
            <a:off x="4846320" y="1463040"/>
            <a:ext cx="6793992" cy="2713822"/>
          </a:xfrm>
          <a:prstGeom prst="rect">
            <a:avLst/>
          </a:prstGeom>
        </p:spPr>
      </p:pic>
      <p:sp>
        <p:nvSpPr>
          <p:cNvPr id="14" name="Text 10"/>
          <p:cNvSpPr txBox="1"/>
          <p:nvPr/>
        </p:nvSpPr>
        <p:spPr>
          <a:xfrm>
            <a:off x="4846320" y="4286590"/>
            <a:ext cx="676656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Residual = actual 2025 traffic minus what the pre-toll trend predicted. Grey = within ±3%.</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Clay LeConey, Unsplash; monochrome</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PART I · SECTION 8</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Who breathes this air</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17 / 36</a:t>
            </a:r>
            <a:endParaRPr lang="en-US" sz="900" dirty="0"/>
          </a:p>
        </p:txBody>
      </p:sp>
      <p:sp>
        <p:nvSpPr>
          <p:cNvPr id="7" name="Text 4"/>
          <p:cNvSpPr txBox="1"/>
          <p:nvPr/>
        </p:nvSpPr>
        <p:spPr>
          <a:xfrm>
            <a:off x="548640" y="1371600"/>
            <a:ext cx="3566160" cy="825500"/>
          </a:xfrm>
          <a:prstGeom prst="rect">
            <a:avLst/>
          </a:prstGeom>
          <a:noFill/>
          <a:ln/>
        </p:spPr>
        <p:txBody>
          <a:bodyPr wrap="square" lIns="0" tIns="0" rIns="0" bIns="0" rtlCol="0" anchor="t"/>
          <a:lstStyle/>
          <a:p>
            <a:pPr indent="0" marL="0">
              <a:buNone/>
            </a:pPr>
            <a:r>
              <a:rPr lang="en-US" sz="5200" b="1" dirty="0">
                <a:solidFill>
                  <a:srgbClr val="1A1A1A"/>
                </a:solidFill>
                <a:latin typeface="Arial" pitchFamily="34" charset="0"/>
                <a:ea typeface="Arial" pitchFamily="34" charset="-122"/>
                <a:cs typeface="Arial" pitchFamily="34" charset="-120"/>
              </a:rPr>
              <a:t>44 m</a:t>
            </a:r>
            <a:endParaRPr lang="en-US" sz="5200" dirty="0"/>
          </a:p>
        </p:txBody>
      </p:sp>
      <p:sp>
        <p:nvSpPr>
          <p:cNvPr id="8" name="Text 5"/>
          <p:cNvSpPr txBox="1"/>
          <p:nvPr/>
        </p:nvSpPr>
        <p:spPr>
          <a:xfrm>
            <a:off x="548640" y="2164080"/>
            <a:ext cx="3566160" cy="45720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to the Major Deegan Expressway</a:t>
            </a:r>
            <a:endParaRPr lang="en-US" sz="1300" dirty="0"/>
          </a:p>
        </p:txBody>
      </p:sp>
      <p:sp>
        <p:nvSpPr>
          <p:cNvPr id="9" name="Text 6"/>
          <p:cNvSpPr txBox="1"/>
          <p:nvPr/>
        </p:nvSpPr>
        <p:spPr>
          <a:xfrm>
            <a:off x="4251960" y="1371600"/>
            <a:ext cx="3566160" cy="825500"/>
          </a:xfrm>
          <a:prstGeom prst="rect">
            <a:avLst/>
          </a:prstGeom>
          <a:noFill/>
          <a:ln/>
        </p:spPr>
        <p:txBody>
          <a:bodyPr wrap="square" lIns="0" tIns="0" rIns="0" bIns="0" rtlCol="0" anchor="t"/>
          <a:lstStyle/>
          <a:p>
            <a:pPr indent="0" marL="0">
              <a:buNone/>
            </a:pPr>
            <a:r>
              <a:rPr lang="en-US" sz="5200" b="1" dirty="0">
                <a:solidFill>
                  <a:srgbClr val="1A1A1A"/>
                </a:solidFill>
                <a:latin typeface="Arial" pitchFamily="34" charset="0"/>
                <a:ea typeface="Arial" pitchFamily="34" charset="-122"/>
                <a:cs typeface="Arial" pitchFamily="34" charset="-120"/>
              </a:rPr>
              <a:t>6 km</a:t>
            </a:r>
            <a:endParaRPr lang="en-US" sz="5200" dirty="0"/>
          </a:p>
        </p:txBody>
      </p:sp>
      <p:sp>
        <p:nvSpPr>
          <p:cNvPr id="10" name="Text 7"/>
          <p:cNvSpPr txBox="1"/>
          <p:nvPr/>
        </p:nvSpPr>
        <p:spPr>
          <a:xfrm>
            <a:off x="4251960" y="2164080"/>
            <a:ext cx="3566160" cy="45720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to the toll zone</a:t>
            </a:r>
            <a:endParaRPr lang="en-US" sz="1300" dirty="0"/>
          </a:p>
        </p:txBody>
      </p:sp>
      <p:sp>
        <p:nvSpPr>
          <p:cNvPr id="11" name="Text 8"/>
          <p:cNvSpPr txBox="1"/>
          <p:nvPr/>
        </p:nvSpPr>
        <p:spPr>
          <a:xfrm>
            <a:off x="7955280" y="1371600"/>
            <a:ext cx="3566160" cy="825500"/>
          </a:xfrm>
          <a:prstGeom prst="rect">
            <a:avLst/>
          </a:prstGeom>
          <a:noFill/>
          <a:ln/>
        </p:spPr>
        <p:txBody>
          <a:bodyPr wrap="square" lIns="0" tIns="0" rIns="0" bIns="0" rtlCol="0" anchor="t"/>
          <a:lstStyle/>
          <a:p>
            <a:pPr indent="0" marL="0">
              <a:buNone/>
            </a:pPr>
            <a:r>
              <a:rPr lang="en-US" sz="5200" b="1" dirty="0">
                <a:solidFill>
                  <a:srgbClr val="1A1A1A"/>
                </a:solidFill>
                <a:latin typeface="Arial" pitchFamily="34" charset="0"/>
                <a:ea typeface="Arial" pitchFamily="34" charset="-122"/>
                <a:cs typeface="Arial" pitchFamily="34" charset="-120"/>
              </a:rPr>
              <a:t>9</a:t>
            </a:r>
            <a:endParaRPr lang="en-US" sz="5200" dirty="0"/>
          </a:p>
        </p:txBody>
      </p:sp>
      <p:sp>
        <p:nvSpPr>
          <p:cNvPr id="12" name="Text 9"/>
          <p:cNvSpPr txBox="1"/>
          <p:nvPr/>
        </p:nvSpPr>
        <p:spPr>
          <a:xfrm>
            <a:off x="7955280" y="2164080"/>
            <a:ext cx="3566160" cy="45720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school entries within 400 m</a:t>
            </a:r>
            <a:endParaRPr lang="en-US" sz="1300" dirty="0"/>
          </a:p>
        </p:txBody>
      </p:sp>
      <p:pic>
        <p:nvPicPr>
          <p:cNvPr id="13" name="Image 0" descr="img/s17.png">    </p:cNvPr>
          <p:cNvPicPr>
            <a:picLocks noChangeAspect="1"/>
          </p:cNvPicPr>
          <p:nvPr/>
        </p:nvPicPr>
        <p:blipFill>
          <a:blip r:embed="rId1"/>
          <a:stretch>
            <a:fillRect/>
          </a:stretch>
        </p:blipFill>
        <p:spPr>
          <a:xfrm>
            <a:off x="548640" y="3108960"/>
            <a:ext cx="11091672" cy="2686649"/>
          </a:xfrm>
          <a:prstGeom prst="rect">
            <a:avLst/>
          </a:prstGeom>
        </p:spPr>
      </p:pic>
      <p:sp>
        <p:nvSpPr>
          <p:cNvPr id="14" name="Text 10"/>
          <p:cNvSpPr txBox="1"/>
          <p:nvPr/>
        </p:nvSpPr>
        <p:spPr>
          <a:xfrm>
            <a:off x="548640" y="5905337"/>
            <a:ext cx="1106424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The monitor reads about 7.5 µg/m³ before the toll and after. A Manhattan toll has no lever here; the expressway next door does.</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Famartin, Wikimedia Commons, CC BY-SA 4.0; monochrome</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URBAN POLICY</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The policy point</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18 / 36</a:t>
            </a:r>
            <a:endParaRPr lang="en-US" sz="900" dirty="0"/>
          </a:p>
        </p:txBody>
      </p:sp>
      <p:sp>
        <p:nvSpPr>
          <p:cNvPr id="7" name="Text 4"/>
          <p:cNvSpPr txBox="1"/>
          <p:nvPr/>
        </p:nvSpPr>
        <p:spPr>
          <a:xfrm>
            <a:off x="548640" y="1463040"/>
            <a:ext cx="548640" cy="548640"/>
          </a:xfrm>
          <a:prstGeom prst="rect">
            <a:avLst/>
          </a:prstGeom>
          <a:noFill/>
          <a:ln/>
        </p:spPr>
        <p:txBody>
          <a:bodyPr wrap="square" lIns="0" tIns="0" rIns="0" bIns="0" rtlCol="0" anchor="ctr"/>
          <a:lstStyle/>
          <a:p>
            <a:pPr indent="0" marL="0">
              <a:buNone/>
            </a:pPr>
            <a:r>
              <a:rPr lang="en-US" sz="3000" b="1" dirty="0">
                <a:solidFill>
                  <a:srgbClr val="4B2E83"/>
                </a:solidFill>
                <a:latin typeface="Cambria" pitchFamily="34" charset="0"/>
                <a:ea typeface="Cambria" pitchFamily="34" charset="-122"/>
                <a:cs typeface="Cambria" pitchFamily="34" charset="-120"/>
              </a:rPr>
              <a:t>1</a:t>
            </a:r>
            <a:endParaRPr lang="en-US" sz="3000" dirty="0"/>
          </a:p>
        </p:txBody>
      </p:sp>
      <p:sp>
        <p:nvSpPr>
          <p:cNvPr id="8" name="Text 5"/>
          <p:cNvSpPr txBox="1"/>
          <p:nvPr/>
        </p:nvSpPr>
        <p:spPr>
          <a:xfrm>
            <a:off x="1188720" y="1463040"/>
            <a:ext cx="10424160" cy="411480"/>
          </a:xfrm>
          <a:prstGeom prst="rect">
            <a:avLst/>
          </a:prstGeom>
          <a:noFill/>
          <a:ln/>
        </p:spPr>
        <p:txBody>
          <a:bodyPr wrap="square" lIns="0" tIns="0" rIns="0" bIns="0" rtlCol="0" anchor="ctr"/>
          <a:lstStyle/>
          <a:p>
            <a:pPr indent="0" marL="0">
              <a:buNone/>
            </a:pPr>
            <a:r>
              <a:rPr lang="en-US" sz="2200" b="1" dirty="0">
                <a:solidFill>
                  <a:srgbClr val="1A1A1A"/>
                </a:solidFill>
                <a:latin typeface="Cambria" pitchFamily="34" charset="0"/>
                <a:ea typeface="Cambria" pitchFamily="34" charset="-122"/>
                <a:cs typeface="Cambria" pitchFamily="34" charset="-120"/>
              </a:rPr>
              <a:t>The toll worked where it charges</a:t>
            </a:r>
            <a:endParaRPr lang="en-US" sz="2200" dirty="0"/>
          </a:p>
        </p:txBody>
      </p:sp>
      <p:sp>
        <p:nvSpPr>
          <p:cNvPr id="9" name="Text 6"/>
          <p:cNvSpPr txBox="1"/>
          <p:nvPr/>
        </p:nvSpPr>
        <p:spPr>
          <a:xfrm>
            <a:off x="1188720" y="1874520"/>
            <a:ext cx="10424160" cy="41148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including the designated neighborhoods inside the line.</a:t>
            </a:r>
            <a:endParaRPr lang="en-US" sz="1400" dirty="0"/>
          </a:p>
        </p:txBody>
      </p:sp>
      <p:sp>
        <p:nvSpPr>
          <p:cNvPr id="10" name="Text 7"/>
          <p:cNvSpPr txBox="1"/>
          <p:nvPr/>
        </p:nvSpPr>
        <p:spPr>
          <a:xfrm>
            <a:off x="548640" y="2468880"/>
            <a:ext cx="548640" cy="548640"/>
          </a:xfrm>
          <a:prstGeom prst="rect">
            <a:avLst/>
          </a:prstGeom>
          <a:noFill/>
          <a:ln/>
        </p:spPr>
        <p:txBody>
          <a:bodyPr wrap="square" lIns="0" tIns="0" rIns="0" bIns="0" rtlCol="0" anchor="ctr"/>
          <a:lstStyle/>
          <a:p>
            <a:pPr indent="0" marL="0">
              <a:buNone/>
            </a:pPr>
            <a:r>
              <a:rPr lang="en-US" sz="3000" b="1" dirty="0">
                <a:solidFill>
                  <a:srgbClr val="4B2E83"/>
                </a:solidFill>
                <a:latin typeface="Cambria" pitchFamily="34" charset="0"/>
                <a:ea typeface="Cambria" pitchFamily="34" charset="-122"/>
                <a:cs typeface="Cambria" pitchFamily="34" charset="-120"/>
              </a:rPr>
              <a:t>2</a:t>
            </a:r>
            <a:endParaRPr lang="en-US" sz="3000" dirty="0"/>
          </a:p>
        </p:txBody>
      </p:sp>
      <p:sp>
        <p:nvSpPr>
          <p:cNvPr id="11" name="Text 8"/>
          <p:cNvSpPr txBox="1"/>
          <p:nvPr/>
        </p:nvSpPr>
        <p:spPr>
          <a:xfrm>
            <a:off x="1188720" y="2468880"/>
            <a:ext cx="10424160" cy="411480"/>
          </a:xfrm>
          <a:prstGeom prst="rect">
            <a:avLst/>
          </a:prstGeom>
          <a:noFill/>
          <a:ln/>
        </p:spPr>
        <p:txBody>
          <a:bodyPr wrap="square" lIns="0" tIns="0" rIns="0" bIns="0" rtlCol="0" anchor="ctr"/>
          <a:lstStyle/>
          <a:p>
            <a:pPr indent="0" marL="0">
              <a:buNone/>
            </a:pPr>
            <a:r>
              <a:rPr lang="en-US" sz="2200" b="1" dirty="0">
                <a:solidFill>
                  <a:srgbClr val="1A1A1A"/>
                </a:solidFill>
                <a:latin typeface="Cambria" pitchFamily="34" charset="0"/>
                <a:ea typeface="Cambria" pitchFamily="34" charset="-122"/>
                <a:cs typeface="Cambria" pitchFamily="34" charset="-120"/>
              </a:rPr>
              <a:t>It didn’t do the harm its critics feared</a:t>
            </a:r>
            <a:endParaRPr lang="en-US" sz="2200" dirty="0"/>
          </a:p>
        </p:txBody>
      </p:sp>
      <p:sp>
        <p:nvSpPr>
          <p:cNvPr id="12" name="Text 9"/>
          <p:cNvSpPr txBox="1"/>
          <p:nvPr/>
        </p:nvSpPr>
        <p:spPr>
          <a:xfrm>
            <a:off x="1188720" y="2880360"/>
            <a:ext cx="10424160" cy="41148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nine tests and a second sensor network found no diversion effect.</a:t>
            </a:r>
            <a:endParaRPr lang="en-US" sz="1400" dirty="0"/>
          </a:p>
        </p:txBody>
      </p:sp>
      <p:sp>
        <p:nvSpPr>
          <p:cNvPr id="13" name="Text 10"/>
          <p:cNvSpPr txBox="1"/>
          <p:nvPr/>
        </p:nvSpPr>
        <p:spPr>
          <a:xfrm>
            <a:off x="548640" y="3474720"/>
            <a:ext cx="548640" cy="548640"/>
          </a:xfrm>
          <a:prstGeom prst="rect">
            <a:avLst/>
          </a:prstGeom>
          <a:noFill/>
          <a:ln/>
        </p:spPr>
        <p:txBody>
          <a:bodyPr wrap="square" lIns="0" tIns="0" rIns="0" bIns="0" rtlCol="0" anchor="ctr"/>
          <a:lstStyle/>
          <a:p>
            <a:pPr indent="0" marL="0">
              <a:buNone/>
            </a:pPr>
            <a:r>
              <a:rPr lang="en-US" sz="3000" b="1" dirty="0">
                <a:solidFill>
                  <a:srgbClr val="4B2E83"/>
                </a:solidFill>
                <a:latin typeface="Cambria" pitchFamily="34" charset="0"/>
                <a:ea typeface="Cambria" pitchFamily="34" charset="-122"/>
                <a:cs typeface="Cambria" pitchFamily="34" charset="-120"/>
              </a:rPr>
              <a:t>3</a:t>
            </a:r>
            <a:endParaRPr lang="en-US" sz="3000" dirty="0"/>
          </a:p>
        </p:txBody>
      </p:sp>
      <p:sp>
        <p:nvSpPr>
          <p:cNvPr id="14" name="Text 11"/>
          <p:cNvSpPr txBox="1"/>
          <p:nvPr/>
        </p:nvSpPr>
        <p:spPr>
          <a:xfrm>
            <a:off x="1188720" y="3474720"/>
            <a:ext cx="10424160" cy="411480"/>
          </a:xfrm>
          <a:prstGeom prst="rect">
            <a:avLst/>
          </a:prstGeom>
          <a:noFill/>
          <a:ln/>
        </p:spPr>
        <p:txBody>
          <a:bodyPr wrap="square" lIns="0" tIns="0" rIns="0" bIns="0" rtlCol="0" anchor="ctr"/>
          <a:lstStyle/>
          <a:p>
            <a:pPr indent="0" marL="0">
              <a:buNone/>
            </a:pPr>
            <a:r>
              <a:rPr lang="en-US" sz="2200" b="1" dirty="0">
                <a:solidFill>
                  <a:srgbClr val="1A1A1A"/>
                </a:solidFill>
                <a:latin typeface="Cambria" pitchFamily="34" charset="0"/>
                <a:ea typeface="Cambria" pitchFamily="34" charset="-122"/>
                <a:cs typeface="Cambria" pitchFamily="34" charset="-120"/>
              </a:rPr>
              <a:t>It was never going to reach the Bronx</a:t>
            </a:r>
            <a:endParaRPr lang="en-US" sz="2200" dirty="0"/>
          </a:p>
        </p:txBody>
      </p:sp>
      <p:sp>
        <p:nvSpPr>
          <p:cNvPr id="15" name="Text 12"/>
          <p:cNvSpPr txBox="1"/>
          <p:nvPr/>
        </p:nvSpPr>
        <p:spPr>
          <a:xfrm>
            <a:off x="1188720" y="3886200"/>
            <a:ext cx="10424160" cy="41148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the worst air and highest asthma rates in the city, before the toll and after.</a:t>
            </a:r>
            <a:endParaRPr lang="en-US" sz="1400" dirty="0"/>
          </a:p>
        </p:txBody>
      </p:sp>
      <p:sp>
        <p:nvSpPr>
          <p:cNvPr id="16" name="Shape 13"/>
          <p:cNvSpPr/>
          <p:nvPr/>
        </p:nvSpPr>
        <p:spPr>
          <a:xfrm>
            <a:off x="548640" y="4572000"/>
            <a:ext cx="11091672" cy="1600200"/>
          </a:xfrm>
          <a:prstGeom prst="rect">
            <a:avLst/>
          </a:prstGeom>
          <a:solidFill>
            <a:srgbClr val="F4F4F4"/>
          </a:solidFill>
          <a:ln w="12700">
            <a:solidFill>
              <a:srgbClr val="F4F4F4"/>
            </a:solidFill>
            <a:prstDash val="solid"/>
          </a:ln>
        </p:spPr>
      </p:sp>
      <p:sp>
        <p:nvSpPr>
          <p:cNvPr id="17" name="Text 14"/>
          <p:cNvSpPr txBox="1"/>
          <p:nvPr/>
        </p:nvSpPr>
        <p:spPr>
          <a:xfrm>
            <a:off x="822960" y="4681728"/>
            <a:ext cx="10515600" cy="1188720"/>
          </a:xfrm>
          <a:prstGeom prst="rect">
            <a:avLst/>
          </a:prstGeom>
          <a:noFill/>
          <a:ln/>
        </p:spPr>
        <p:txBody>
          <a:bodyPr wrap="square" lIns="0" tIns="0" rIns="0" bIns="0" rtlCol="0" anchor="t"/>
          <a:lstStyle/>
          <a:p>
            <a:pPr indent="0" marL="0">
              <a:lnSpc>
                <a:spcPct val="120000"/>
              </a:lnSpc>
              <a:buNone/>
            </a:pPr>
            <a:r>
              <a:rPr lang="en-US" sz="1350" dirty="0">
                <a:solidFill>
                  <a:srgbClr val="1A1A1A"/>
                </a:solidFill>
                <a:latin typeface="Arial" pitchFamily="34" charset="0"/>
                <a:ea typeface="Arial" pitchFamily="34" charset="-122"/>
                <a:cs typeface="Arial" pitchFamily="34" charset="-120"/>
              </a:rPr>
              <a:t>The money is already on the table. The toll’s mitigation package names about $125 million in measures, including $10 million for roadside vegetation and $10 million for air filtration in schools near highways. Hunts Point–Mott Haven is one of its thirteen target communities. The MTA now says the diversion it was meant to offset has not materialized. That turns compensation for a harm into an open budget for a burden that was already there.</a:t>
            </a:r>
            <a:endParaRPr lang="en-US" sz="1350" dirty="0"/>
          </a:p>
        </p:txBody>
      </p:sp>
      <p:sp>
        <p:nvSpPr>
          <p:cNvPr id="18" name="Text 15"/>
          <p:cNvSpPr txBox="1"/>
          <p:nvPr/>
        </p:nvSpPr>
        <p:spPr>
          <a:xfrm>
            <a:off x="822960" y="5897880"/>
            <a:ext cx="10515600" cy="228600"/>
          </a:xfrm>
          <a:prstGeom prst="rect">
            <a:avLst/>
          </a:prstGeom>
          <a:noFill/>
          <a:ln/>
        </p:spPr>
        <p:txBody>
          <a:bodyPr wrap="square" lIns="0" tIns="0" rIns="0" bIns="0" rtlCol="0" anchor="ctr"/>
          <a:lstStyle/>
          <a:p>
            <a:pPr indent="0" marL="0">
              <a:buNone/>
            </a:pPr>
            <a:r>
              <a:rPr lang="en-US" sz="950" i="1" dirty="0">
                <a:solidFill>
                  <a:srgbClr val="6B6B6B"/>
                </a:solidFill>
                <a:latin typeface="Arial" pitchFamily="34" charset="0"/>
                <a:ea typeface="Arial" pitchFamily="34" charset="-122"/>
                <a:cs typeface="Arial" pitchFamily="34" charset="-120"/>
              </a:rPr>
              <a:t>Sources: NY Governor’s Office, Nov 2024 release; MTA Congestion Pricing mitigation page.</a:t>
            </a:r>
            <a:endParaRPr lang="en-US" sz="9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New York Public Library, public domain</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F1"/>
        </a:solidFill>
        <a:effectLst/>
      </p:bgPr>
    </p:bg>
    <p:spTree>
      <p:nvGrpSpPr>
        <p:cNvPr id="1" name=""/>
        <p:cNvGrpSpPr/>
        <p:nvPr/>
      </p:nvGrpSpPr>
      <p:grpSpPr>
        <a:xfrm>
          <a:off x="0" y="0"/>
          <a:ext cx="0" cy="0"/>
          <a:chOff x="0" y="0"/>
          <a:chExt cx="0" cy="0"/>
        </a:xfrm>
      </p:grpSpPr>
      <p:pic>
        <p:nvPicPr>
          <p:cNvPr id="901" name="Photo panel" descr="Triborough Bridge, 1930s"/>
          <p:cNvPicPr>
            <a:picLocks noChangeAspect="1"/>
          </p:cNvPicPr>
          <p:nvPr/>
        </p:nvPicPr>
        <p:blipFill>
          <a:blip r:embed="rIdPh"/>
          <a:stretch>
            <a:fillRect/>
          </a:stretch>
        </p:blipFill>
        <p:spPr>
          <a:xfrm>
            <a:off x="8077170" y="0"/>
            <a:ext cx="4114800" cy="6858000"/>
          </a:xfrm>
          <a:prstGeom prst="rect">
            <a:avLst/>
          </a:prstGeom>
        </p:spPr>
      </p:pic>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TRANSITION TO PART II</a:t>
            </a:r>
            <a:endParaRPr lang="en-US" sz="1050" dirty="0"/>
          </a:p>
        </p:txBody>
      </p:sp>
      <p:sp>
        <p:nvSpPr>
          <p:cNvPr id="3" name="Text 1"/>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4" name="Text 2"/>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333333"/>
                </a:solidFill>
                <a:latin typeface="Arial" pitchFamily="34" charset="0"/>
                <a:ea typeface="Arial" pitchFamily="34" charset="-122"/>
                <a:cs typeface="Arial" pitchFamily="34" charset="-120"/>
              </a:rPr>
              <a:t>19 / 36</a:t>
            </a:r>
            <a:endParaRPr lang="en-US" sz="900" dirty="0"/>
          </a:p>
        </p:txBody>
      </p:sp>
      <p:sp>
        <p:nvSpPr>
          <p:cNvPr id="6" name="Text 3"/>
          <p:cNvSpPr txBox="1"/>
          <p:nvPr/>
        </p:nvSpPr>
        <p:spPr>
          <a:xfrm>
            <a:off x="822960" y="1463040"/>
            <a:ext cx="6675120" cy="2743200"/>
          </a:xfrm>
          <a:prstGeom prst="rect">
            <a:avLst/>
          </a:prstGeom>
          <a:noFill/>
          <a:ln/>
        </p:spPr>
        <p:txBody>
          <a:bodyPr wrap="square" lIns="0" tIns="0" rIns="0" bIns="0" rtlCol="0" anchor="ctr"/>
          <a:lstStyle/>
          <a:p>
            <a:pPr algn="ctr" indent="0" marL="0">
              <a:lnSpc>
                <a:spcPct val="120000"/>
              </a:lnSpc>
              <a:buNone/>
            </a:pPr>
            <a:r>
              <a:rPr lang="en-US" sz="2800" i="1" dirty="0">
                <a:solidFill>
                  <a:srgbClr val="4B2E83"/>
                </a:solidFill>
                <a:latin typeface="Cambria" pitchFamily="34" charset="0"/>
                <a:ea typeface="Cambria" pitchFamily="34" charset="-122"/>
                <a:cs typeface="Cambria" pitchFamily="34" charset="-120"/>
              </a:rPr>
              <a:t>[Du Bois quote — paste from the datathon brief, with the attribution: W.E.B. Du Bois, “AD 2150”]</a:t>
            </a:r>
            <a:endParaRPr lang="en-US" sz="2800" dirty="0"/>
          </a:p>
        </p:txBody>
      </p:sp>
      <p:sp>
        <p:nvSpPr>
          <p:cNvPr id="7" name="Shape 4"/>
          <p:cNvSpPr/>
          <p:nvPr/>
        </p:nvSpPr>
        <p:spPr>
          <a:xfrm>
            <a:off x="2194560" y="4480560"/>
            <a:ext cx="3931920" cy="0"/>
          </a:xfrm>
          <a:prstGeom prst="line">
            <a:avLst/>
          </a:prstGeom>
          <a:noFill/>
          <a:ln w="9525">
            <a:solidFill>
              <a:srgbClr val="DDDDDD"/>
            </a:solidFill>
            <a:prstDash val="solid"/>
          </a:ln>
        </p:spPr>
      </p:sp>
      <p:sp>
        <p:nvSpPr>
          <p:cNvPr id="8" name="Text 5"/>
          <p:cNvSpPr txBox="1"/>
          <p:nvPr/>
        </p:nvSpPr>
        <p:spPr>
          <a:xfrm>
            <a:off x="822960" y="4709160"/>
            <a:ext cx="6675120" cy="731520"/>
          </a:xfrm>
          <a:prstGeom prst="rect">
            <a:avLst/>
          </a:prstGeom>
          <a:noFill/>
          <a:ln/>
        </p:spPr>
        <p:txBody>
          <a:bodyPr wrap="square" lIns="0" tIns="0" rIns="0" bIns="0" rtlCol="0" anchor="t"/>
          <a:lstStyle/>
          <a:p>
            <a:pPr algn="ctr" indent="0" marL="0">
              <a:buNone/>
            </a:pPr>
            <a:r>
              <a:rPr lang="en-US" sz="1800" dirty="0">
                <a:solidFill>
                  <a:srgbClr val="6B6B6B"/>
                </a:solidFill>
                <a:latin typeface="Arial" pitchFamily="34" charset="0"/>
                <a:ea typeface="Arial" pitchFamily="34" charset="-122"/>
                <a:cs typeface="Arial" pitchFamily="34" charset="-120"/>
              </a:rPr>
              <a:t>Inside the zone, the toll made room. In Mott Haven, nothing did. So the design has to.</a:t>
            </a:r>
            <a:endParaRPr lang="en-US" sz="1800" dirty="0"/>
          </a:p>
        </p:txBody>
      </p:sp>
      <p:sp>
        <p:nvSpPr>
          <p:cNvPr id="902" name="Credit 902"/>
          <p:cNvSpPr txBox="1"/>
          <p:nvPr/>
        </p:nvSpPr>
        <p:spPr>
          <a:xfrm>
            <a:off x="548640" y="6163056"/>
            <a:ext cx="7269480" cy="201168"/>
          </a:xfrm>
          <a:prstGeom prst="rect">
            <a:avLst/>
          </a:prstGeom>
          <a:noFill/>
        </p:spPr>
        <p:txBody>
          <a:bodyPr wrap="square" lIns="0" tIns="0" rIns="0" bIns="0" rtlCol="0" anchor="t"/>
          <a:lstStyle/>
          <a:p>
            <a:pPr indent="0" marL="0" algn="r">
              <a:buNone/>
            </a:pPr>
            <a:r>
              <a:rPr lang="en-US" sz="750" dirty="0">
                <a:solidFill>
                  <a:srgbClr val="9A9A9A"/>
                </a:solidFill>
                <a:latin typeface="Arial" pitchFamily="34" charset="0"/>
              </a:rPr>
              <a:t>Right: the Triborough Bridge, which lands in Mott Haven, in the 1930s. Photo: New York Public Library, public domain.</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PART II · SECTION 1</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The corridor as it is</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20 / 36</a:t>
            </a:r>
            <a:endParaRPr lang="en-US" sz="900" dirty="0"/>
          </a:p>
        </p:txBody>
      </p:sp>
      <p:sp>
        <p:nvSpPr>
          <p:cNvPr id="7" name="Text 4"/>
          <p:cNvSpPr txBox="1"/>
          <p:nvPr/>
        </p:nvSpPr>
        <p:spPr>
          <a:xfrm>
            <a:off x="548640" y="1417320"/>
            <a:ext cx="4023360" cy="762000"/>
          </a:xfrm>
          <a:prstGeom prst="rect">
            <a:avLst/>
          </a:prstGeom>
          <a:noFill/>
          <a:ln/>
        </p:spPr>
        <p:txBody>
          <a:bodyPr wrap="square" lIns="0" tIns="0" rIns="0" bIns="0" rtlCol="0" anchor="t"/>
          <a:lstStyle/>
          <a:p>
            <a:pPr indent="0" marL="0">
              <a:buNone/>
            </a:pPr>
            <a:r>
              <a:rPr lang="en-US" sz="4800" b="1" dirty="0">
                <a:solidFill>
                  <a:srgbClr val="1A1A1A"/>
                </a:solidFill>
                <a:latin typeface="Arial" pitchFamily="34" charset="0"/>
                <a:ea typeface="Arial" pitchFamily="34" charset="-122"/>
                <a:cs typeface="Arial" pitchFamily="34" charset="-120"/>
              </a:rPr>
              <a:t>1.02</a:t>
            </a:r>
            <a:endParaRPr lang="en-US" sz="4800" dirty="0"/>
          </a:p>
        </p:txBody>
      </p:sp>
      <p:sp>
        <p:nvSpPr>
          <p:cNvPr id="8" name="Text 5"/>
          <p:cNvSpPr txBox="1"/>
          <p:nvPr/>
        </p:nvSpPr>
        <p:spPr>
          <a:xfrm>
            <a:off x="548640" y="2148840"/>
            <a:ext cx="4023360" cy="457200"/>
          </a:xfrm>
          <a:prstGeom prst="rect">
            <a:avLst/>
          </a:prstGeom>
          <a:noFill/>
          <a:ln/>
        </p:spPr>
        <p:txBody>
          <a:bodyPr wrap="square" lIns="0" tIns="0" rIns="0" bIns="0" rtlCol="0" anchor="t"/>
          <a:lstStyle/>
          <a:p>
            <a:pPr indent="0" marL="0">
              <a:buNone/>
            </a:pPr>
            <a:r>
              <a:rPr lang="en-US" sz="1250" dirty="0">
                <a:solidFill>
                  <a:srgbClr val="6B6B6B"/>
                </a:solidFill>
                <a:latin typeface="Arial" pitchFamily="34" charset="0"/>
                <a:ea typeface="Arial" pitchFamily="34" charset="-122"/>
                <a:cs typeface="Arial" pitchFamily="34" charset="-120"/>
              </a:rPr>
              <a:t>height-to-width ratio: a street canyon</a:t>
            </a:r>
            <a:endParaRPr lang="en-US" sz="1250" dirty="0"/>
          </a:p>
        </p:txBody>
      </p:sp>
      <p:sp>
        <p:nvSpPr>
          <p:cNvPr id="9" name="Text 6"/>
          <p:cNvSpPr txBox="1"/>
          <p:nvPr/>
        </p:nvSpPr>
        <p:spPr>
          <a:xfrm>
            <a:off x="548640" y="2880360"/>
            <a:ext cx="4023360" cy="762000"/>
          </a:xfrm>
          <a:prstGeom prst="rect">
            <a:avLst/>
          </a:prstGeom>
          <a:noFill/>
          <a:ln/>
        </p:spPr>
        <p:txBody>
          <a:bodyPr wrap="square" lIns="0" tIns="0" rIns="0" bIns="0" rtlCol="0" anchor="t"/>
          <a:lstStyle/>
          <a:p>
            <a:pPr indent="0" marL="0">
              <a:buNone/>
            </a:pPr>
            <a:r>
              <a:rPr lang="en-US" sz="4800" b="1" dirty="0">
                <a:solidFill>
                  <a:srgbClr val="B4391B"/>
                </a:solidFill>
                <a:latin typeface="Arial" pitchFamily="34" charset="0"/>
                <a:ea typeface="Arial" pitchFamily="34" charset="-122"/>
                <a:cs typeface="Arial" pitchFamily="34" charset="-120"/>
              </a:rPr>
              <a:t>4%</a:t>
            </a:r>
            <a:endParaRPr lang="en-US" sz="4800" dirty="0"/>
          </a:p>
        </p:txBody>
      </p:sp>
      <p:sp>
        <p:nvSpPr>
          <p:cNvPr id="10" name="Text 7"/>
          <p:cNvSpPr txBox="1"/>
          <p:nvPr/>
        </p:nvSpPr>
        <p:spPr>
          <a:xfrm>
            <a:off x="548640" y="3611880"/>
            <a:ext cx="4023360" cy="457200"/>
          </a:xfrm>
          <a:prstGeom prst="rect">
            <a:avLst/>
          </a:prstGeom>
          <a:noFill/>
          <a:ln/>
        </p:spPr>
        <p:txBody>
          <a:bodyPr wrap="square" lIns="0" tIns="0" rIns="0" bIns="0" rtlCol="0" anchor="t"/>
          <a:lstStyle/>
          <a:p>
            <a:pPr indent="0" marL="0">
              <a:buNone/>
            </a:pPr>
            <a:r>
              <a:rPr lang="en-US" sz="1250" dirty="0">
                <a:solidFill>
                  <a:srgbClr val="6B6B6B"/>
                </a:solidFill>
                <a:latin typeface="Arial" pitchFamily="34" charset="0"/>
                <a:ea typeface="Arial" pitchFamily="34" charset="-122"/>
                <a:cs typeface="Arial" pitchFamily="34" charset="-120"/>
              </a:rPr>
              <a:t>tree canopy  ·  city average 22%</a:t>
            </a:r>
            <a:endParaRPr lang="en-US" sz="1250" dirty="0"/>
          </a:p>
        </p:txBody>
      </p:sp>
      <p:sp>
        <p:nvSpPr>
          <p:cNvPr id="11" name="Text 8"/>
          <p:cNvSpPr txBox="1"/>
          <p:nvPr/>
        </p:nvSpPr>
        <p:spPr>
          <a:xfrm>
            <a:off x="548640" y="4343400"/>
            <a:ext cx="4023360" cy="762000"/>
          </a:xfrm>
          <a:prstGeom prst="rect">
            <a:avLst/>
          </a:prstGeom>
          <a:noFill/>
          <a:ln/>
        </p:spPr>
        <p:txBody>
          <a:bodyPr wrap="square" lIns="0" tIns="0" rIns="0" bIns="0" rtlCol="0" anchor="t"/>
          <a:lstStyle/>
          <a:p>
            <a:pPr indent="0" marL="0">
              <a:buNone/>
            </a:pPr>
            <a:r>
              <a:rPr lang="en-US" sz="4800" b="1" dirty="0">
                <a:solidFill>
                  <a:srgbClr val="B4391B"/>
                </a:solidFill>
                <a:latin typeface="Arial" pitchFamily="34" charset="0"/>
                <a:ea typeface="Arial" pitchFamily="34" charset="-122"/>
                <a:cs typeface="Arial" pitchFamily="34" charset="-120"/>
              </a:rPr>
              <a:t>26</a:t>
            </a:r>
            <a:endParaRPr lang="en-US" sz="4800" dirty="0"/>
          </a:p>
        </p:txBody>
      </p:sp>
      <p:sp>
        <p:nvSpPr>
          <p:cNvPr id="12" name="Text 9"/>
          <p:cNvSpPr txBox="1"/>
          <p:nvPr/>
        </p:nvSpPr>
        <p:spPr>
          <a:xfrm>
            <a:off x="548640" y="5074920"/>
            <a:ext cx="4023360" cy="457200"/>
          </a:xfrm>
          <a:prstGeom prst="rect">
            <a:avLst/>
          </a:prstGeom>
          <a:noFill/>
          <a:ln/>
        </p:spPr>
        <p:txBody>
          <a:bodyPr wrap="square" lIns="0" tIns="0" rIns="0" bIns="0" rtlCol="0" anchor="t"/>
          <a:lstStyle/>
          <a:p>
            <a:pPr indent="0" marL="0">
              <a:buNone/>
            </a:pPr>
            <a:r>
              <a:rPr lang="en-US" sz="1250" dirty="0">
                <a:solidFill>
                  <a:srgbClr val="6B6B6B"/>
                </a:solidFill>
                <a:latin typeface="Arial" pitchFamily="34" charset="0"/>
                <a:ea typeface="Arial" pitchFamily="34" charset="-122"/>
                <a:cs typeface="Arial" pitchFamily="34" charset="-120"/>
              </a:rPr>
              <a:t>street trees per mile  ·  city average 142</a:t>
            </a:r>
            <a:endParaRPr lang="en-US" sz="1250" dirty="0"/>
          </a:p>
        </p:txBody>
      </p:sp>
      <p:pic>
        <p:nvPicPr>
          <p:cNvPr id="13" name="Image 0" descr="img/s20.png">    </p:cNvPr>
          <p:cNvPicPr>
            <a:picLocks noChangeAspect="1"/>
          </p:cNvPicPr>
          <p:nvPr/>
        </p:nvPicPr>
        <p:blipFill>
          <a:blip r:embed="rId1"/>
          <a:stretch>
            <a:fillRect/>
          </a:stretch>
        </p:blipFill>
        <p:spPr>
          <a:xfrm>
            <a:off x="4846320" y="1417320"/>
            <a:ext cx="6793992" cy="3446064"/>
          </a:xfrm>
          <a:prstGeom prst="rect">
            <a:avLst/>
          </a:prstGeom>
        </p:spPr>
      </p:pic>
      <p:sp>
        <p:nvSpPr>
          <p:cNvPr id="14" name="Text 10"/>
          <p:cNvSpPr txBox="1"/>
          <p:nvPr/>
        </p:nvSpPr>
        <p:spPr>
          <a:xfrm>
            <a:off x="4846320" y="4973112"/>
            <a:ext cx="676656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Building heights from the city footprint file; street widths from the centerline file; canopy from the 2015 tree census scaled by trunk diameter.</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Pexels, free license</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PART II · SECTION 2</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The trade-off the brief asked us to face</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21 / 36</a:t>
            </a:r>
            <a:endParaRPr lang="en-US" sz="900" dirty="0"/>
          </a:p>
        </p:txBody>
      </p:sp>
      <p:sp>
        <p:nvSpPr>
          <p:cNvPr id="7" name="Text 4"/>
          <p:cNvSpPr txBox="1"/>
          <p:nvPr/>
        </p:nvSpPr>
        <p:spPr>
          <a:xfrm>
            <a:off x="548640" y="1417320"/>
            <a:ext cx="5394960" cy="3200400"/>
          </a:xfrm>
          <a:prstGeom prst="rect">
            <a:avLst/>
          </a:prstGeom>
          <a:noFill/>
          <a:ln/>
        </p:spPr>
        <p:txBody>
          <a:bodyPr wrap="square" lIns="0" tIns="0" rIns="0" bIns="0" rtlCol="0" anchor="t"/>
          <a:lstStyle/>
          <a:p>
            <a:pPr indent="0" marL="0">
              <a:lnSpc>
                <a:spcPct val="115000"/>
              </a:lnSpc>
              <a:spcAft>
                <a:spcPts val="720"/>
              </a:spcAft>
              <a:buNone/>
            </a:pPr>
            <a:r>
              <a:rPr lang="en-US" sz="1400" dirty="0">
                <a:solidFill>
                  <a:srgbClr val="1A1A1A"/>
                </a:solidFill>
                <a:latin typeface="Arial" pitchFamily="34" charset="0"/>
                <a:ea typeface="Arial" pitchFamily="34" charset="-122"/>
                <a:cs typeface="Arial" pitchFamily="34" charset="-120"/>
              </a:rPr>
              <a:t>In a canyon above 0.5, dense canopy can trap pollution at street level instead of catching it. So the removal number is discounted by the geometry: 13% for dense planting, 5% for spaced.</a:t>
            </a:r>
            <a:endParaRPr lang="en-US" sz="1400" dirty="0"/>
          </a:p>
        </p:txBody>
      </p:sp>
      <p:sp>
        <p:nvSpPr>
          <p:cNvPr id="8" name="Text 5"/>
          <p:cNvSpPr txBox="1"/>
          <p:nvPr/>
        </p:nvSpPr>
        <p:spPr>
          <a:xfrm>
            <a:off x="6263640" y="1417320"/>
            <a:ext cx="5376672" cy="3200400"/>
          </a:xfrm>
          <a:prstGeom prst="rect">
            <a:avLst/>
          </a:prstGeom>
          <a:noFill/>
          <a:ln/>
        </p:spPr>
        <p:txBody>
          <a:bodyPr wrap="square" lIns="0" tIns="0" rIns="0" bIns="0" rtlCol="0" anchor="t"/>
          <a:lstStyle/>
          <a:p>
            <a:pPr indent="0" marL="0">
              <a:lnSpc>
                <a:spcPct val="115000"/>
              </a:lnSpc>
              <a:spcAft>
                <a:spcPts val="720"/>
              </a:spcAft>
              <a:buNone/>
            </a:pPr>
            <a:r>
              <a:rPr lang="en-US" sz="1400" dirty="0">
                <a:solidFill>
                  <a:srgbClr val="1A1A1A"/>
                </a:solidFill>
                <a:latin typeface="Arial" pitchFamily="34" charset="0"/>
                <a:ea typeface="Arial" pitchFamily="34" charset="-122"/>
                <a:cs typeface="Arial" pitchFamily="34" charset="-120"/>
              </a:rPr>
              <a:t>Dense trees still win — about 6,000 kg of PM₂.₅ a year at maturity — if the canopy stays high enough not to close the canyon. Plus about 80 million liters of stormwater intercepted a year.</a:t>
            </a:r>
            <a:endParaRPr lang="en-US" sz="1400" dirty="0"/>
          </a:p>
        </p:txBody>
      </p:sp>
      <p:pic>
        <p:nvPicPr>
          <p:cNvPr id="9" name="Image 0" descr="img/s21.png">    </p:cNvPr>
          <p:cNvPicPr>
            <a:picLocks noChangeAspect="1"/>
          </p:cNvPicPr>
          <p:nvPr/>
        </p:nvPicPr>
        <p:blipFill>
          <a:blip r:embed="rId1"/>
          <a:stretch>
            <a:fillRect/>
          </a:stretch>
        </p:blipFill>
        <p:spPr>
          <a:xfrm>
            <a:off x="684276" y="2788920"/>
            <a:ext cx="10820400" cy="3246120"/>
          </a:xfrm>
          <a:prstGeom prst="rect">
            <a:avLst/>
          </a:prstGeom>
        </p:spPr>
      </p:pic>
      <p:sp>
        <p:nvSpPr>
          <p:cNvPr id="10" name="Text 6"/>
          <p:cNvSpPr txBox="1"/>
          <p:nvPr/>
        </p:nvSpPr>
        <p:spPr>
          <a:xfrm>
            <a:off x="548640" y="6126480"/>
            <a:ext cx="1106424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Removal rates from i-Tree (Nowak et al.); canyon discount from street-canyon simulation studies; stormwater per-tree figure from the city’s own analysis.</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Famartin, Wikimedia Commons, CC BY-SA 4.0; monochrome</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PART II · SECTION 3</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It takes twenty years — unless it doesn’t</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22 / 36</a:t>
            </a:r>
            <a:endParaRPr lang="en-US" sz="900" dirty="0"/>
          </a:p>
        </p:txBody>
      </p:sp>
      <p:sp>
        <p:nvSpPr>
          <p:cNvPr id="7" name="Text 4"/>
          <p:cNvSpPr txBox="1"/>
          <p:nvPr/>
        </p:nvSpPr>
        <p:spPr>
          <a:xfrm>
            <a:off x="548640" y="1463040"/>
            <a:ext cx="3931920" cy="3200400"/>
          </a:xfrm>
          <a:prstGeom prst="rect">
            <a:avLst/>
          </a:prstGeom>
          <a:noFill/>
          <a:ln/>
        </p:spPr>
        <p:txBody>
          <a:bodyPr wrap="square" lIns="0" tIns="0" rIns="0" bIns="0" rtlCol="0" anchor="t"/>
          <a:lstStyle/>
          <a:p>
            <a:pPr indent="0" marL="0">
              <a:lnSpc>
                <a:spcPct val="115000"/>
              </a:lnSpc>
              <a:spcAft>
                <a:spcPts val="1260"/>
              </a:spcAft>
              <a:buNone/>
            </a:pPr>
            <a:r>
              <a:rPr lang="en-US" sz="1500" dirty="0">
                <a:solidFill>
                  <a:srgbClr val="1A1A1A"/>
                </a:solidFill>
                <a:latin typeface="Arial" pitchFamily="34" charset="0"/>
                <a:ea typeface="Arial" pitchFamily="34" charset="-122"/>
                <a:cs typeface="Arial" pitchFamily="34" charset="-120"/>
              </a:rPr>
              <a:t>Trees deliver 10% of their mature removal in year one, 55% at year ten, 90% at year twenty.</a:t>
            </a:r>
            <a:endParaRPr lang="en-US" sz="1500" dirty="0"/>
          </a:p>
          <a:p>
            <a:pPr indent="0" marL="0">
              <a:lnSpc>
                <a:spcPct val="115000"/>
              </a:lnSpc>
              <a:spcAft>
                <a:spcPts val="1260"/>
              </a:spcAft>
              <a:buNone/>
            </a:pPr>
            <a:r>
              <a:rPr lang="en-US" sz="1500" dirty="0">
                <a:solidFill>
                  <a:srgbClr val="1A1A1A"/>
                </a:solidFill>
                <a:latin typeface="Arial" pitchFamily="34" charset="0"/>
                <a:ea typeface="Arial" pitchFamily="34" charset="-122"/>
                <a:cs typeface="Arial" pitchFamily="34" charset="-120"/>
              </a:rPr>
              <a:t>Green walls and screens deliver fully from year one and never grow.</a:t>
            </a:r>
            <a:endParaRPr lang="en-US" sz="1500" dirty="0"/>
          </a:p>
          <a:p>
            <a:pPr indent="0" marL="0">
              <a:lnSpc>
                <a:spcPct val="115000"/>
              </a:lnSpc>
              <a:spcAft>
                <a:spcPts val="1260"/>
              </a:spcAft>
              <a:buNone/>
            </a:pPr>
            <a:r>
              <a:rPr lang="en-US" sz="1500" dirty="0">
                <a:solidFill>
                  <a:srgbClr val="1A1A1A"/>
                </a:solidFill>
                <a:latin typeface="Arial" pitchFamily="34" charset="0"/>
                <a:ea typeface="Arial" pitchFamily="34" charset="-122"/>
                <a:cs typeface="Arial" pitchFamily="34" charset="-120"/>
              </a:rPr>
              <a:t>The honest plan is both: screens for the first decade, trees for the second.</a:t>
            </a:r>
            <a:endParaRPr lang="en-US" sz="1500" dirty="0"/>
          </a:p>
        </p:txBody>
      </p:sp>
      <p:pic>
        <p:nvPicPr>
          <p:cNvPr id="8" name="Image 0" descr="img/s22.png">    </p:cNvPr>
          <p:cNvPicPr>
            <a:picLocks noChangeAspect="1"/>
          </p:cNvPicPr>
          <p:nvPr/>
        </p:nvPicPr>
        <p:blipFill>
          <a:blip r:embed="rId1"/>
          <a:stretch>
            <a:fillRect/>
          </a:stretch>
        </p:blipFill>
        <p:spPr>
          <a:xfrm>
            <a:off x="4846320" y="1554480"/>
            <a:ext cx="6793992" cy="2559070"/>
          </a:xfrm>
          <a:prstGeom prst="rect">
            <a:avLst/>
          </a:prstGeom>
        </p:spPr>
      </p:pic>
      <p:sp>
        <p:nvSpPr>
          <p:cNvPr id="9" name="Text 5"/>
          <p:cNvSpPr txBox="1"/>
          <p:nvPr/>
        </p:nvSpPr>
        <p:spPr>
          <a:xfrm>
            <a:off x="4846320" y="4223278"/>
            <a:ext cx="676656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Maturation curve applied to tree typologies only; flat lines are structural, not assumed.</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Joey Zhou, Unsplash</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PART II · SECTION 4</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Four species, chosen for this street</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23 / 36</a:t>
            </a:r>
            <a:endParaRPr lang="en-US" sz="900" dirty="0"/>
          </a:p>
        </p:txBody>
      </p:sp>
      <p:sp>
        <p:nvSpPr>
          <p:cNvPr id="7" name="Text 4"/>
          <p:cNvSpPr txBox="1"/>
          <p:nvPr/>
        </p:nvSpPr>
        <p:spPr>
          <a:xfrm>
            <a:off x="548640" y="1463040"/>
            <a:ext cx="3931920" cy="3200400"/>
          </a:xfrm>
          <a:prstGeom prst="rect">
            <a:avLst/>
          </a:prstGeom>
          <a:noFill/>
          <a:ln/>
        </p:spPr>
        <p:txBody>
          <a:bodyPr wrap="square" lIns="0" tIns="0" rIns="0" bIns="0" rtlCol="0" anchor="t"/>
          <a:lstStyle/>
          <a:p>
            <a:pPr indent="0" marL="0">
              <a:lnSpc>
                <a:spcPct val="115000"/>
              </a:lnSpc>
              <a:spcAft>
                <a:spcPts val="1260"/>
              </a:spcAft>
              <a:buNone/>
            </a:pPr>
            <a:r>
              <a:rPr lang="en-US" sz="1500" dirty="0">
                <a:solidFill>
                  <a:srgbClr val="1A1A1A"/>
                </a:solidFill>
                <a:latin typeface="Arial" pitchFamily="34" charset="0"/>
                <a:ea typeface="Arial" pitchFamily="34" charset="-122"/>
                <a:cs typeface="Arial" pitchFamily="34" charset="-120"/>
              </a:rPr>
              <a:t>Thornless honeylocust leads: high-branching, so it shades without closing the canyon.</a:t>
            </a:r>
            <a:endParaRPr lang="en-US" sz="1500" dirty="0"/>
          </a:p>
          <a:p>
            <a:pPr indent="0" marL="0">
              <a:lnSpc>
                <a:spcPct val="115000"/>
              </a:lnSpc>
              <a:spcAft>
                <a:spcPts val="1260"/>
              </a:spcAft>
              <a:buNone/>
            </a:pPr>
            <a:r>
              <a:rPr lang="en-US" sz="1500" dirty="0">
                <a:solidFill>
                  <a:srgbClr val="1A1A1A"/>
                </a:solidFill>
                <a:latin typeface="Arial" pitchFamily="34" charset="0"/>
                <a:ea typeface="Arial" pitchFamily="34" charset="-122"/>
                <a:cs typeface="Arial" pitchFamily="34" charset="-120"/>
              </a:rPr>
              <a:t>Lacebark elm clears truck height. Swamp white oak for the long run. Male ginkgo for the hardest spots.</a:t>
            </a:r>
            <a:endParaRPr lang="en-US" sz="1500" dirty="0"/>
          </a:p>
          <a:p>
            <a:pPr indent="0" marL="0">
              <a:lnSpc>
                <a:spcPct val="115000"/>
              </a:lnSpc>
              <a:spcAft>
                <a:spcPts val="1260"/>
              </a:spcAft>
              <a:buNone/>
            </a:pPr>
            <a:r>
              <a:rPr lang="en-US" sz="1500" dirty="0">
                <a:solidFill>
                  <a:srgbClr val="1A1A1A"/>
                </a:solidFill>
                <a:latin typeface="Arial" pitchFamily="34" charset="0"/>
                <a:ea typeface="Arial" pitchFamily="34" charset="-122"/>
                <a:cs typeface="Arial" pitchFamily="34" charset="-120"/>
              </a:rPr>
              <a:t>All four tolerate road salt and pollution, which matters next to a plow route.</a:t>
            </a:r>
            <a:endParaRPr lang="en-US" sz="1500" dirty="0"/>
          </a:p>
        </p:txBody>
      </p:sp>
      <p:pic>
        <p:nvPicPr>
          <p:cNvPr id="8" name="Image 0" descr="img/s23.png">    </p:cNvPr>
          <p:cNvPicPr>
            <a:picLocks noChangeAspect="1"/>
          </p:cNvPicPr>
          <p:nvPr/>
        </p:nvPicPr>
        <p:blipFill>
          <a:blip r:embed="rId1"/>
          <a:stretch>
            <a:fillRect/>
          </a:stretch>
        </p:blipFill>
        <p:spPr>
          <a:xfrm>
            <a:off x="4846320" y="1554480"/>
            <a:ext cx="6793992" cy="2604364"/>
          </a:xfrm>
          <a:prstGeom prst="rect">
            <a:avLst/>
          </a:prstGeom>
        </p:spPr>
      </p:pic>
      <p:sp>
        <p:nvSpPr>
          <p:cNvPr id="9" name="Text 5"/>
          <p:cNvSpPr txBox="1"/>
          <p:nvPr/>
        </p:nvSpPr>
        <p:spPr>
          <a:xfrm>
            <a:off x="4846320" y="4268572"/>
            <a:ext cx="676656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Species, form, tolerance, and 20-year trunk diameter from the site’s species table.</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Pexels, free license</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PART II · THE FIRST MOVE</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Build this first</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24 / 36</a:t>
            </a:r>
            <a:endParaRPr lang="en-US" sz="900" dirty="0"/>
          </a:p>
        </p:txBody>
      </p:sp>
      <p:sp>
        <p:nvSpPr>
          <p:cNvPr id="7" name="Text 4"/>
          <p:cNvSpPr txBox="1"/>
          <p:nvPr/>
        </p:nvSpPr>
        <p:spPr>
          <a:xfrm>
            <a:off x="548640" y="1417320"/>
            <a:ext cx="11064240" cy="731520"/>
          </a:xfrm>
          <a:prstGeom prst="rect">
            <a:avLst/>
          </a:prstGeom>
          <a:noFill/>
          <a:ln/>
        </p:spPr>
        <p:txBody>
          <a:bodyPr wrap="square" lIns="0" tIns="0" rIns="0" bIns="0" rtlCol="0" anchor="t"/>
          <a:lstStyle/>
          <a:p>
            <a:pPr indent="0" marL="0">
              <a:buNone/>
            </a:pPr>
            <a:r>
              <a:rPr lang="en-US" sz="2200" dirty="0">
                <a:solidFill>
                  <a:srgbClr val="1A1A1A"/>
                </a:solidFill>
                <a:latin typeface="Cambria" pitchFamily="34" charset="0"/>
                <a:ea typeface="Cambria" pitchFamily="34" charset="-122"/>
                <a:cs typeface="Cambria" pitchFamily="34" charset="-120"/>
              </a:rPr>
              <a:t>A vegetative screen along the shared frontage of P.S. 43 and Mott Haven Academy on Brown Place.</a:t>
            </a:r>
            <a:endParaRPr lang="en-US" sz="2200" dirty="0"/>
          </a:p>
        </p:txBody>
      </p:sp>
      <p:sp>
        <p:nvSpPr>
          <p:cNvPr id="8" name="Text 5"/>
          <p:cNvSpPr txBox="1"/>
          <p:nvPr/>
        </p:nvSpPr>
        <p:spPr>
          <a:xfrm>
            <a:off x="548640" y="2651760"/>
            <a:ext cx="3566160" cy="857250"/>
          </a:xfrm>
          <a:prstGeom prst="rect">
            <a:avLst/>
          </a:prstGeom>
          <a:noFill/>
          <a:ln/>
        </p:spPr>
        <p:txBody>
          <a:bodyPr wrap="square" lIns="0" tIns="0" rIns="0" bIns="0" rtlCol="0" anchor="t"/>
          <a:lstStyle/>
          <a:p>
            <a:pPr indent="0" marL="0">
              <a:buNone/>
            </a:pPr>
            <a:r>
              <a:rPr lang="en-US" sz="5400" b="1" dirty="0">
                <a:solidFill>
                  <a:srgbClr val="1A1A1A"/>
                </a:solidFill>
                <a:latin typeface="Arial" pitchFamily="34" charset="0"/>
                <a:ea typeface="Arial" pitchFamily="34" charset="-122"/>
                <a:cs typeface="Arial" pitchFamily="34" charset="-120"/>
              </a:rPr>
              <a:t>180 ft</a:t>
            </a:r>
            <a:endParaRPr lang="en-US" sz="5400" dirty="0"/>
          </a:p>
        </p:txBody>
      </p:sp>
      <p:sp>
        <p:nvSpPr>
          <p:cNvPr id="9" name="Text 6"/>
          <p:cNvSpPr txBox="1"/>
          <p:nvPr/>
        </p:nvSpPr>
        <p:spPr>
          <a:xfrm>
            <a:off x="548640" y="3474720"/>
            <a:ext cx="3566160" cy="45720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of school frontage</a:t>
            </a:r>
            <a:endParaRPr lang="en-US" sz="1300" dirty="0"/>
          </a:p>
        </p:txBody>
      </p:sp>
      <p:sp>
        <p:nvSpPr>
          <p:cNvPr id="10" name="Text 7"/>
          <p:cNvSpPr txBox="1"/>
          <p:nvPr/>
        </p:nvSpPr>
        <p:spPr>
          <a:xfrm>
            <a:off x="4251960" y="2651760"/>
            <a:ext cx="3566160" cy="857250"/>
          </a:xfrm>
          <a:prstGeom prst="rect">
            <a:avLst/>
          </a:prstGeom>
          <a:noFill/>
          <a:ln/>
        </p:spPr>
        <p:txBody>
          <a:bodyPr wrap="square" lIns="0" tIns="0" rIns="0" bIns="0" rtlCol="0" anchor="t"/>
          <a:lstStyle/>
          <a:p>
            <a:pPr indent="0" marL="0">
              <a:buNone/>
            </a:pPr>
            <a:r>
              <a:rPr lang="en-US" sz="5400" b="1" dirty="0">
                <a:solidFill>
                  <a:srgbClr val="1A1A1A"/>
                </a:solidFill>
                <a:latin typeface="Arial" pitchFamily="34" charset="0"/>
                <a:ea typeface="Arial" pitchFamily="34" charset="-122"/>
                <a:cs typeface="Arial" pitchFamily="34" charset="-120"/>
              </a:rPr>
              <a:t>20 ft</a:t>
            </a:r>
            <a:endParaRPr lang="en-US" sz="5400" dirty="0"/>
          </a:p>
        </p:txBody>
      </p:sp>
      <p:sp>
        <p:nvSpPr>
          <p:cNvPr id="11" name="Text 8"/>
          <p:cNvSpPr txBox="1"/>
          <p:nvPr/>
        </p:nvSpPr>
        <p:spPr>
          <a:xfrm>
            <a:off x="4251960" y="3474720"/>
            <a:ext cx="3566160" cy="45720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screen height</a:t>
            </a:r>
            <a:endParaRPr lang="en-US" sz="1300" dirty="0"/>
          </a:p>
        </p:txBody>
      </p:sp>
      <p:sp>
        <p:nvSpPr>
          <p:cNvPr id="12" name="Text 9"/>
          <p:cNvSpPr txBox="1"/>
          <p:nvPr/>
        </p:nvSpPr>
        <p:spPr>
          <a:xfrm>
            <a:off x="7955280" y="2651760"/>
            <a:ext cx="3566160" cy="857250"/>
          </a:xfrm>
          <a:prstGeom prst="rect">
            <a:avLst/>
          </a:prstGeom>
          <a:noFill/>
          <a:ln/>
        </p:spPr>
        <p:txBody>
          <a:bodyPr wrap="square" lIns="0" tIns="0" rIns="0" bIns="0" rtlCol="0" anchor="t"/>
          <a:lstStyle/>
          <a:p>
            <a:pPr indent="0" marL="0">
              <a:buNone/>
            </a:pPr>
            <a:r>
              <a:rPr lang="en-US" sz="5400" b="1" dirty="0">
                <a:solidFill>
                  <a:srgbClr val="2F6B3A"/>
                </a:solidFill>
                <a:latin typeface="Arial" pitchFamily="34" charset="0"/>
                <a:ea typeface="Arial" pitchFamily="34" charset="-122"/>
                <a:cs typeface="Arial" pitchFamily="34" charset="-120"/>
              </a:rPr>
              <a:t>~12 kg/yr</a:t>
            </a:r>
            <a:endParaRPr lang="en-US" sz="5400" dirty="0"/>
          </a:p>
        </p:txBody>
      </p:sp>
      <p:sp>
        <p:nvSpPr>
          <p:cNvPr id="13" name="Text 10"/>
          <p:cNvSpPr txBox="1"/>
          <p:nvPr/>
        </p:nvSpPr>
        <p:spPr>
          <a:xfrm>
            <a:off x="7955280" y="3474720"/>
            <a:ext cx="3566160" cy="45720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PM₂.₅ removed, from year one</a:t>
            </a:r>
            <a:endParaRPr lang="en-US" sz="1300" dirty="0"/>
          </a:p>
        </p:txBody>
      </p:sp>
      <p:sp>
        <p:nvSpPr>
          <p:cNvPr id="14" name="Shape 11"/>
          <p:cNvSpPr/>
          <p:nvPr/>
        </p:nvSpPr>
        <p:spPr>
          <a:xfrm>
            <a:off x="548640" y="4572000"/>
            <a:ext cx="11064240" cy="0"/>
          </a:xfrm>
          <a:prstGeom prst="line">
            <a:avLst/>
          </a:prstGeom>
          <a:noFill/>
          <a:ln w="9525">
            <a:solidFill>
              <a:srgbClr val="DDDDDD"/>
            </a:solidFill>
            <a:prstDash val="solid"/>
          </a:ln>
        </p:spPr>
      </p:sp>
      <p:sp>
        <p:nvSpPr>
          <p:cNvPr id="15" name="Text 12"/>
          <p:cNvSpPr txBox="1"/>
          <p:nvPr/>
        </p:nvSpPr>
        <p:spPr>
          <a:xfrm>
            <a:off x="548640" y="4754880"/>
            <a:ext cx="11064240" cy="1097280"/>
          </a:xfrm>
          <a:prstGeom prst="rect">
            <a:avLst/>
          </a:prstGeom>
          <a:noFill/>
          <a:ln/>
        </p:spPr>
        <p:txBody>
          <a:bodyPr wrap="square" lIns="0" tIns="0" rIns="0" bIns="0" rtlCol="0" anchor="t"/>
          <a:lstStyle/>
          <a:p>
            <a:pPr indent="0" marL="0">
              <a:lnSpc>
                <a:spcPct val="120000"/>
              </a:lnSpc>
              <a:buNone/>
            </a:pPr>
            <a:r>
              <a:rPr lang="en-US" sz="1600" dirty="0">
                <a:solidFill>
                  <a:srgbClr val="6B6B6B"/>
                </a:solidFill>
                <a:latin typeface="Arial" pitchFamily="34" charset="0"/>
                <a:ea typeface="Arial" pitchFamily="34" charset="-122"/>
                <a:cs typeface="Arial" pitchFamily="34" charset="-120"/>
              </a:rPr>
              <a:t>Small on a citywide scale. Concentrated at the exact place where several hundred children spend six hours a day — and it works in the first year, while the trees grow.</a:t>
            </a:r>
            <a:endParaRPr lang="en-US" sz="160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Famartin, Wikimedia Commons, CC BY-SA 4.0; monochrome</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E6E0F2"/>
                </a:solidFill>
                <a:latin typeface="Arial" pitchFamily="34" charset="0"/>
                <a:ea typeface="Arial" pitchFamily="34" charset="-122"/>
                <a:cs typeface="Arial" pitchFamily="34" charset="-120"/>
              </a:rPr>
              <a:t>THE CLAIM</a:t>
            </a:r>
            <a:endParaRPr lang="en-US" sz="1050" dirty="0"/>
          </a:p>
        </p:txBody>
      </p:sp>
      <p:sp>
        <p:nvSpPr>
          <p:cNvPr id="3" name="Text 1"/>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C4C4C4"/>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4" name="Text 2"/>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C4C4C4"/>
                </a:solidFill>
                <a:latin typeface="Arial" pitchFamily="34" charset="0"/>
                <a:ea typeface="Arial" pitchFamily="34" charset="-122"/>
                <a:cs typeface="Arial" pitchFamily="34" charset="-120"/>
              </a:rPr>
              <a:t>25 / 36</a:t>
            </a:r>
            <a:endParaRPr lang="en-US" sz="900" dirty="0"/>
          </a:p>
        </p:txBody>
      </p:sp>
      <p:sp>
        <p:nvSpPr>
          <p:cNvPr id="6" name="Text 3"/>
          <p:cNvSpPr txBox="1"/>
          <p:nvPr/>
        </p:nvSpPr>
        <p:spPr>
          <a:xfrm>
            <a:off x="548640" y="1188720"/>
            <a:ext cx="10607040" cy="3291840"/>
          </a:xfrm>
          <a:prstGeom prst="rect">
            <a:avLst/>
          </a:prstGeom>
          <a:noFill/>
          <a:ln/>
        </p:spPr>
        <p:txBody>
          <a:bodyPr wrap="square" lIns="0" tIns="0" rIns="0" bIns="0" rtlCol="0" anchor="t"/>
          <a:lstStyle/>
          <a:p>
            <a:pPr indent="0" marL="0">
              <a:lnSpc>
                <a:spcPct val="115000"/>
              </a:lnSpc>
              <a:buNone/>
            </a:pPr>
            <a:r>
              <a:rPr lang="en-US" sz="3600" b="1" dirty="0">
                <a:solidFill>
                  <a:srgbClr val="E6E0F2"/>
                </a:solidFill>
                <a:latin typeface="Cambria" pitchFamily="34" charset="0"/>
                <a:ea typeface="Cambria" pitchFamily="34" charset="-122"/>
                <a:cs typeface="Cambria" pitchFamily="34" charset="-120"/>
              </a:rPr>
              <a:t>Congestion pricing is eliminating pollution, not moving it — but only inside the zone. Outside, nothing changed. The neighborhoods that need it most need something a toll can’t give them.</a:t>
            </a:r>
            <a:endParaRPr lang="en-US" sz="3600" dirty="0"/>
          </a:p>
        </p:txBody>
      </p:sp>
      <p:sp>
        <p:nvSpPr>
          <p:cNvPr id="7" name="Text 4"/>
          <p:cNvSpPr txBox="1"/>
          <p:nvPr/>
        </p:nvSpPr>
        <p:spPr>
          <a:xfrm>
            <a:off x="548640" y="5029200"/>
            <a:ext cx="10058400" cy="731520"/>
          </a:xfrm>
          <a:prstGeom prst="rect">
            <a:avLst/>
          </a:prstGeom>
          <a:noFill/>
          <a:ln/>
        </p:spPr>
        <p:txBody>
          <a:bodyPr wrap="square" lIns="0" tIns="0" rIns="0" bIns="0" rtlCol="0" anchor="t"/>
          <a:lstStyle/>
          <a:p>
            <a:pPr indent="0" marL="0">
              <a:lnSpc>
                <a:spcPct val="130000"/>
              </a:lnSpc>
              <a:buNone/>
            </a:pPr>
            <a:r>
              <a:rPr lang="en-US" sz="1400" dirty="0">
                <a:solidFill>
                  <a:srgbClr val="C4C4C4"/>
                </a:solidFill>
                <a:latin typeface="Arial" pitchFamily="34" charset="0"/>
                <a:ea typeface="Arial" pitchFamily="34" charset="-122"/>
                <a:cs typeface="Arial" pitchFamily="34" charset="-120"/>
              </a:rPr>
              <a:t>furkanberatay.github.io/The_Toll_it_Takes_Project</a:t>
            </a:r>
            <a:endParaRPr lang="en-US" sz="1400" dirty="0"/>
          </a:p>
          <a:p>
            <a:pPr indent="0" marL="0">
              <a:lnSpc>
                <a:spcPct val="130000"/>
              </a:lnSpc>
              <a:buNone/>
            </a:pPr>
            <a:r>
              <a:rPr lang="en-US" sz="1400" dirty="0">
                <a:solidFill>
                  <a:srgbClr val="C4C4C4"/>
                </a:solidFill>
                <a:latin typeface="Arial" pitchFamily="34" charset="0"/>
                <a:ea typeface="Arial" pitchFamily="34" charset="-122"/>
                <a:cs typeface="Arial" pitchFamily="34" charset="-120"/>
              </a:rPr>
              <a:t>github.com/FurkanBeratAy/The_Toll_it_Takes_Project</a:t>
            </a:r>
            <a:endParaRPr lang="en-US" sz="1400" dirty="0"/>
          </a:p>
        </p:txBody>
      </p:sp>
      <p:sp>
        <p:nvSpPr>
          <p:cNvPr id="901" name="Credit 901"/>
          <p:cNvSpPr txBox="1"/>
          <p:nvPr/>
        </p:nvSpPr>
        <p:spPr>
          <a:xfrm>
            <a:off x="548640" y="6163056"/>
            <a:ext cx="10058400" cy="201168"/>
          </a:xfrm>
          <a:prstGeom prst="rect">
            <a:avLst/>
          </a:prstGeom>
          <a:noFill/>
        </p:spPr>
        <p:txBody>
          <a:bodyPr wrap="square" lIns="0" tIns="0" rIns="0" bIns="0" rtlCol="0" anchor="t"/>
          <a:lstStyle/>
          <a:p>
            <a:pPr indent="0" marL="0" algn="l">
              <a:buNone/>
            </a:pPr>
            <a:r>
              <a:rPr lang="en-US" sz="750" dirty="0">
                <a:solidFill>
                  <a:srgbClr val="9A9A9A"/>
                </a:solidFill>
                <a:latin typeface="Arial" pitchFamily="34" charset="0"/>
                <a:ea typeface="Arial" pitchFamily="34" charset="-122"/>
                <a:cs typeface="Arial" pitchFamily="34" charset="-120"/>
              </a:rPr>
              <a:t>The FDR Drive and Lower Manhattan, inside the zone. Photo: Lerone Pieters, Unsplash; shown in monochrome.</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2743200"/>
            <a:ext cx="10972800" cy="10972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Appendix</a:t>
            </a:r>
            <a:endParaRPr lang="en-US" sz="4800" dirty="0"/>
          </a:p>
        </p:txBody>
      </p:sp>
      <p:sp>
        <p:nvSpPr>
          <p:cNvPr id="4" name="Text 1"/>
          <p:cNvSpPr txBox="1"/>
          <p:nvPr/>
        </p:nvSpPr>
        <p:spPr>
          <a:xfrm>
            <a:off x="548640" y="3840480"/>
            <a:ext cx="10972800" cy="457200"/>
          </a:xfrm>
          <a:prstGeom prst="rect">
            <a:avLst/>
          </a:prstGeom>
          <a:noFill/>
          <a:ln/>
        </p:spPr>
        <p:txBody>
          <a:bodyPr wrap="square" lIns="0" tIns="0" rIns="0" bIns="0" rtlCol="0" anchor="ctr"/>
          <a:lstStyle/>
          <a:p>
            <a:pPr indent="0" marL="0">
              <a:buNone/>
            </a:pPr>
            <a:r>
              <a:rPr lang="en-US" sz="1600" dirty="0">
                <a:solidFill>
                  <a:srgbClr val="D8D0E8"/>
                </a:solidFill>
                <a:latin typeface="Arial" pitchFamily="34" charset="0"/>
                <a:ea typeface="Arial" pitchFamily="34" charset="-122"/>
                <a:cs typeface="Arial" pitchFamily="34" charset="-120"/>
              </a:rPr>
              <a:t>All nine checks, in order · Limitations</a:t>
            </a:r>
            <a:endParaRPr lang="en-US" sz="1600" dirty="0"/>
          </a:p>
        </p:txBody>
      </p:sp>
      <p:sp>
        <p:nvSpPr>
          <p:cNvPr id="901" name="Credit 901"/>
          <p:cNvSpPr txBox="1"/>
          <p:nvPr/>
        </p:nvSpPr>
        <p:spPr>
          <a:xfrm>
            <a:off x="548640" y="6309360"/>
            <a:ext cx="10058400" cy="201168"/>
          </a:xfrm>
          <a:prstGeom prst="rect">
            <a:avLst/>
          </a:prstGeom>
          <a:noFill/>
        </p:spPr>
        <p:txBody>
          <a:bodyPr wrap="square" lIns="0" tIns="0" rIns="0" bIns="0" rtlCol="0" anchor="t"/>
          <a:lstStyle/>
          <a:p>
            <a:pPr indent="0" marL="0" algn="l">
              <a:buNone/>
            </a:pPr>
            <a:r>
              <a:rPr lang="en-US" sz="750" dirty="0">
                <a:solidFill>
                  <a:srgbClr val="B9ACD8"/>
                </a:solidFill>
                <a:latin typeface="Arial" pitchFamily="34" charset="0"/>
                <a:ea typeface="Arial" pitchFamily="34" charset="-122"/>
                <a:cs typeface="Arial" pitchFamily="34" charset="-120"/>
              </a:rPr>
              <a:t>The Hell Gate Bridge, with the Triborough beyond. Photo: New York Public Library, public domain; duotone.</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APPENDIX</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Check 1 · weather-adjusted estimates</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27 / 36</a:t>
            </a:r>
            <a:endParaRPr lang="en-US" sz="900" dirty="0"/>
          </a:p>
        </p:txBody>
      </p:sp>
      <p:pic>
        <p:nvPicPr>
          <p:cNvPr id="7" name="Image 0" descr="img/s27.png">    </p:cNvPr>
          <p:cNvPicPr>
            <a:picLocks noChangeAspect="1"/>
          </p:cNvPicPr>
          <p:nvPr/>
        </p:nvPicPr>
        <p:blipFill>
          <a:blip r:embed="rId1"/>
          <a:stretch>
            <a:fillRect/>
          </a:stretch>
        </p:blipFill>
        <p:spPr>
          <a:xfrm>
            <a:off x="1954838" y="1371600"/>
            <a:ext cx="8279276" cy="4572000"/>
          </a:xfrm>
          <a:prstGeom prst="rect">
            <a:avLst/>
          </a:prstGeom>
        </p:spPr>
      </p:pic>
      <p:sp>
        <p:nvSpPr>
          <p:cNvPr id="8" name="Text 4"/>
          <p:cNvSpPr txBox="1"/>
          <p:nvPr/>
        </p:nvSpPr>
        <p:spPr>
          <a:xfrm>
            <a:off x="548640" y="6035040"/>
            <a:ext cx="1106424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Grey dot = original estimate; purple diamond = after adding weather. A bar entirely on one side of zero is a confident result; a bar crossing it is not.</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New York Public Library, public domain</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APPENDIX</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Check 2 · rush hour (daytime-minus-nighttime gap)</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28 / 36</a:t>
            </a:r>
            <a:endParaRPr lang="en-US" sz="900" dirty="0"/>
          </a:p>
        </p:txBody>
      </p:sp>
      <p:pic>
        <p:nvPicPr>
          <p:cNvPr id="7" name="Image 0" descr="img/s10.png">    </p:cNvPr>
          <p:cNvPicPr>
            <a:picLocks noChangeAspect="1"/>
          </p:cNvPicPr>
          <p:nvPr/>
        </p:nvPicPr>
        <p:blipFill>
          <a:blip r:embed="rId1"/>
          <a:stretch>
            <a:fillRect/>
          </a:stretch>
        </p:blipFill>
        <p:spPr>
          <a:xfrm>
            <a:off x="548640" y="1371600"/>
            <a:ext cx="11091672" cy="4485965"/>
          </a:xfrm>
          <a:prstGeom prst="rect">
            <a:avLst/>
          </a:prstGeom>
        </p:spPr>
      </p:pic>
      <p:sp>
        <p:nvSpPr>
          <p:cNvPr id="8" name="Text 4"/>
          <p:cNvSpPr txBox="1"/>
          <p:nvPr/>
        </p:nvSpPr>
        <p:spPr>
          <a:xfrm>
            <a:off x="548640" y="5949005"/>
            <a:ext cx="1106424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Each bar is how much the day-night gap changed after the toll. The toll is 75% cheaper overnight, so diversion would show by day. 1 of 16 bars significant among monitors with a full pre-toll year: Cross Bronx, weekdays. Faded bars have under 200 pre-toll days.</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New York Public Library, public domain</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APPENDIX</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Check 3 · fake toll dates</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29 / 36</a:t>
            </a:r>
            <a:endParaRPr lang="en-US" sz="900" dirty="0"/>
          </a:p>
        </p:txBody>
      </p:sp>
      <p:pic>
        <p:nvPicPr>
          <p:cNvPr id="7" name="Image 0" descr="img/A3_check3.png">    </p:cNvPr>
          <p:cNvPicPr>
            <a:picLocks noChangeAspect="1"/>
          </p:cNvPicPr>
          <p:nvPr/>
        </p:nvPicPr>
        <p:blipFill>
          <a:blip r:embed="rId1"/>
          <a:stretch>
            <a:fillRect/>
          </a:stretch>
        </p:blipFill>
        <p:spPr>
          <a:xfrm>
            <a:off x="2563118" y="1371600"/>
            <a:ext cx="7062716" cy="4206240"/>
          </a:xfrm>
          <a:prstGeom prst="rect">
            <a:avLst/>
          </a:prstGeom>
        </p:spPr>
      </p:pic>
      <p:sp>
        <p:nvSpPr>
          <p:cNvPr id="8" name="Text 4"/>
          <p:cNvSpPr txBox="1"/>
          <p:nvPr/>
        </p:nvSpPr>
        <p:spPr>
          <a:xfrm>
            <a:off x="548640" y="5669280"/>
            <a:ext cx="1106424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Grey bars = estimates from pretending the toll started on earlier months, long-baseline model. Red line = the real date. The x-axes span tens of µg/m³, which is why that model is discarded and this check is inconclusive.</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New York Public Library, public domain</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APPENDIX</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Check 4 · all monitors in one model</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30 / 36</a:t>
            </a:r>
            <a:endParaRPr lang="en-US" sz="900" dirty="0"/>
          </a:p>
        </p:txBody>
      </p:sp>
      <p:pic>
        <p:nvPicPr>
          <p:cNvPr id="7" name="Image 0" descr="img/A4_check4.png">    </p:cNvPr>
          <p:cNvPicPr>
            <a:picLocks noChangeAspect="1"/>
          </p:cNvPicPr>
          <p:nvPr/>
        </p:nvPicPr>
        <p:blipFill>
          <a:blip r:embed="rId1"/>
          <a:stretch>
            <a:fillRect/>
          </a:stretch>
        </p:blipFill>
        <p:spPr>
          <a:xfrm>
            <a:off x="1597427" y="1371600"/>
            <a:ext cx="8994098" cy="4572000"/>
          </a:xfrm>
          <a:prstGeom prst="rect">
            <a:avLst/>
          </a:prstGeom>
        </p:spPr>
      </p:pic>
      <p:sp>
        <p:nvSpPr>
          <p:cNvPr id="8" name="Text 4"/>
          <p:cNvSpPr txBox="1"/>
          <p:nvPr/>
        </p:nvSpPr>
        <p:spPr>
          <a:xfrm>
            <a:off x="548640" y="6035040"/>
            <a:ext cx="1106424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Every day gets its own baseline, so citywide events cancel. Dots are relative to BQE; none is bootstrap-significant on its own (p 0.09–0.68). In-zone bridges sit left of the Bronx by about 1.3–1.6 µg/m³.</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New York Public Library, public domain</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APPENDIX</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Check 5 · could diverted traffic cause it?</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31 / 36</a:t>
            </a:r>
            <a:endParaRPr lang="en-US" sz="900" dirty="0"/>
          </a:p>
        </p:txBody>
      </p:sp>
      <p:pic>
        <p:nvPicPr>
          <p:cNvPr id="7" name="Image 0" descr="img/s11.png">    </p:cNvPr>
          <p:cNvPicPr>
            <a:picLocks noChangeAspect="1"/>
          </p:cNvPicPr>
          <p:nvPr/>
        </p:nvPicPr>
        <p:blipFill>
          <a:blip r:embed="rId1"/>
          <a:stretch>
            <a:fillRect/>
          </a:stretch>
        </p:blipFill>
        <p:spPr>
          <a:xfrm>
            <a:off x="548640" y="1371600"/>
            <a:ext cx="11091672" cy="4485965"/>
          </a:xfrm>
          <a:prstGeom prst="rect">
            <a:avLst/>
          </a:prstGeom>
        </p:spPr>
      </p:pic>
      <p:sp>
        <p:nvSpPr>
          <p:cNvPr id="8" name="Text 4"/>
          <p:cNvSpPr txBox="1"/>
          <p:nvPr/>
        </p:nvSpPr>
        <p:spPr>
          <a:xfrm>
            <a:off x="548640" y="5949005"/>
            <a:ext cx="1106424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Each dot is one pre-toll day: Throgs Neck traffic vs Mott Haven PM₂.₅. Slope 0.018 µg/m³ per 1,000 vehicles; × 2,041 extra vehicles = 0.04 µg/m³, one-eighth of the +0.30 in question.</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New York Public Library, public domain</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APPENDIX</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Check 6 · Bronx NO₂</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32 / 36</a:t>
            </a:r>
            <a:endParaRPr lang="en-US" sz="900" dirty="0"/>
          </a:p>
        </p:txBody>
      </p:sp>
      <p:pic>
        <p:nvPicPr>
          <p:cNvPr id="7" name="Image 0" descr="img/A6_check6.png">    </p:cNvPr>
          <p:cNvPicPr>
            <a:picLocks noChangeAspect="1"/>
          </p:cNvPicPr>
          <p:nvPr/>
        </p:nvPicPr>
        <p:blipFill>
          <a:blip r:embed="rId1"/>
          <a:stretch>
            <a:fillRect/>
          </a:stretch>
        </p:blipFill>
        <p:spPr>
          <a:xfrm>
            <a:off x="846007" y="1371600"/>
            <a:ext cx="10496939" cy="4572000"/>
          </a:xfrm>
          <a:prstGeom prst="rect">
            <a:avLst/>
          </a:prstGeom>
        </p:spPr>
      </p:pic>
      <p:sp>
        <p:nvSpPr>
          <p:cNvPr id="8" name="Text 4"/>
          <p:cNvSpPr txBox="1"/>
          <p:nvPr/>
        </p:nvSpPr>
        <p:spPr>
          <a:xfrm>
            <a:off x="548640" y="6035040"/>
            <a:ext cx="1106424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NO₂ comes almost entirely from engines. The two state monitors in the Bronx moved with the Queens control: no traffic signal.</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New York Public Library, public domain</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APPENDIX</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Check 7 · plain subtraction, no model</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33 / 36</a:t>
            </a:r>
            <a:endParaRPr lang="en-US" sz="900" dirty="0"/>
          </a:p>
        </p:txBody>
      </p:sp>
      <p:pic>
        <p:nvPicPr>
          <p:cNvPr id="7" name="Image 0" descr="img/A7_check7.png">    </p:cNvPr>
          <p:cNvPicPr>
            <a:picLocks noChangeAspect="1"/>
          </p:cNvPicPr>
          <p:nvPr/>
        </p:nvPicPr>
        <p:blipFill>
          <a:blip r:embed="rId1"/>
          <a:stretch>
            <a:fillRect/>
          </a:stretch>
        </p:blipFill>
        <p:spPr>
          <a:xfrm>
            <a:off x="1600797" y="1371600"/>
            <a:ext cx="8987358" cy="4663440"/>
          </a:xfrm>
          <a:prstGeom prst="rect">
            <a:avLst/>
          </a:prstGeom>
        </p:spPr>
      </p:pic>
      <p:sp>
        <p:nvSpPr>
          <p:cNvPr id="8" name="Text 4"/>
          <p:cNvSpPr txBox="1"/>
          <p:nvPr/>
        </p:nvSpPr>
        <p:spPr>
          <a:xfrm>
            <a:off x="548640" y="6126480"/>
            <a:ext cx="1106424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2025 minus 2024 on matched calendar days, minus the control's change. Negative = improved relative to the control.</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New York Public Library, public domain</a:t>
            </a:r>
            <a:endParaRPr lang="en-US" sz="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APPENDIX</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Check 8 · simpler model, one term removed</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34 / 36</a:t>
            </a:r>
            <a:endParaRPr lang="en-US" sz="900" dirty="0"/>
          </a:p>
        </p:txBody>
      </p:sp>
      <p:pic>
        <p:nvPicPr>
          <p:cNvPr id="7" name="Image 0" descr="img/A8_check8.png">    </p:cNvPr>
          <p:cNvPicPr>
            <a:picLocks noChangeAspect="1"/>
          </p:cNvPicPr>
          <p:nvPr/>
        </p:nvPicPr>
        <p:blipFill>
          <a:blip r:embed="rId1"/>
          <a:stretch>
            <a:fillRect/>
          </a:stretch>
        </p:blipFill>
        <p:spPr>
          <a:xfrm>
            <a:off x="548640" y="1463040"/>
            <a:ext cx="11091672" cy="3198099"/>
          </a:xfrm>
          <a:prstGeom prst="rect">
            <a:avLst/>
          </a:prstGeom>
        </p:spPr>
      </p:pic>
      <p:sp>
        <p:nvSpPr>
          <p:cNvPr id="8" name="Text 4"/>
          <p:cNvSpPr txBox="1"/>
          <p:nvPr/>
        </p:nvSpPr>
        <p:spPr>
          <a:xfrm>
            <a:off x="548640" y="4770867"/>
            <a:ext cx="1106424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A result that keeps its sign and significance is sturdy. Mott Haven flips from +0.30 to −0.65, so no direction is claimed for it. Queensboro becomes significant only in the simpler model.</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New York Public Library, public domain</a:t>
            </a:r>
            <a:endParaRPr lang="en-US" sz="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APPENDIX</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Check 9 · outside-zone sensors (coverage; results on slide 12)</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35 / 36</a:t>
            </a:r>
            <a:endParaRPr lang="en-US" sz="900" dirty="0"/>
          </a:p>
        </p:txBody>
      </p:sp>
      <p:pic>
        <p:nvPicPr>
          <p:cNvPr id="7" name="Image 0" descr="img/s28.png">    </p:cNvPr>
          <p:cNvPicPr>
            <a:picLocks noChangeAspect="1"/>
          </p:cNvPicPr>
          <p:nvPr/>
        </p:nvPicPr>
        <p:blipFill>
          <a:blip r:embed="rId1"/>
          <a:stretch>
            <a:fillRect/>
          </a:stretch>
        </p:blipFill>
        <p:spPr>
          <a:xfrm>
            <a:off x="548640" y="1463040"/>
            <a:ext cx="11091672" cy="2797566"/>
          </a:xfrm>
          <a:prstGeom prst="rect">
            <a:avLst/>
          </a:prstGeom>
        </p:spPr>
      </p:pic>
      <p:sp>
        <p:nvSpPr>
          <p:cNvPr id="8" name="Text 4"/>
          <p:cNvSpPr txBox="1"/>
          <p:nvPr/>
        </p:nvSpPr>
        <p:spPr>
          <a:xfrm>
            <a:off x="548640" y="4370334"/>
            <a:ext cx="11064240" cy="457200"/>
          </a:xfrm>
          <a:prstGeom prst="rect">
            <a:avLst/>
          </a:prstGeom>
          <a:noFill/>
          <a:ln/>
        </p:spPr>
        <p:txBody>
          <a:bodyPr wrap="square" lIns="0" tIns="0" rIns="0" bIns="0" rtlCol="0" anchor="t"/>
          <a:lstStyle/>
          <a:p>
            <a:pPr indent="0" marL="0">
              <a:buNone/>
            </a:pPr>
            <a:r>
              <a:rPr lang="en-US" sz="1050" i="1" dirty="0">
                <a:solidFill>
                  <a:srgbClr val="6B6B6B"/>
                </a:solidFill>
                <a:latin typeface="Arial" pitchFamily="34" charset="0"/>
                <a:ea typeface="Arial" pitchFamily="34" charset="-122"/>
                <a:cs typeface="Arial" pitchFamily="34" charset="-120"/>
              </a:rPr>
              <a:t>Twelve candidates screened; three pass the 80% coverage bar, six pass 70%. All require 200+ pre-toll days. Readings EPA-corrected (Barkjohn 2021).</a:t>
            </a:r>
            <a:endParaRPr lang="en-US" sz="105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New York Public Library, public domain</a:t>
            </a:r>
            <a:endParaRPr lang="en-US" sz="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Bg"/>
          <a:srcRect/>
          <a:stretch>
            <a:fillRect/>
          </a:stretch>
        </a:blipFill>
        <a:effectLst/>
      </p:bgPr>
    </p:bg>
    <p:spTree>
      <p:nvGrpSpPr>
        <p:cNvPr id="1" name=""/>
        <p:cNvGrpSpPr/>
        <p:nvPr/>
      </p:nvGrpSpPr>
      <p:grpSpPr>
        <a:xfrm>
          <a:off x="0" y="0"/>
          <a:ext cx="0" cy="0"/>
          <a:chOff x="0" y="0"/>
          <a:chExt cx="0" cy="0"/>
        </a:xfrm>
      </p:grpSpPr>
      <p:sp>
        <p:nvSpPr>
          <p:cNvPr id="951" name="Footer bar"/>
          <p:cNvSpPr/>
          <p:nvPr/>
        </p:nvSpPr>
        <p:spPr>
          <a:xfrm>
            <a:off x="0" y="6355080"/>
            <a:ext cx="12191695" cy="502920"/>
          </a:xfrm>
          <a:prstGeom prst="rect">
            <a:avLst/>
          </a:prstGeom>
          <a:solidFill>
            <a:srgbClr val="FFFFFF">
              <a:alpha val="72000"/>
            </a:srgbClr>
          </a:solidFill>
          <a:ln>
            <a:noFill/>
          </a:ln>
        </p:spPr>
        <p:txBody>
          <a:bodyPr/>
          <a:lstStyle/>
          <a:p>
            <a:endParaRPr lang="en-US"/>
          </a:p>
        </p:txBody>
      </p:sp>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050" b="1" spc="200" kern="0" dirty="0">
                <a:solidFill>
                  <a:srgbClr val="4B2E83"/>
                </a:solidFill>
                <a:latin typeface="Arial" pitchFamily="34" charset="0"/>
                <a:ea typeface="Arial" pitchFamily="34" charset="-122"/>
                <a:cs typeface="Arial" pitchFamily="34" charset="-120"/>
              </a:rPr>
              <a:t>APPENDIX</a:t>
            </a:r>
            <a:endParaRPr lang="en-US" sz="105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A1A1A"/>
                </a:solidFill>
                <a:latin typeface="Cambria" pitchFamily="34" charset="0"/>
                <a:ea typeface="Cambria" pitchFamily="34" charset="-122"/>
                <a:cs typeface="Cambria" pitchFamily="34" charset="-120"/>
              </a:rPr>
              <a:t>Limitations</a:t>
            </a:r>
            <a:endParaRPr lang="en-US" sz="3000" dirty="0"/>
          </a:p>
        </p:txBody>
      </p:sp>
      <p:sp>
        <p:nvSpPr>
          <p:cNvPr id="4"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rgbClr val="6B6B6B"/>
                </a:solidFill>
                <a:latin typeface="Arial" pitchFamily="34" charset="0"/>
                <a:ea typeface="Arial" pitchFamily="34" charset="-122"/>
                <a:cs typeface="Arial" pitchFamily="34" charset="-120"/>
              </a:rPr>
              <a:t>The Toll It Takes  ·  NYC Congestion Pricing Datathon 2026</a:t>
            </a:r>
            <a:endParaRPr lang="en-US" sz="900" dirty="0"/>
          </a:p>
        </p:txBody>
      </p:sp>
      <p:sp>
        <p:nvSpPr>
          <p:cNvPr id="5" name="Text 3"/>
          <p:cNvSpPr txBox="1"/>
          <p:nvPr/>
        </p:nvSpPr>
        <p:spPr>
          <a:xfrm>
            <a:off x="10271455" y="6446520"/>
            <a:ext cx="1371600" cy="228600"/>
          </a:xfrm>
          <a:prstGeom prst="rect">
            <a:avLst/>
          </a:prstGeom>
          <a:noFill/>
          <a:ln/>
        </p:spPr>
        <p:txBody>
          <a:bodyPr wrap="square" lIns="0" tIns="0" rIns="0" bIns="0" rtlCol="0" anchor="ctr"/>
          <a:lstStyle/>
          <a:p>
            <a:pPr algn="r" indent="0" marL="0">
              <a:buNone/>
            </a:pPr>
            <a:r>
              <a:rPr lang="en-US" sz="900" dirty="0">
                <a:solidFill>
                  <a:srgbClr val="6B6B6B"/>
                </a:solidFill>
                <a:latin typeface="Arial" pitchFamily="34" charset="0"/>
                <a:ea typeface="Arial" pitchFamily="34" charset="-122"/>
                <a:cs typeface="Arial" pitchFamily="34" charset="-120"/>
              </a:rPr>
              <a:t>36 / 36</a:t>
            </a:r>
            <a:endParaRPr lang="en-US" sz="900" dirty="0"/>
          </a:p>
        </p:txBody>
      </p:sp>
      <p:sp>
        <p:nvSpPr>
          <p:cNvPr id="7" name="Text 4"/>
          <p:cNvSpPr txBox="1"/>
          <p:nvPr/>
        </p:nvSpPr>
        <p:spPr>
          <a:xfrm>
            <a:off x="548640" y="1463040"/>
            <a:ext cx="457200" cy="457200"/>
          </a:xfrm>
          <a:prstGeom prst="rect">
            <a:avLst/>
          </a:prstGeom>
          <a:noFill/>
          <a:ln/>
        </p:spPr>
        <p:txBody>
          <a:bodyPr wrap="square" lIns="0" tIns="0" rIns="0" bIns="0" rtlCol="0" anchor="ctr"/>
          <a:lstStyle/>
          <a:p>
            <a:pPr indent="0" marL="0">
              <a:buNone/>
            </a:pPr>
            <a:r>
              <a:rPr lang="en-US" sz="2200" b="1" dirty="0">
                <a:solidFill>
                  <a:srgbClr val="4B2E83"/>
                </a:solidFill>
                <a:latin typeface="Cambria" pitchFamily="34" charset="0"/>
                <a:ea typeface="Cambria" pitchFamily="34" charset="-122"/>
                <a:cs typeface="Cambria" pitchFamily="34" charset="-120"/>
              </a:rPr>
              <a:t>1</a:t>
            </a:r>
            <a:endParaRPr lang="en-US" sz="2200" dirty="0"/>
          </a:p>
        </p:txBody>
      </p:sp>
      <p:sp>
        <p:nvSpPr>
          <p:cNvPr id="8" name="Text 5"/>
          <p:cNvSpPr txBox="1"/>
          <p:nvPr/>
        </p:nvSpPr>
        <p:spPr>
          <a:xfrm>
            <a:off x="1097280" y="1481328"/>
            <a:ext cx="10515600" cy="777240"/>
          </a:xfrm>
          <a:prstGeom prst="rect">
            <a:avLst/>
          </a:prstGeom>
          <a:noFill/>
          <a:ln/>
        </p:spPr>
        <p:txBody>
          <a:bodyPr wrap="square" lIns="0" tIns="0" rIns="0" bIns="0" rtlCol="0" anchor="t"/>
          <a:lstStyle/>
          <a:p>
            <a:pPr indent="0" marL="0">
              <a:lnSpc>
                <a:spcPct val="120000"/>
              </a:lnSpc>
              <a:buNone/>
            </a:pPr>
            <a:r>
              <a:rPr lang="en-US" sz="1500" dirty="0">
                <a:solidFill>
                  <a:srgbClr val="1A1A1A"/>
                </a:solidFill>
                <a:latin typeface="Arial" pitchFamily="34" charset="0"/>
                <a:ea typeface="Arial" pitchFamily="34" charset="-122"/>
                <a:cs typeface="Arial" pitchFamily="34" charset="-120"/>
              </a:rPr>
              <a:t>Control drift: both Queens controls fell from 2024 to 2025, so outside-zone “increases” relative to them may be partly control drift, not site worsening.</a:t>
            </a:r>
            <a:endParaRPr lang="en-US" sz="1500" dirty="0"/>
          </a:p>
        </p:txBody>
      </p:sp>
      <p:sp>
        <p:nvSpPr>
          <p:cNvPr id="9" name="Text 6"/>
          <p:cNvSpPr txBox="1"/>
          <p:nvPr/>
        </p:nvSpPr>
        <p:spPr>
          <a:xfrm>
            <a:off x="548640" y="2377440"/>
            <a:ext cx="457200" cy="457200"/>
          </a:xfrm>
          <a:prstGeom prst="rect">
            <a:avLst/>
          </a:prstGeom>
          <a:noFill/>
          <a:ln/>
        </p:spPr>
        <p:txBody>
          <a:bodyPr wrap="square" lIns="0" tIns="0" rIns="0" bIns="0" rtlCol="0" anchor="ctr"/>
          <a:lstStyle/>
          <a:p>
            <a:pPr indent="0" marL="0">
              <a:buNone/>
            </a:pPr>
            <a:r>
              <a:rPr lang="en-US" sz="2200" b="1" dirty="0">
                <a:solidFill>
                  <a:srgbClr val="4B2E83"/>
                </a:solidFill>
                <a:latin typeface="Cambria" pitchFamily="34" charset="0"/>
                <a:ea typeface="Cambria" pitchFamily="34" charset="-122"/>
                <a:cs typeface="Cambria" pitchFamily="34" charset="-120"/>
              </a:rPr>
              <a:t>2</a:t>
            </a:r>
            <a:endParaRPr lang="en-US" sz="2200" dirty="0"/>
          </a:p>
        </p:txBody>
      </p:sp>
      <p:sp>
        <p:nvSpPr>
          <p:cNvPr id="10" name="Text 7"/>
          <p:cNvSpPr txBox="1"/>
          <p:nvPr/>
        </p:nvSpPr>
        <p:spPr>
          <a:xfrm>
            <a:off x="1097280" y="2395728"/>
            <a:ext cx="10515600" cy="777240"/>
          </a:xfrm>
          <a:prstGeom prst="rect">
            <a:avLst/>
          </a:prstGeom>
          <a:noFill/>
          <a:ln/>
        </p:spPr>
        <p:txBody>
          <a:bodyPr wrap="square" lIns="0" tIns="0" rIns="0" bIns="0" rtlCol="0" anchor="t"/>
          <a:lstStyle/>
          <a:p>
            <a:pPr indent="0" marL="0">
              <a:lnSpc>
                <a:spcPct val="120000"/>
              </a:lnSpc>
              <a:buNone/>
            </a:pPr>
            <a:r>
              <a:rPr lang="en-US" sz="1500" dirty="0">
                <a:solidFill>
                  <a:srgbClr val="1A1A1A"/>
                </a:solidFill>
                <a:latin typeface="Arial" pitchFamily="34" charset="0"/>
                <a:ea typeface="Arial" pitchFamily="34" charset="-122"/>
                <a:cs typeface="Arial" pitchFamily="34" charset="-120"/>
              </a:rPr>
              <a:t>Volunteer sensors: three primary sensors, all outside the zone. No non-designated outside-zone NYCCAS monitor exists.</a:t>
            </a:r>
            <a:endParaRPr lang="en-US" sz="1500" dirty="0"/>
          </a:p>
        </p:txBody>
      </p:sp>
      <p:sp>
        <p:nvSpPr>
          <p:cNvPr id="11" name="Text 8"/>
          <p:cNvSpPr txBox="1"/>
          <p:nvPr/>
        </p:nvSpPr>
        <p:spPr>
          <a:xfrm>
            <a:off x="548640" y="3291840"/>
            <a:ext cx="457200" cy="457200"/>
          </a:xfrm>
          <a:prstGeom prst="rect">
            <a:avLst/>
          </a:prstGeom>
          <a:noFill/>
          <a:ln/>
        </p:spPr>
        <p:txBody>
          <a:bodyPr wrap="square" lIns="0" tIns="0" rIns="0" bIns="0" rtlCol="0" anchor="ctr"/>
          <a:lstStyle/>
          <a:p>
            <a:pPr indent="0" marL="0">
              <a:buNone/>
            </a:pPr>
            <a:r>
              <a:rPr lang="en-US" sz="2200" b="1" dirty="0">
                <a:solidFill>
                  <a:srgbClr val="4B2E83"/>
                </a:solidFill>
                <a:latin typeface="Cambria" pitchFamily="34" charset="0"/>
                <a:ea typeface="Cambria" pitchFamily="34" charset="-122"/>
                <a:cs typeface="Cambria" pitchFamily="34" charset="-120"/>
              </a:rPr>
              <a:t>3</a:t>
            </a:r>
            <a:endParaRPr lang="en-US" sz="2200" dirty="0"/>
          </a:p>
        </p:txBody>
      </p:sp>
      <p:sp>
        <p:nvSpPr>
          <p:cNvPr id="12" name="Text 9"/>
          <p:cNvSpPr txBox="1"/>
          <p:nvPr/>
        </p:nvSpPr>
        <p:spPr>
          <a:xfrm>
            <a:off x="1097280" y="3310128"/>
            <a:ext cx="10515600" cy="777240"/>
          </a:xfrm>
          <a:prstGeom prst="rect">
            <a:avLst/>
          </a:prstGeom>
          <a:noFill/>
          <a:ln/>
        </p:spPr>
        <p:txBody>
          <a:bodyPr wrap="square" lIns="0" tIns="0" rIns="0" bIns="0" rtlCol="0" anchor="t"/>
          <a:lstStyle/>
          <a:p>
            <a:pPr indent="0" marL="0">
              <a:lnSpc>
                <a:spcPct val="120000"/>
              </a:lnSpc>
              <a:buNone/>
            </a:pPr>
            <a:r>
              <a:rPr lang="en-US" sz="1500" dirty="0">
                <a:solidFill>
                  <a:srgbClr val="1A1A1A"/>
                </a:solidFill>
                <a:latin typeface="Arial" pitchFamily="34" charset="0"/>
                <a:ea typeface="Arial" pitchFamily="34" charset="-122"/>
                <a:cs typeface="Arial" pitchFamily="34" charset="-120"/>
              </a:rPr>
              <a:t>Nine pre-toll months at Mott Haven in the main window; the step-only model flips its sign, so no direction is claimed.</a:t>
            </a:r>
            <a:endParaRPr lang="en-US" sz="1500" dirty="0"/>
          </a:p>
        </p:txBody>
      </p:sp>
      <p:sp>
        <p:nvSpPr>
          <p:cNvPr id="13" name="Text 10"/>
          <p:cNvSpPr txBox="1"/>
          <p:nvPr/>
        </p:nvSpPr>
        <p:spPr>
          <a:xfrm>
            <a:off x="548640" y="4206240"/>
            <a:ext cx="457200" cy="457200"/>
          </a:xfrm>
          <a:prstGeom prst="rect">
            <a:avLst/>
          </a:prstGeom>
          <a:noFill/>
          <a:ln/>
        </p:spPr>
        <p:txBody>
          <a:bodyPr wrap="square" lIns="0" tIns="0" rIns="0" bIns="0" rtlCol="0" anchor="ctr"/>
          <a:lstStyle/>
          <a:p>
            <a:pPr indent="0" marL="0">
              <a:buNone/>
            </a:pPr>
            <a:r>
              <a:rPr lang="en-US" sz="2200" b="1" dirty="0">
                <a:solidFill>
                  <a:srgbClr val="4B2E83"/>
                </a:solidFill>
                <a:latin typeface="Cambria" pitchFamily="34" charset="0"/>
                <a:ea typeface="Cambria" pitchFamily="34" charset="-122"/>
                <a:cs typeface="Cambria" pitchFamily="34" charset="-120"/>
              </a:rPr>
              <a:t>4</a:t>
            </a:r>
            <a:endParaRPr lang="en-US" sz="2200" dirty="0"/>
          </a:p>
        </p:txBody>
      </p:sp>
      <p:sp>
        <p:nvSpPr>
          <p:cNvPr id="14" name="Text 11"/>
          <p:cNvSpPr txBox="1"/>
          <p:nvPr/>
        </p:nvSpPr>
        <p:spPr>
          <a:xfrm>
            <a:off x="1097280" y="4224528"/>
            <a:ext cx="10515600" cy="777240"/>
          </a:xfrm>
          <a:prstGeom prst="rect">
            <a:avLst/>
          </a:prstGeom>
          <a:noFill/>
          <a:ln/>
        </p:spPr>
        <p:txBody>
          <a:bodyPr wrap="square" lIns="0" tIns="0" rIns="0" bIns="0" rtlCol="0" anchor="t"/>
          <a:lstStyle/>
          <a:p>
            <a:pPr indent="0" marL="0">
              <a:lnSpc>
                <a:spcPct val="120000"/>
              </a:lnSpc>
              <a:buNone/>
            </a:pPr>
            <a:r>
              <a:rPr lang="en-US" sz="1500" dirty="0">
                <a:solidFill>
                  <a:srgbClr val="1A1A1A"/>
                </a:solidFill>
                <a:latin typeface="Arial" pitchFamily="34" charset="0"/>
                <a:ea typeface="Arial" pitchFamily="34" charset="-122"/>
                <a:cs typeface="Arial" pitchFamily="34" charset="-120"/>
              </a:rPr>
              <a:t>Hunts Point: monitor offline September 2023 to March 2025; no valid estimate at the toll date.</a:t>
            </a:r>
            <a:endParaRPr lang="en-US" sz="1500" dirty="0"/>
          </a:p>
        </p:txBody>
      </p:sp>
      <p:sp>
        <p:nvSpPr>
          <p:cNvPr id="15" name="Text 12"/>
          <p:cNvSpPr txBox="1"/>
          <p:nvPr/>
        </p:nvSpPr>
        <p:spPr>
          <a:xfrm>
            <a:off x="548640" y="5120640"/>
            <a:ext cx="457200" cy="457200"/>
          </a:xfrm>
          <a:prstGeom prst="rect">
            <a:avLst/>
          </a:prstGeom>
          <a:noFill/>
          <a:ln/>
        </p:spPr>
        <p:txBody>
          <a:bodyPr wrap="square" lIns="0" tIns="0" rIns="0" bIns="0" rtlCol="0" anchor="ctr"/>
          <a:lstStyle/>
          <a:p>
            <a:pPr indent="0" marL="0">
              <a:buNone/>
            </a:pPr>
            <a:r>
              <a:rPr lang="en-US" sz="2200" b="1" dirty="0">
                <a:solidFill>
                  <a:srgbClr val="4B2E83"/>
                </a:solidFill>
                <a:latin typeface="Cambria" pitchFamily="34" charset="0"/>
                <a:ea typeface="Cambria" pitchFamily="34" charset="-122"/>
                <a:cs typeface="Cambria" pitchFamily="34" charset="-120"/>
              </a:rPr>
              <a:t>5</a:t>
            </a:r>
            <a:endParaRPr lang="en-US" sz="2200" dirty="0"/>
          </a:p>
        </p:txBody>
      </p:sp>
      <p:sp>
        <p:nvSpPr>
          <p:cNvPr id="16" name="Text 13"/>
          <p:cNvSpPr txBox="1"/>
          <p:nvPr/>
        </p:nvSpPr>
        <p:spPr>
          <a:xfrm>
            <a:off x="1097280" y="5138928"/>
            <a:ext cx="10515600" cy="777240"/>
          </a:xfrm>
          <a:prstGeom prst="rect">
            <a:avLst/>
          </a:prstGeom>
          <a:noFill/>
          <a:ln/>
        </p:spPr>
        <p:txBody>
          <a:bodyPr wrap="square" lIns="0" tIns="0" rIns="0" bIns="0" rtlCol="0" anchor="t"/>
          <a:lstStyle/>
          <a:p>
            <a:pPr indent="0" marL="0">
              <a:lnSpc>
                <a:spcPct val="120000"/>
              </a:lnSpc>
              <a:buNone/>
            </a:pPr>
            <a:r>
              <a:rPr lang="en-US" sz="1500" dirty="0">
                <a:solidFill>
                  <a:srgbClr val="1A1A1A"/>
                </a:solidFill>
                <a:latin typeface="Arial" pitchFamily="34" charset="0"/>
                <a:ea typeface="Arial" pitchFamily="34" charset="-122"/>
                <a:cs typeface="Arial" pitchFamily="34" charset="-120"/>
              </a:rPr>
              <a:t>Boulevard scenario: back-of-envelope. Traffic is about 14% of citywide PM₂.₅; at this monitor that is roughly 1 µg/m³.</a:t>
            </a:r>
            <a:endParaRPr lang="en-US" sz="1500" dirty="0"/>
          </a:p>
        </p:txBody>
      </p:sp>
      <p:sp>
        <p:nvSpPr>
          <p:cNvPr id="950" name="Photo credit"/>
          <p:cNvSpPr txBox="1"/>
          <p:nvPr/>
        </p:nvSpPr>
        <p:spPr>
          <a:xfrm>
            <a:off x="5303520" y="6446520"/>
            <a:ext cx="4846320" cy="228600"/>
          </a:xfrm>
          <a:prstGeom prst="rect">
            <a:avLst/>
          </a:prstGeom>
          <a:noFill/>
        </p:spPr>
        <p:txBody>
          <a:bodyPr wrap="square" lIns="0" tIns="0" rIns="0" bIns="0" rtlCol="0" anchor="ctr"/>
          <a:lstStyle/>
          <a:p>
            <a:pPr indent="0" marL="0" algn="r">
              <a:buNone/>
            </a:pPr>
            <a:r>
              <a:rPr lang="en-US" sz="700" dirty="0">
                <a:solidFill>
                  <a:srgbClr val="9A9A9A"/>
                </a:solidFill>
                <a:latin typeface="Arial" pitchFamily="34" charset="0"/>
              </a:rPr>
              <a:t>Photo: New York Public Library, public domain</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Toll It Takes</dc:title>
  <dc:subject>PptxGenJS Presentation</dc:subject>
  <dc:creator>Furkan Beray</dc:creator>
  <cp:lastModifiedBy>Furkan Beray</cp:lastModifiedBy>
  <cp:revision>1</cp:revision>
  <dcterms:created xsi:type="dcterms:W3CDTF">2026-10-03T22:41:55Z</dcterms:created>
  <dcterms:modified xsi:type="dcterms:W3CDTF">2026-10-03T22:41:55Z</dcterms:modified>
</cp:coreProperties>
</file>