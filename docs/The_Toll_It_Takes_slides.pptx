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The Deegan photo sets the scene: Mott Haven, 44 m from the highway, 6 km outside the toll zone. The question the deck answers is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credible claims in tension. Cornell/MTA documented a ~22% reduction in PM2.5 daily maximum inside the CRZ. South Bronx Unite documented increases at expressway-adjacent sensors in the same period. We tested both using interrupted time series with HAC standard errors, 11 NYCCAS monitors, 2019–2026, with MTA bridge/tunnel crossings as the mechanism check.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monitors total; 5 treatment sites: Cross Bronx Expy, Mott Haven (both outside CRZ, both DAC-designated), Manhattan Bridge, Williamsburg Bridge, Queensboro Bridge (inside or on CRZ boundary). Plus Broadway 35th St, FDR, Hamilton Bridge, BQE, SI Expwy, Midtown DOT in the full panel. Controls: Queens College and Van Wyck. Hunts Point excluded: offline Sept 2023–Mar 2025, zero pre-toll observations at the VW-window start date — no valid step-change can be estimated.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Manhattan Bridge: β_post = −1.33 µg/m³ (SE 0.60, p = 0.028, n = 599). Holds in every spec: weather-adjusted −1.10 (p = 0.020), step-only −0.86 (p = 0.003), pooled panel same direction. Williamsburg Bridge similar: β = −1.04, p = 0.026 (model-dependent in step-only spec, p = 0.065). Both monitors ~800 m inside the CRZ on Manhattan landings of the East River bridges.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Matched day-of-year DiD (Check 7): Van Wyck fell 0.48 µg/m³ vs. 2024; QC fell 0.24 µg/m³. After removing the VW trend: Manhattan −0.60, Williamsburg −0.81, Queensboro −0.14. Bronx: Cross Bronx +0.97, Mott Haven +0.87. PurpleAir: Bay Ridge +0.85, Brooklyn Heights +1.26, East Harlem +1.19. Bay Ridge and Brooklyn Heights look exactly like the Bronx — the organizing variable is inside vs. outside the zone, not borough or EJ status.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robustness checks. Two highlighted:</a:t>
            </a:r>
          </a:p>
          <a:p>
            <a:r>
              <a:t>Check 2 (peak/overnight): Cross Bronx weekday-only β = +0.90 (p = 0.04). One significant result among 22 tests — a hint, consistent with the Throgs Neck diversion route.</a:t>
            </a:r>
          </a:p>
          <a:p>
            <a:r>
              <a:t>Check 5 (mechanism): Throgs Neck slope +0.018 µg/m³ per 1k veh × +2,041 veh/day residual = +0.04 µg/m³ implied — about 1/8 of the observed +0.30 at Mott Haven.</a:t>
            </a:r>
          </a:p>
          <a:p>
            <a:r>
              <a:t>Check 3 (placebo): SD of placebo distributions 7–17 µg/m³; observed effects of 1–3 µg/m³ are not exceptional against that baseline.</a:t>
            </a:r>
          </a:p>
          <a:p>
            <a:r>
              <a:t>Check 8 (step-only): Mott Haven sign reverses (full +0.30, step-only −0.65); Williamsburg model-dependent (p = 0.026 full, p = 0.065 step-only).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in-zone monitor except Queensboro sits in a DAC-designated tract. Every outside-zone monitor with a full pre-toll record is also in a DAC tract. The missing cell (outside-zone, non-EJ) was filled with PurpleAir (Check 9): Bay Ridge, Brooklyn Heights, East Harlem — they moved the same as the Bronx. Panel EJ estimates: B1 −0.07 (p=0.77), B2 −0.38 (p=0.65), B3 +0.02 (p=0.96). Geography explains everything. Inside the zone improved; outside did not — EJ or not.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South Bronx Unite documented real increases. So did we in the raw numbers. The difference is the counterfactual: when we subtract a control monitor, Bay Ridge, Brooklyn Heights, and East Harlem show the same upward shift as the Bronx. That points to a regional PM2.5 background trend, not a toll-specific Bronx effect. Our Cross Bronx peak-hour hint (p=0.04) agrees with SBU's expressway sensors — one result among 22 tests.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Mott Haven monitor sits 44 m from the Major Deegan Expressway and 6 km outside the CRZ. Nine school entries are within 400 m (6 physical locations); nearest: P.S. 043 Jonas Bronck at 76 m. The pre-toll mechanism regression gives a slope of +0.018 µg/m³ per 1,000 veh/day at Throgs Neck (p=0.27, n=144). Traffic contribution ~1–2 µg/m³. Halving corridor traffic → ~0.5–1 µg/m³ reduction — more than any toll effect measured outside the zone. This is a back-of-envelope and being honest about that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H/W 1.02 means building height ≈ street width — a deep urban canyon. 25 trees/mile existing vs. 142 citywide. Canyon discount 13% because continuous canopy reduces vertical ventilation in a deep canyon, limiting dry deposition. Dense typology (14,864 trees at 20-ft spacing): 6,030 kg/yr canyon-adjusted PM2.5, 80,573 kL/yr stormwater. Year-1 = 10% of maturity; year-10 = 55%; year-20 = 90%. Species: Thornless Honeylocust (primary), Swamp White Oak, Lacebark Elm, Ginkgo (male cultivar only). The mitigation funding from congestion pricing revenues should prioritise this corridor.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one-sentence takeaway. Congestion pricing is doing exactly what it was designed to do inside the zone. It is not moving the pollution. But it is also not reaching outside the zone. The EJ question dissolves into the geography question: zone membership and EJ status are nearly collinear in this monitoring network. The policy implication: inside the zone, celebrate the win. Outside, the leverage is in the corridor — the boulevard, the trees, the schools.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full table: all 11 sites, both specs (full and long-baseline), β_post, SE, p, 95% CI. Check 9 sensor QC: 12 PurpleAir candidates; 3 passed coverage gate for primary set (89th &amp; Ridge Ave / Bay Ridge, RGBIV / Brooklyn Heights, FA_O5 / East Harlem). Key limitation: nine pre-toll months at Mott Haven in the VW window; long-baseline QC-only spec uses 2019 data but is exposed to COVID distortions.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itle_bg.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201168" cy="6858000"/>
          </a:xfrm>
          <a:prstGeom prst="rect">
            <a:avLst/>
          </a:prstGeom>
          <a:solidFill>
            <a:srgbClr val="4B2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731520"/>
            <a:ext cx="9144000" cy="3657600"/>
          </a:xfrm>
          <a:prstGeom prst="rect">
            <a:avLst/>
          </a:prstGeom>
          <a:noFill/>
        </p:spPr>
        <p:txBody>
          <a:bodyPr wrap="square"/>
          <a:lstStyle/>
          <a:p>
            <a:pPr algn="l"/>
            <a:r>
              <a:rPr sz="10000" b="1" i="0">
                <a:solidFill>
                  <a:srgbClr val="FFFFFF"/>
                </a:solidFill>
                <a:latin typeface="Arial Narrow"/>
              </a:rPr>
              <a:t>THE TOLL
IT TAKES</a:t>
            </a:r>
          </a:p>
        </p:txBody>
      </p:sp>
      <p:sp>
        <p:nvSpPr>
          <p:cNvPr id="5" name="TextBox 4"/>
          <p:cNvSpPr txBox="1"/>
          <p:nvPr/>
        </p:nvSpPr>
        <p:spPr>
          <a:xfrm>
            <a:off x="384048" y="4617720"/>
            <a:ext cx="10515600" cy="1005840"/>
          </a:xfrm>
          <a:prstGeom prst="rect">
            <a:avLst/>
          </a:prstGeom>
          <a:noFill/>
        </p:spPr>
        <p:txBody>
          <a:bodyPr wrap="square"/>
          <a:lstStyle/>
          <a:p>
            <a:pPr algn="l"/>
            <a:r>
              <a:rPr sz="2200" b="0" i="1">
                <a:solidFill>
                  <a:srgbClr val="CCC8E8"/>
                </a:solidFill>
                <a:latin typeface="Arial"/>
              </a:rPr>
              <a:t>Congestion pricing cleaned the air where it charges.
What about everyone else?</a:t>
            </a:r>
          </a:p>
        </p:txBody>
      </p:sp>
      <p:sp>
        <p:nvSpPr>
          <p:cNvPr id="6" name="TextBox 5"/>
          <p:cNvSpPr txBox="1"/>
          <p:nvPr/>
        </p:nvSpPr>
        <p:spPr>
          <a:xfrm>
            <a:off x="384048" y="5989320"/>
            <a:ext cx="10058400" cy="502920"/>
          </a:xfrm>
          <a:prstGeom prst="rect">
            <a:avLst/>
          </a:prstGeom>
          <a:noFill/>
        </p:spPr>
        <p:txBody>
          <a:bodyPr wrap="square"/>
          <a:lstStyle/>
          <a:p>
            <a:pPr algn="l"/>
            <a:r>
              <a:rPr sz="1400" b="0" i="0">
                <a:solidFill>
                  <a:srgbClr val="AAA5C5"/>
                </a:solidFill>
                <a:latin typeface="Arial"/>
              </a:rPr>
              <a:t>Furkan Beray  ·  NYC Congestion Pricing Datathon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4B2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85855" cy="347472"/>
          </a:xfrm>
          <a:prstGeom prst="rect">
            <a:avLst/>
          </a:prstGeom>
          <a:noFill/>
        </p:spPr>
        <p:txBody>
          <a:bodyPr wrap="square"/>
          <a:lstStyle/>
          <a:p>
            <a:pPr algn="l"/>
            <a:r>
              <a:rPr sz="1000" b="1" i="0">
                <a:solidFill>
                  <a:srgbClr val="4B2E83"/>
                </a:solidFill>
                <a:latin typeface="Arial"/>
              </a:rPr>
              <a:t>THE QUESTION</a:t>
            </a:r>
          </a:p>
        </p:txBody>
      </p:sp>
      <p:sp>
        <p:nvSpPr>
          <p:cNvPr id="4" name="TextBox 3"/>
          <p:cNvSpPr txBox="1"/>
          <p:nvPr/>
        </p:nvSpPr>
        <p:spPr>
          <a:xfrm>
            <a:off x="502920" y="758952"/>
            <a:ext cx="11185855" cy="502920"/>
          </a:xfrm>
          <a:prstGeom prst="rect">
            <a:avLst/>
          </a:prstGeom>
          <a:noFill/>
        </p:spPr>
        <p:txBody>
          <a:bodyPr wrap="square"/>
          <a:lstStyle/>
          <a:p>
            <a:pPr algn="l"/>
            <a:r>
              <a:rPr sz="2600" b="1" i="0">
                <a:solidFill>
                  <a:srgbClr val="2A2D2B"/>
                </a:solidFill>
                <a:latin typeface="Arial"/>
              </a:rPr>
              <a:t>Is congestion pricing eliminating pollution, or moving it?</a:t>
            </a:r>
          </a:p>
        </p:txBody>
      </p:sp>
      <p:sp>
        <p:nvSpPr>
          <p:cNvPr id="5" name="TextBox 4"/>
          <p:cNvSpPr txBox="1"/>
          <p:nvPr/>
        </p:nvSpPr>
        <p:spPr>
          <a:xfrm>
            <a:off x="502920" y="1298448"/>
            <a:ext cx="11185855" cy="1828800"/>
          </a:xfrm>
          <a:prstGeom prst="rect">
            <a:avLst/>
          </a:prstGeom>
          <a:noFill/>
        </p:spPr>
        <p:txBody>
          <a:bodyPr wrap="square"/>
          <a:lstStyle/>
          <a:p>
            <a:pPr algn="l"/>
            <a:r>
              <a:rPr sz="2600" b="0" i="0">
                <a:solidFill>
                  <a:srgbClr val="2A2D2B"/>
                </a:solidFill>
                <a:latin typeface="Arial"/>
              </a:rPr>
              <a:t>“Is congestion pricing eliminating pollution, or moving it? And if moving, toward neighborhoods already most vulnerable?”</a:t>
            </a:r>
          </a:p>
        </p:txBody>
      </p:sp>
      <p:cxnSp>
        <p:nvCxnSpPr>
          <p:cNvPr id="6" name="Connector 5"/>
          <p:cNvCxnSpPr/>
          <p:nvPr/>
        </p:nvCxnSpPr>
        <p:spPr>
          <a:xfrm>
            <a:off x="502920" y="3200400"/>
            <a:ext cx="11185855" cy="0"/>
          </a:xfrm>
          <a:prstGeom prst="line">
            <a:avLst/>
          </a:prstGeom>
          <a:ln w="9525">
            <a:solidFill>
              <a:srgbClr val="D8DBD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502920" y="3337560"/>
            <a:ext cx="5432907" cy="2468880"/>
          </a:xfrm>
          <a:prstGeom prst="rect">
            <a:avLst/>
          </a:prstGeom>
          <a:solidFill>
            <a:srgbClr val="E9E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3474720"/>
            <a:ext cx="5176875" cy="1051560"/>
          </a:xfrm>
          <a:prstGeom prst="rect">
            <a:avLst/>
          </a:prstGeom>
          <a:noFill/>
        </p:spPr>
        <p:txBody>
          <a:bodyPr wrap="square"/>
          <a:lstStyle/>
          <a:p>
            <a:pPr algn="l"/>
            <a:r>
              <a:rPr sz="3000" b="1" i="0">
                <a:solidFill>
                  <a:srgbClr val="2F6B3A"/>
                </a:solidFill>
                <a:latin typeface="Arial"/>
              </a:rPr>
              <a:t>−22%  PM₂.₅ daily max
inside the zone</a:t>
            </a:r>
          </a:p>
        </p:txBody>
      </p:sp>
      <p:sp>
        <p:nvSpPr>
          <p:cNvPr id="9" name="TextBox 8"/>
          <p:cNvSpPr txBox="1"/>
          <p:nvPr/>
        </p:nvSpPr>
        <p:spPr>
          <a:xfrm>
            <a:off x="667512" y="4480560"/>
            <a:ext cx="5176875" cy="1188720"/>
          </a:xfrm>
          <a:prstGeom prst="rect">
            <a:avLst/>
          </a:prstGeom>
          <a:noFill/>
        </p:spPr>
        <p:txBody>
          <a:bodyPr wrap="square"/>
          <a:lstStyle/>
          <a:p>
            <a:pPr algn="l"/>
            <a:r>
              <a:rPr sz="1200" b="0" i="0">
                <a:solidFill>
                  <a:srgbClr val="2A2D2B"/>
                </a:solidFill>
                <a:latin typeface="Arial"/>
              </a:rPr>
              <a:t>Cornell / MTA headline: significant reduction in peak PM₂.₅ inside the Congestion Relief Zone after January 5, 2025.</a:t>
            </a:r>
          </a:p>
        </p:txBody>
      </p:sp>
      <p:sp>
        <p:nvSpPr>
          <p:cNvPr id="10" name="Rectangle 9"/>
          <p:cNvSpPr/>
          <p:nvPr/>
        </p:nvSpPr>
        <p:spPr>
          <a:xfrm>
            <a:off x="6255867" y="3337560"/>
            <a:ext cx="5432907" cy="2468880"/>
          </a:xfrm>
          <a:prstGeom prst="rect">
            <a:avLst/>
          </a:prstGeom>
          <a:solidFill>
            <a:srgbClr val="F6E4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0459" y="3474720"/>
            <a:ext cx="5176875" cy="1051560"/>
          </a:xfrm>
          <a:prstGeom prst="rect">
            <a:avLst/>
          </a:prstGeom>
          <a:noFill/>
        </p:spPr>
        <p:txBody>
          <a:bodyPr wrap="square"/>
          <a:lstStyle/>
          <a:p>
            <a:pPr algn="l"/>
            <a:r>
              <a:rPr sz="3000" b="1" i="0">
                <a:solidFill>
                  <a:srgbClr val="B4391B"/>
                </a:solidFill>
                <a:latin typeface="Arial"/>
              </a:rPr>
              <a:t>Increases near
Bronx expressways</a:t>
            </a:r>
          </a:p>
        </p:txBody>
      </p:sp>
      <p:sp>
        <p:nvSpPr>
          <p:cNvPr id="12" name="TextBox 11"/>
          <p:cNvSpPr txBox="1"/>
          <p:nvPr/>
        </p:nvSpPr>
        <p:spPr>
          <a:xfrm>
            <a:off x="6420459" y="4480560"/>
            <a:ext cx="5176875" cy="1188720"/>
          </a:xfrm>
          <a:prstGeom prst="rect">
            <a:avLst/>
          </a:prstGeom>
          <a:noFill/>
        </p:spPr>
        <p:txBody>
          <a:bodyPr wrap="square"/>
          <a:lstStyle/>
          <a:p>
            <a:pPr algn="l"/>
            <a:r>
              <a:rPr sz="1200" b="0" i="0">
                <a:solidFill>
                  <a:srgbClr val="2A2D2B"/>
                </a:solidFill>
                <a:latin typeface="Arial"/>
              </a:rPr>
              <a:t>South Bronx Unite community sensors: PM₂.₅ rising at 12–14 of 19 sensors, avg +0.22 µg/m³, up to +1.29 near expressways.</a:t>
            </a:r>
          </a:p>
        </p:txBody>
      </p:sp>
      <p:sp>
        <p:nvSpPr>
          <p:cNvPr id="13" name="TextBox 12"/>
          <p:cNvSpPr txBox="1"/>
          <p:nvPr/>
        </p:nvSpPr>
        <p:spPr>
          <a:xfrm>
            <a:off x="502920" y="5870448"/>
            <a:ext cx="11185855" cy="411480"/>
          </a:xfrm>
          <a:prstGeom prst="rect">
            <a:avLst/>
          </a:prstGeom>
          <a:noFill/>
        </p:spPr>
        <p:txBody>
          <a:bodyPr wrap="square"/>
          <a:lstStyle/>
          <a:p>
            <a:pPr algn="l"/>
            <a:r>
              <a:rPr sz="1500" b="1" i="0">
                <a:solidFill>
                  <a:srgbClr val="4B2E83"/>
                </a:solidFill>
                <a:latin typeface="Arial"/>
              </a:rPr>
              <a:t>We tested both.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4B2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85855" cy="347472"/>
          </a:xfrm>
          <a:prstGeom prst="rect">
            <a:avLst/>
          </a:prstGeom>
          <a:noFill/>
        </p:spPr>
        <p:txBody>
          <a:bodyPr wrap="square"/>
          <a:lstStyle/>
          <a:p>
            <a:pPr algn="l"/>
            <a:r>
              <a:rPr sz="1000" b="1" i="0">
                <a:solidFill>
                  <a:srgbClr val="4B2E83"/>
                </a:solidFill>
                <a:latin typeface="Arial"/>
              </a:rPr>
              <a:t>THE DATA</a:t>
            </a:r>
          </a:p>
        </p:txBody>
      </p:sp>
      <p:sp>
        <p:nvSpPr>
          <p:cNvPr id="4" name="TextBox 3"/>
          <p:cNvSpPr txBox="1"/>
          <p:nvPr/>
        </p:nvSpPr>
        <p:spPr>
          <a:xfrm>
            <a:off x="502920" y="758952"/>
            <a:ext cx="11185855" cy="502920"/>
          </a:xfrm>
          <a:prstGeom prst="rect">
            <a:avLst/>
          </a:prstGeom>
          <a:noFill/>
        </p:spPr>
        <p:txBody>
          <a:bodyPr wrap="square"/>
          <a:lstStyle/>
          <a:p>
            <a:pPr algn="l"/>
            <a:r>
              <a:rPr sz="2600" b="1" i="0">
                <a:solidFill>
                  <a:srgbClr val="2A2D2B"/>
                </a:solidFill>
                <a:latin typeface="Arial"/>
              </a:rPr>
              <a:t>11 monitors  ·  2 controls  ·  2019–2026  ·  plus MTA crossings</a:t>
            </a:r>
          </a:p>
        </p:txBody>
      </p:sp>
      <p:pic>
        <p:nvPicPr>
          <p:cNvPr id="5" name="Picture 4" descr="map_section1.png"/>
          <p:cNvPicPr>
            <a:picLocks noChangeAspect="1"/>
          </p:cNvPicPr>
          <p:nvPr/>
        </p:nvPicPr>
        <p:blipFill>
          <a:blip r:embed="rId2"/>
          <a:stretch>
            <a:fillRect/>
          </a:stretch>
        </p:blipFill>
        <p:spPr>
          <a:xfrm>
            <a:off x="502920" y="1298448"/>
            <a:ext cx="11185855" cy="4846320"/>
          </a:xfrm>
          <a:prstGeom prst="rect">
            <a:avLst/>
          </a:prstGeom>
        </p:spPr>
      </p:pic>
      <p:sp>
        <p:nvSpPr>
          <p:cNvPr id="6" name="TextBox 5"/>
          <p:cNvSpPr txBox="1"/>
          <p:nvPr/>
        </p:nvSpPr>
        <p:spPr>
          <a:xfrm>
            <a:off x="502920" y="6309360"/>
            <a:ext cx="11185855" cy="438912"/>
          </a:xfrm>
          <a:prstGeom prst="rect">
            <a:avLst/>
          </a:prstGeom>
          <a:noFill/>
        </p:spPr>
        <p:txBody>
          <a:bodyPr wrap="square"/>
          <a:lstStyle/>
          <a:p>
            <a:pPr algn="l"/>
            <a:r>
              <a:rPr sz="800" b="0" i="1">
                <a:solidFill>
                  <a:srgbClr val="6B706C"/>
                </a:solidFill>
                <a:latin typeface="Arial"/>
              </a:rPr>
              <a:t>Figure 1. ITS step-changes after the toll (ITS β_post) at 5 treatment sites. Green = improved. Brick = worsened. DAC-designated tracts shaded. CRZ boundary in purple. Controls: Queens College + Van Wyck (not shown). Source: NYCCAS hourly PM₂.₅ 2019–2026; MTA CRZ entries 2025–2026; NYS DAC tracts.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2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85855" cy="347472"/>
          </a:xfrm>
          <a:prstGeom prst="rect">
            <a:avLst/>
          </a:prstGeom>
          <a:noFill/>
        </p:spPr>
        <p:txBody>
          <a:bodyPr wrap="square"/>
          <a:lstStyle/>
          <a:p>
            <a:pPr algn="l"/>
            <a:r>
              <a:rPr sz="1000" b="1" i="0">
                <a:solidFill>
                  <a:srgbClr val="2F6B3A"/>
                </a:solidFill>
                <a:latin typeface="Arial"/>
              </a:rPr>
              <a:t>FINDING 1 — INSIDE THE ZONE</a:t>
            </a:r>
          </a:p>
        </p:txBody>
      </p:sp>
      <p:sp>
        <p:nvSpPr>
          <p:cNvPr id="4" name="TextBox 3"/>
          <p:cNvSpPr txBox="1"/>
          <p:nvPr/>
        </p:nvSpPr>
        <p:spPr>
          <a:xfrm>
            <a:off x="502920" y="758952"/>
            <a:ext cx="11185855" cy="502920"/>
          </a:xfrm>
          <a:prstGeom prst="rect">
            <a:avLst/>
          </a:prstGeom>
          <a:noFill/>
        </p:spPr>
        <p:txBody>
          <a:bodyPr wrap="square"/>
          <a:lstStyle/>
          <a:p>
            <a:pPr algn="l"/>
            <a:r>
              <a:rPr sz="2600" b="1" i="0">
                <a:solidFill>
                  <a:srgbClr val="2A2D2B"/>
                </a:solidFill>
                <a:latin typeface="Arial"/>
              </a:rPr>
              <a:t>Inside the zone, it worked.</a:t>
            </a:r>
          </a:p>
        </p:txBody>
      </p:sp>
      <p:sp>
        <p:nvSpPr>
          <p:cNvPr id="5" name="TextBox 4"/>
          <p:cNvSpPr txBox="1"/>
          <p:nvPr/>
        </p:nvSpPr>
        <p:spPr>
          <a:xfrm>
            <a:off x="502920" y="1298448"/>
            <a:ext cx="5943600" cy="1143000"/>
          </a:xfrm>
          <a:prstGeom prst="rect">
            <a:avLst/>
          </a:prstGeom>
          <a:noFill/>
        </p:spPr>
        <p:txBody>
          <a:bodyPr wrap="square"/>
          <a:lstStyle/>
          <a:p>
            <a:pPr algn="l"/>
            <a:r>
              <a:rPr sz="8000" b="1" i="0">
                <a:solidFill>
                  <a:srgbClr val="2F6B3A"/>
                </a:solidFill>
                <a:latin typeface="Arial"/>
              </a:rPr>
              <a:t>−1.33 µg/m³</a:t>
            </a:r>
          </a:p>
        </p:txBody>
      </p:sp>
      <p:sp>
        <p:nvSpPr>
          <p:cNvPr id="6" name="TextBox 5"/>
          <p:cNvSpPr txBox="1"/>
          <p:nvPr/>
        </p:nvSpPr>
        <p:spPr>
          <a:xfrm>
            <a:off x="502920" y="2377440"/>
            <a:ext cx="10058400" cy="384048"/>
          </a:xfrm>
          <a:prstGeom prst="rect">
            <a:avLst/>
          </a:prstGeom>
          <a:noFill/>
        </p:spPr>
        <p:txBody>
          <a:bodyPr wrap="square"/>
          <a:lstStyle/>
          <a:p>
            <a:pPr algn="l"/>
            <a:r>
              <a:rPr sz="1300" b="0" i="1">
                <a:solidFill>
                  <a:srgbClr val="2A2D2B"/>
                </a:solidFill>
                <a:latin typeface="Arial"/>
              </a:rPr>
              <a:t>p = 0.03  ·  Manhattan Bridge  ·  significant in every specification tested</a:t>
            </a:r>
          </a:p>
        </p:txBody>
      </p:sp>
      <p:pic>
        <p:nvPicPr>
          <p:cNvPr id="7" name="Picture 6" descr="manhattan_bridge_its.png"/>
          <p:cNvPicPr>
            <a:picLocks noChangeAspect="1"/>
          </p:cNvPicPr>
          <p:nvPr/>
        </p:nvPicPr>
        <p:blipFill>
          <a:blip r:embed="rId2"/>
          <a:stretch>
            <a:fillRect/>
          </a:stretch>
        </p:blipFill>
        <p:spPr>
          <a:xfrm>
            <a:off x="502920" y="2816352"/>
            <a:ext cx="11185855" cy="3337560"/>
          </a:xfrm>
          <a:prstGeom prst="rect">
            <a:avLst/>
          </a:prstGeom>
        </p:spPr>
      </p:pic>
      <p:sp>
        <p:nvSpPr>
          <p:cNvPr id="8" name="TextBox 7"/>
          <p:cNvSpPr txBox="1"/>
          <p:nvPr/>
        </p:nvSpPr>
        <p:spPr>
          <a:xfrm>
            <a:off x="502920" y="6309360"/>
            <a:ext cx="11185855" cy="438912"/>
          </a:xfrm>
          <a:prstGeom prst="rect">
            <a:avLst/>
          </a:prstGeom>
          <a:noFill/>
        </p:spPr>
        <p:txBody>
          <a:bodyPr wrap="square"/>
          <a:lstStyle/>
          <a:p>
            <a:pPr algn="l"/>
            <a:r>
              <a:rPr sz="800" b="0" i="1">
                <a:solidFill>
                  <a:srgbClr val="6B706C"/>
                </a:solidFill>
                <a:latin typeface="Arial"/>
              </a:rPr>
              <a:t>Section 2: Observed vs. counterfactual monthly mean PM₂.₅, Manhattan Bridge. Purple vertical line: toll launch Jan 5, 2025. Counterfactual anchored on Queens College + Van Wyck. Source: NYCCAS 2019–2026.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B439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85855" cy="347472"/>
          </a:xfrm>
          <a:prstGeom prst="rect">
            <a:avLst/>
          </a:prstGeom>
          <a:noFill/>
        </p:spPr>
        <p:txBody>
          <a:bodyPr wrap="square"/>
          <a:lstStyle/>
          <a:p>
            <a:pPr algn="l"/>
            <a:r>
              <a:rPr sz="1000" b="1" i="0">
                <a:solidFill>
                  <a:srgbClr val="B4391B"/>
                </a:solidFill>
                <a:latin typeface="Arial"/>
              </a:rPr>
              <a:t>FINDING 2 — OUTSIDE THE ZONE</a:t>
            </a:r>
          </a:p>
        </p:txBody>
      </p:sp>
      <p:sp>
        <p:nvSpPr>
          <p:cNvPr id="4" name="TextBox 3"/>
          <p:cNvSpPr txBox="1"/>
          <p:nvPr/>
        </p:nvSpPr>
        <p:spPr>
          <a:xfrm>
            <a:off x="502920" y="758952"/>
            <a:ext cx="11185855" cy="502920"/>
          </a:xfrm>
          <a:prstGeom prst="rect">
            <a:avLst/>
          </a:prstGeom>
          <a:noFill/>
        </p:spPr>
        <p:txBody>
          <a:bodyPr wrap="square"/>
          <a:lstStyle/>
          <a:p>
            <a:pPr algn="l"/>
            <a:r>
              <a:rPr sz="2600" b="1" i="0">
                <a:solidFill>
                  <a:srgbClr val="2A2D2B"/>
                </a:solidFill>
                <a:latin typeface="Arial"/>
              </a:rPr>
              <a:t>Outside the zone, nothing changed.</a:t>
            </a:r>
          </a:p>
        </p:txBody>
      </p:sp>
      <p:pic>
        <p:nvPicPr>
          <p:cNvPr id="5" name="Picture 4" descr="check7_table.png"/>
          <p:cNvPicPr>
            <a:picLocks noChangeAspect="1"/>
          </p:cNvPicPr>
          <p:nvPr/>
        </p:nvPicPr>
        <p:blipFill>
          <a:blip r:embed="rId2"/>
          <a:stretch>
            <a:fillRect/>
          </a:stretch>
        </p:blipFill>
        <p:spPr>
          <a:xfrm>
            <a:off x="502920" y="1298448"/>
            <a:ext cx="11185855" cy="4434840"/>
          </a:xfrm>
          <a:prstGeom prst="rect">
            <a:avLst/>
          </a:prstGeom>
        </p:spPr>
      </p:pic>
      <p:sp>
        <p:nvSpPr>
          <p:cNvPr id="6" name="TextBox 5"/>
          <p:cNvSpPr txBox="1"/>
          <p:nvPr/>
        </p:nvSpPr>
        <p:spPr>
          <a:xfrm>
            <a:off x="502920" y="5806440"/>
            <a:ext cx="11185855" cy="384048"/>
          </a:xfrm>
          <a:prstGeom prst="rect">
            <a:avLst/>
          </a:prstGeom>
          <a:noFill/>
        </p:spPr>
        <p:txBody>
          <a:bodyPr wrap="square"/>
          <a:lstStyle/>
          <a:p>
            <a:pPr algn="l"/>
            <a:r>
              <a:rPr sz="1300" b="1" i="0">
                <a:solidFill>
                  <a:srgbClr val="2A2D2B"/>
                </a:solidFill>
                <a:latin typeface="Arial"/>
              </a:rPr>
              <a:t>East River bridges → improved.  South Bronx, Brooklyn, East Harlem → flat.</a:t>
            </a:r>
          </a:p>
        </p:txBody>
      </p:sp>
      <p:sp>
        <p:nvSpPr>
          <p:cNvPr id="7" name="TextBox 6"/>
          <p:cNvSpPr txBox="1"/>
          <p:nvPr/>
        </p:nvSpPr>
        <p:spPr>
          <a:xfrm>
            <a:off x="502920" y="6291072"/>
            <a:ext cx="11185855" cy="438912"/>
          </a:xfrm>
          <a:prstGeom prst="rect">
            <a:avLst/>
          </a:prstGeom>
          <a:noFill/>
        </p:spPr>
        <p:txBody>
          <a:bodyPr wrap="square"/>
          <a:lstStyle/>
          <a:p>
            <a:pPr algn="l"/>
            <a:r>
              <a:rPr sz="800" b="0" i="1">
                <a:solidFill>
                  <a:srgbClr val="6B706C"/>
                </a:solidFill>
                <a:latin typeface="Arial"/>
              </a:rPr>
              <a:t>Check 7: Matched day-of-year DiD — site minus Van Wyck, 2025 vs. 2024. Bridges negative; every outside-zone site positive and similar. PurpleAir: EPA-corrected Barkjohn 2021. Source: NYCCAS + PurpleAir 2024–2026.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4B2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85855" cy="347472"/>
          </a:xfrm>
          <a:prstGeom prst="rect">
            <a:avLst/>
          </a:prstGeom>
          <a:noFill/>
        </p:spPr>
        <p:txBody>
          <a:bodyPr wrap="square"/>
          <a:lstStyle/>
          <a:p>
            <a:pPr algn="l"/>
            <a:r>
              <a:rPr sz="1000" b="1" i="0">
                <a:solidFill>
                  <a:srgbClr val="4B2E83"/>
                </a:solidFill>
                <a:latin typeface="Arial"/>
              </a:rPr>
              <a:t>ROBUSTNESS</a:t>
            </a:r>
          </a:p>
        </p:txBody>
      </p:sp>
      <p:sp>
        <p:nvSpPr>
          <p:cNvPr id="4" name="TextBox 3"/>
          <p:cNvSpPr txBox="1"/>
          <p:nvPr/>
        </p:nvSpPr>
        <p:spPr>
          <a:xfrm>
            <a:off x="502920" y="758952"/>
            <a:ext cx="11185855" cy="502920"/>
          </a:xfrm>
          <a:prstGeom prst="rect">
            <a:avLst/>
          </a:prstGeom>
          <a:noFill/>
        </p:spPr>
        <p:txBody>
          <a:bodyPr wrap="square"/>
          <a:lstStyle/>
          <a:p>
            <a:pPr algn="l"/>
            <a:r>
              <a:rPr sz="2600" b="1" i="0">
                <a:solidFill>
                  <a:srgbClr val="2A2D2B"/>
                </a:solidFill>
                <a:latin typeface="Arial"/>
              </a:rPr>
              <a:t>Did we look hard enough?</a:t>
            </a:r>
          </a:p>
        </p:txBody>
      </p:sp>
      <p:sp>
        <p:nvSpPr>
          <p:cNvPr id="5" name="Rectangle 4"/>
          <p:cNvSpPr/>
          <p:nvPr/>
        </p:nvSpPr>
        <p:spPr>
          <a:xfrm>
            <a:off x="502920" y="1344168"/>
            <a:ext cx="11185855" cy="425196"/>
          </a:xfrm>
          <a:prstGeom prst="rect">
            <a:avLst/>
          </a:prstGeom>
          <a:solidFill>
            <a:srgbClr val="2A2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407668"/>
            <a:ext cx="502920" cy="425196"/>
          </a:xfrm>
          <a:prstGeom prst="rect">
            <a:avLst/>
          </a:prstGeom>
          <a:noFill/>
        </p:spPr>
        <p:txBody>
          <a:bodyPr wrap="square"/>
          <a:lstStyle/>
          <a:p>
            <a:pPr algn="l"/>
            <a:r>
              <a:rPr sz="1000" b="1" i="0">
                <a:solidFill>
                  <a:srgbClr val="FFFFFF"/>
                </a:solidFill>
                <a:latin typeface="Arial"/>
              </a:rPr>
              <a:t>Check</a:t>
            </a:r>
          </a:p>
        </p:txBody>
      </p:sp>
      <p:sp>
        <p:nvSpPr>
          <p:cNvPr id="7" name="TextBox 6"/>
          <p:cNvSpPr txBox="1"/>
          <p:nvPr/>
        </p:nvSpPr>
        <p:spPr>
          <a:xfrm>
            <a:off x="1161288" y="1407668"/>
            <a:ext cx="5669280" cy="425196"/>
          </a:xfrm>
          <a:prstGeom prst="rect">
            <a:avLst/>
          </a:prstGeom>
          <a:noFill/>
        </p:spPr>
        <p:txBody>
          <a:bodyPr wrap="square"/>
          <a:lstStyle/>
          <a:p>
            <a:pPr algn="l"/>
            <a:r>
              <a:rPr sz="1000" b="1" i="0">
                <a:solidFill>
                  <a:srgbClr val="FFFFFF"/>
                </a:solidFill>
                <a:latin typeface="Arial"/>
              </a:rPr>
              <a:t>Description</a:t>
            </a:r>
          </a:p>
        </p:txBody>
      </p:sp>
      <p:sp>
        <p:nvSpPr>
          <p:cNvPr id="8" name="TextBox 7"/>
          <p:cNvSpPr txBox="1"/>
          <p:nvPr/>
        </p:nvSpPr>
        <p:spPr>
          <a:xfrm>
            <a:off x="7178040" y="1407668"/>
            <a:ext cx="4465015" cy="425196"/>
          </a:xfrm>
          <a:prstGeom prst="rect">
            <a:avLst/>
          </a:prstGeom>
          <a:noFill/>
        </p:spPr>
        <p:txBody>
          <a:bodyPr wrap="square"/>
          <a:lstStyle/>
          <a:p>
            <a:pPr algn="l"/>
            <a:r>
              <a:rPr sz="1000" b="1" i="0">
                <a:solidFill>
                  <a:srgbClr val="FFFFFF"/>
                </a:solidFill>
                <a:latin typeface="Arial"/>
              </a:rPr>
              <a:t>Verdict</a:t>
            </a:r>
          </a:p>
        </p:txBody>
      </p:sp>
      <p:sp>
        <p:nvSpPr>
          <p:cNvPr id="9" name="Rectangle 8"/>
          <p:cNvSpPr/>
          <p:nvPr/>
        </p:nvSpPr>
        <p:spPr>
          <a:xfrm>
            <a:off x="502920" y="1769364"/>
            <a:ext cx="11185855" cy="425196"/>
          </a:xfrm>
          <a:prstGeom prst="rect">
            <a:avLst/>
          </a:prstGeom>
          <a:solidFill>
            <a:srgbClr val="F2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188210"/>
            <a:ext cx="11185855" cy="6350"/>
          </a:xfrm>
          <a:prstGeom prst="rect">
            <a:avLst/>
          </a:prstGeom>
          <a:solidFill>
            <a:srgbClr val="D8D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832864"/>
            <a:ext cx="502920" cy="425196"/>
          </a:xfrm>
          <a:prstGeom prst="rect">
            <a:avLst/>
          </a:prstGeom>
          <a:noFill/>
        </p:spPr>
        <p:txBody>
          <a:bodyPr wrap="square"/>
          <a:lstStyle/>
          <a:p>
            <a:pPr algn="l"/>
            <a:r>
              <a:rPr sz="1100" b="0" i="0">
                <a:solidFill>
                  <a:srgbClr val="2A2D2B"/>
                </a:solidFill>
                <a:latin typeface="Arial"/>
              </a:rPr>
              <a:t>1</a:t>
            </a:r>
          </a:p>
        </p:txBody>
      </p:sp>
      <p:sp>
        <p:nvSpPr>
          <p:cNvPr id="12" name="TextBox 11"/>
          <p:cNvSpPr txBox="1"/>
          <p:nvPr/>
        </p:nvSpPr>
        <p:spPr>
          <a:xfrm>
            <a:off x="1161288" y="1832864"/>
            <a:ext cx="5669280" cy="425196"/>
          </a:xfrm>
          <a:prstGeom prst="rect">
            <a:avLst/>
          </a:prstGeom>
          <a:noFill/>
        </p:spPr>
        <p:txBody>
          <a:bodyPr wrap="square"/>
          <a:lstStyle/>
          <a:p>
            <a:pPr algn="l"/>
            <a:r>
              <a:rPr sz="1100" b="0" i="0">
                <a:solidFill>
                  <a:srgbClr val="2A2D2B"/>
                </a:solidFill>
                <a:latin typeface="Arial"/>
              </a:rPr>
              <a:t>Weather adjustment</a:t>
            </a:r>
          </a:p>
        </p:txBody>
      </p:sp>
      <p:sp>
        <p:nvSpPr>
          <p:cNvPr id="13" name="TextBox 12"/>
          <p:cNvSpPr txBox="1"/>
          <p:nvPr/>
        </p:nvSpPr>
        <p:spPr>
          <a:xfrm>
            <a:off x="7178040" y="1832864"/>
            <a:ext cx="4465015" cy="425196"/>
          </a:xfrm>
          <a:prstGeom prst="rect">
            <a:avLst/>
          </a:prstGeom>
          <a:noFill/>
        </p:spPr>
        <p:txBody>
          <a:bodyPr wrap="square"/>
          <a:lstStyle/>
          <a:p>
            <a:pPr algn="l"/>
            <a:r>
              <a:rPr sz="1100" b="0" i="0">
                <a:solidFill>
                  <a:srgbClr val="2A2D2B"/>
                </a:solidFill>
                <a:latin typeface="Arial"/>
              </a:rPr>
              <a:t>Robust</a:t>
            </a:r>
          </a:p>
        </p:txBody>
      </p:sp>
      <p:sp>
        <p:nvSpPr>
          <p:cNvPr id="14" name="Rectangle 13"/>
          <p:cNvSpPr/>
          <p:nvPr/>
        </p:nvSpPr>
        <p:spPr>
          <a:xfrm>
            <a:off x="502920" y="2194560"/>
            <a:ext cx="11185855" cy="425196"/>
          </a:xfrm>
          <a:prstGeom prst="rect">
            <a:avLst/>
          </a:prstGeom>
          <a:solidFill>
            <a:srgbClr val="E9E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613406"/>
            <a:ext cx="11185855" cy="6350"/>
          </a:xfrm>
          <a:prstGeom prst="rect">
            <a:avLst/>
          </a:prstGeom>
          <a:solidFill>
            <a:srgbClr val="D8D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258060"/>
            <a:ext cx="502920" cy="425196"/>
          </a:xfrm>
          <a:prstGeom prst="rect">
            <a:avLst/>
          </a:prstGeom>
          <a:noFill/>
        </p:spPr>
        <p:txBody>
          <a:bodyPr wrap="square"/>
          <a:lstStyle/>
          <a:p>
            <a:pPr algn="l"/>
            <a:r>
              <a:rPr sz="1100" b="1" i="0">
                <a:solidFill>
                  <a:srgbClr val="4B2E83"/>
                </a:solidFill>
                <a:latin typeface="Arial"/>
              </a:rPr>
              <a:t>2</a:t>
            </a:r>
          </a:p>
        </p:txBody>
      </p:sp>
      <p:sp>
        <p:nvSpPr>
          <p:cNvPr id="17" name="TextBox 16"/>
          <p:cNvSpPr txBox="1"/>
          <p:nvPr/>
        </p:nvSpPr>
        <p:spPr>
          <a:xfrm>
            <a:off x="1161288" y="2258060"/>
            <a:ext cx="5669280" cy="425196"/>
          </a:xfrm>
          <a:prstGeom prst="rect">
            <a:avLst/>
          </a:prstGeom>
          <a:noFill/>
        </p:spPr>
        <p:txBody>
          <a:bodyPr wrap="square"/>
          <a:lstStyle/>
          <a:p>
            <a:pPr algn="l"/>
            <a:r>
              <a:rPr sz="1100" b="1" i="0">
                <a:solidFill>
                  <a:srgbClr val="4B2E83"/>
                </a:solidFill>
                <a:latin typeface="Arial"/>
              </a:rPr>
              <a:t>Peak / overnight differencing</a:t>
            </a:r>
          </a:p>
        </p:txBody>
      </p:sp>
      <p:sp>
        <p:nvSpPr>
          <p:cNvPr id="18" name="TextBox 17"/>
          <p:cNvSpPr txBox="1"/>
          <p:nvPr/>
        </p:nvSpPr>
        <p:spPr>
          <a:xfrm>
            <a:off x="7178040" y="2258060"/>
            <a:ext cx="4465015" cy="425196"/>
          </a:xfrm>
          <a:prstGeom prst="rect">
            <a:avLst/>
          </a:prstGeom>
          <a:noFill/>
        </p:spPr>
        <p:txBody>
          <a:bodyPr wrap="square"/>
          <a:lstStyle/>
          <a:p>
            <a:pPr algn="l"/>
            <a:r>
              <a:rPr sz="1100" b="1" i="0">
                <a:solidFill>
                  <a:srgbClr val="4B2E83"/>
                </a:solidFill>
                <a:latin typeface="Arial"/>
              </a:rPr>
              <a:t>One hint</a:t>
            </a:r>
          </a:p>
        </p:txBody>
      </p:sp>
      <p:sp>
        <p:nvSpPr>
          <p:cNvPr id="19" name="Rectangle 18"/>
          <p:cNvSpPr/>
          <p:nvPr/>
        </p:nvSpPr>
        <p:spPr>
          <a:xfrm>
            <a:off x="502920" y="2619756"/>
            <a:ext cx="11185855" cy="425196"/>
          </a:xfrm>
          <a:prstGeom prst="rect">
            <a:avLst/>
          </a:prstGeom>
          <a:solidFill>
            <a:srgbClr val="F2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038602"/>
            <a:ext cx="11185855" cy="6350"/>
          </a:xfrm>
          <a:prstGeom prst="rect">
            <a:avLst/>
          </a:prstGeom>
          <a:solidFill>
            <a:srgbClr val="D8D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2683256"/>
            <a:ext cx="502920" cy="425196"/>
          </a:xfrm>
          <a:prstGeom prst="rect">
            <a:avLst/>
          </a:prstGeom>
          <a:noFill/>
        </p:spPr>
        <p:txBody>
          <a:bodyPr wrap="square"/>
          <a:lstStyle/>
          <a:p>
            <a:pPr algn="l"/>
            <a:r>
              <a:rPr sz="1100" b="0" i="0">
                <a:solidFill>
                  <a:srgbClr val="2A2D2B"/>
                </a:solidFill>
                <a:latin typeface="Arial"/>
              </a:rPr>
              <a:t>3</a:t>
            </a:r>
          </a:p>
        </p:txBody>
      </p:sp>
      <p:sp>
        <p:nvSpPr>
          <p:cNvPr id="22" name="TextBox 21"/>
          <p:cNvSpPr txBox="1"/>
          <p:nvPr/>
        </p:nvSpPr>
        <p:spPr>
          <a:xfrm>
            <a:off x="1161288" y="2683256"/>
            <a:ext cx="5669280" cy="425196"/>
          </a:xfrm>
          <a:prstGeom prst="rect">
            <a:avLst/>
          </a:prstGeom>
          <a:noFill/>
        </p:spPr>
        <p:txBody>
          <a:bodyPr wrap="square"/>
          <a:lstStyle/>
          <a:p>
            <a:pPr algn="l"/>
            <a:r>
              <a:rPr sz="1100" b="0" i="0">
                <a:solidFill>
                  <a:srgbClr val="2A2D2B"/>
                </a:solidFill>
                <a:latin typeface="Arial"/>
              </a:rPr>
              <a:t>Placebo-in-time</a:t>
            </a:r>
          </a:p>
        </p:txBody>
      </p:sp>
      <p:sp>
        <p:nvSpPr>
          <p:cNvPr id="23" name="TextBox 22"/>
          <p:cNvSpPr txBox="1"/>
          <p:nvPr/>
        </p:nvSpPr>
        <p:spPr>
          <a:xfrm>
            <a:off x="7178040" y="2683256"/>
            <a:ext cx="4465015" cy="425196"/>
          </a:xfrm>
          <a:prstGeom prst="rect">
            <a:avLst/>
          </a:prstGeom>
          <a:noFill/>
        </p:spPr>
        <p:txBody>
          <a:bodyPr wrap="square"/>
          <a:lstStyle/>
          <a:p>
            <a:pPr algn="l"/>
            <a:r>
              <a:rPr sz="1100" b="0" i="0">
                <a:solidFill>
                  <a:srgbClr val="2A2D2B"/>
                </a:solidFill>
                <a:latin typeface="Arial"/>
              </a:rPr>
              <a:t>Inconclusive</a:t>
            </a:r>
          </a:p>
        </p:txBody>
      </p:sp>
      <p:sp>
        <p:nvSpPr>
          <p:cNvPr id="24" name="Rectangle 23"/>
          <p:cNvSpPr/>
          <p:nvPr/>
        </p:nvSpPr>
        <p:spPr>
          <a:xfrm>
            <a:off x="502920" y="3044952"/>
            <a:ext cx="11185855" cy="4251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3463798"/>
            <a:ext cx="11185855" cy="6350"/>
          </a:xfrm>
          <a:prstGeom prst="rect">
            <a:avLst/>
          </a:prstGeom>
          <a:solidFill>
            <a:srgbClr val="D8D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3108452"/>
            <a:ext cx="502920" cy="425196"/>
          </a:xfrm>
          <a:prstGeom prst="rect">
            <a:avLst/>
          </a:prstGeom>
          <a:noFill/>
        </p:spPr>
        <p:txBody>
          <a:bodyPr wrap="square"/>
          <a:lstStyle/>
          <a:p>
            <a:pPr algn="l"/>
            <a:r>
              <a:rPr sz="1100" b="0" i="0">
                <a:solidFill>
                  <a:srgbClr val="2A2D2B"/>
                </a:solidFill>
                <a:latin typeface="Arial"/>
              </a:rPr>
              <a:t>4</a:t>
            </a:r>
          </a:p>
        </p:txBody>
      </p:sp>
      <p:sp>
        <p:nvSpPr>
          <p:cNvPr id="27" name="TextBox 26"/>
          <p:cNvSpPr txBox="1"/>
          <p:nvPr/>
        </p:nvSpPr>
        <p:spPr>
          <a:xfrm>
            <a:off x="1161288" y="3108452"/>
            <a:ext cx="5669280" cy="425196"/>
          </a:xfrm>
          <a:prstGeom prst="rect">
            <a:avLst/>
          </a:prstGeom>
          <a:noFill/>
        </p:spPr>
        <p:txBody>
          <a:bodyPr wrap="square"/>
          <a:lstStyle/>
          <a:p>
            <a:pPr algn="l"/>
            <a:r>
              <a:rPr sz="1100" b="0" i="0">
                <a:solidFill>
                  <a:srgbClr val="2A2D2B"/>
                </a:solidFill>
                <a:latin typeface="Arial"/>
              </a:rPr>
              <a:t>Pooled panel (site + date FE)</a:t>
            </a:r>
          </a:p>
        </p:txBody>
      </p:sp>
      <p:sp>
        <p:nvSpPr>
          <p:cNvPr id="28" name="TextBox 27"/>
          <p:cNvSpPr txBox="1"/>
          <p:nvPr/>
        </p:nvSpPr>
        <p:spPr>
          <a:xfrm>
            <a:off x="7178040" y="3108452"/>
            <a:ext cx="4465015" cy="425196"/>
          </a:xfrm>
          <a:prstGeom prst="rect">
            <a:avLst/>
          </a:prstGeom>
          <a:noFill/>
        </p:spPr>
        <p:txBody>
          <a:bodyPr wrap="square"/>
          <a:lstStyle/>
          <a:p>
            <a:pPr algn="l"/>
            <a:r>
              <a:rPr sz="1100" b="0" i="0">
                <a:solidFill>
                  <a:srgbClr val="2A2D2B"/>
                </a:solidFill>
                <a:latin typeface="Arial"/>
              </a:rPr>
              <a:t>Same direction, not sig.</a:t>
            </a:r>
          </a:p>
        </p:txBody>
      </p:sp>
      <p:sp>
        <p:nvSpPr>
          <p:cNvPr id="29" name="Rectangle 28"/>
          <p:cNvSpPr/>
          <p:nvPr/>
        </p:nvSpPr>
        <p:spPr>
          <a:xfrm>
            <a:off x="502920" y="3470148"/>
            <a:ext cx="11185855" cy="425196"/>
          </a:xfrm>
          <a:prstGeom prst="rect">
            <a:avLst/>
          </a:prstGeom>
          <a:solidFill>
            <a:srgbClr val="E9E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2920" y="3888994"/>
            <a:ext cx="11185855" cy="6350"/>
          </a:xfrm>
          <a:prstGeom prst="rect">
            <a:avLst/>
          </a:prstGeom>
          <a:solidFill>
            <a:srgbClr val="D8D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3533648"/>
            <a:ext cx="502920" cy="425196"/>
          </a:xfrm>
          <a:prstGeom prst="rect">
            <a:avLst/>
          </a:prstGeom>
          <a:noFill/>
        </p:spPr>
        <p:txBody>
          <a:bodyPr wrap="square"/>
          <a:lstStyle/>
          <a:p>
            <a:pPr algn="l"/>
            <a:r>
              <a:rPr sz="1100" b="1" i="0">
                <a:solidFill>
                  <a:srgbClr val="4B2E83"/>
                </a:solidFill>
                <a:latin typeface="Arial"/>
              </a:rPr>
              <a:t>5</a:t>
            </a:r>
          </a:p>
        </p:txBody>
      </p:sp>
      <p:sp>
        <p:nvSpPr>
          <p:cNvPr id="32" name="TextBox 31"/>
          <p:cNvSpPr txBox="1"/>
          <p:nvPr/>
        </p:nvSpPr>
        <p:spPr>
          <a:xfrm>
            <a:off x="1161288" y="3533648"/>
            <a:ext cx="5669280" cy="425196"/>
          </a:xfrm>
          <a:prstGeom prst="rect">
            <a:avLst/>
          </a:prstGeom>
          <a:noFill/>
        </p:spPr>
        <p:txBody>
          <a:bodyPr wrap="square"/>
          <a:lstStyle/>
          <a:p>
            <a:pPr algn="l"/>
            <a:r>
              <a:rPr sz="1100" b="1" i="0">
                <a:solidFill>
                  <a:srgbClr val="4B2E83"/>
                </a:solidFill>
                <a:latin typeface="Arial"/>
              </a:rPr>
              <a:t>Mechanism check (Throgs Neck slope)</a:t>
            </a:r>
          </a:p>
        </p:txBody>
      </p:sp>
      <p:sp>
        <p:nvSpPr>
          <p:cNvPr id="33" name="TextBox 32"/>
          <p:cNvSpPr txBox="1"/>
          <p:nvPr/>
        </p:nvSpPr>
        <p:spPr>
          <a:xfrm>
            <a:off x="7178040" y="3533648"/>
            <a:ext cx="4465015" cy="425196"/>
          </a:xfrm>
          <a:prstGeom prst="rect">
            <a:avLst/>
          </a:prstGeom>
          <a:noFill/>
        </p:spPr>
        <p:txBody>
          <a:bodyPr wrap="square"/>
          <a:lstStyle/>
          <a:p>
            <a:pPr algn="l"/>
            <a:r>
              <a:rPr sz="1100" b="1" i="0">
                <a:solidFill>
                  <a:srgbClr val="4B2E83"/>
                </a:solidFill>
                <a:latin typeface="Arial"/>
              </a:rPr>
              <a:t>Bounded</a:t>
            </a:r>
          </a:p>
        </p:txBody>
      </p:sp>
      <p:sp>
        <p:nvSpPr>
          <p:cNvPr id="34" name="Rectangle 33"/>
          <p:cNvSpPr/>
          <p:nvPr/>
        </p:nvSpPr>
        <p:spPr>
          <a:xfrm>
            <a:off x="502920" y="3895344"/>
            <a:ext cx="11185855" cy="4251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02920" y="4314190"/>
            <a:ext cx="11185855" cy="6350"/>
          </a:xfrm>
          <a:prstGeom prst="rect">
            <a:avLst/>
          </a:prstGeom>
          <a:solidFill>
            <a:srgbClr val="D8D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 y="3958844"/>
            <a:ext cx="502920" cy="425196"/>
          </a:xfrm>
          <a:prstGeom prst="rect">
            <a:avLst/>
          </a:prstGeom>
          <a:noFill/>
        </p:spPr>
        <p:txBody>
          <a:bodyPr wrap="square"/>
          <a:lstStyle/>
          <a:p>
            <a:pPr algn="l"/>
            <a:r>
              <a:rPr sz="1100" b="0" i="0">
                <a:solidFill>
                  <a:srgbClr val="2A2D2B"/>
                </a:solidFill>
                <a:latin typeface="Arial"/>
              </a:rPr>
              <a:t>6</a:t>
            </a:r>
          </a:p>
        </p:txBody>
      </p:sp>
      <p:sp>
        <p:nvSpPr>
          <p:cNvPr id="37" name="TextBox 36"/>
          <p:cNvSpPr txBox="1"/>
          <p:nvPr/>
        </p:nvSpPr>
        <p:spPr>
          <a:xfrm>
            <a:off x="1161288" y="3958844"/>
            <a:ext cx="5669280" cy="425196"/>
          </a:xfrm>
          <a:prstGeom prst="rect">
            <a:avLst/>
          </a:prstGeom>
          <a:noFill/>
        </p:spPr>
        <p:txBody>
          <a:bodyPr wrap="square"/>
          <a:lstStyle/>
          <a:p>
            <a:pPr algn="l"/>
            <a:r>
              <a:rPr sz="1100" b="0" i="0">
                <a:solidFill>
                  <a:srgbClr val="2A2D2B"/>
                </a:solidFill>
                <a:latin typeface="Arial"/>
              </a:rPr>
              <a:t>Bronx NO₂ (EPA AQS 2022–2025)</a:t>
            </a:r>
          </a:p>
        </p:txBody>
      </p:sp>
      <p:sp>
        <p:nvSpPr>
          <p:cNvPr id="38" name="TextBox 37"/>
          <p:cNvSpPr txBox="1"/>
          <p:nvPr/>
        </p:nvSpPr>
        <p:spPr>
          <a:xfrm>
            <a:off x="7178040" y="3958844"/>
            <a:ext cx="4465015" cy="425196"/>
          </a:xfrm>
          <a:prstGeom prst="rect">
            <a:avLst/>
          </a:prstGeom>
          <a:noFill/>
        </p:spPr>
        <p:txBody>
          <a:bodyPr wrap="square"/>
          <a:lstStyle/>
          <a:p>
            <a:pPr algn="l"/>
            <a:r>
              <a:rPr sz="1100" b="0" i="0">
                <a:solidFill>
                  <a:srgbClr val="2A2D2B"/>
                </a:solidFill>
                <a:latin typeface="Arial"/>
              </a:rPr>
              <a:t>No change</a:t>
            </a:r>
          </a:p>
        </p:txBody>
      </p:sp>
      <p:sp>
        <p:nvSpPr>
          <p:cNvPr id="39" name="Rectangle 38"/>
          <p:cNvSpPr/>
          <p:nvPr/>
        </p:nvSpPr>
        <p:spPr>
          <a:xfrm>
            <a:off x="502920" y="4320540"/>
            <a:ext cx="11185855" cy="425196"/>
          </a:xfrm>
          <a:prstGeom prst="rect">
            <a:avLst/>
          </a:prstGeom>
          <a:solidFill>
            <a:srgbClr val="F2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02920" y="4739386"/>
            <a:ext cx="11185855" cy="6350"/>
          </a:xfrm>
          <a:prstGeom prst="rect">
            <a:avLst/>
          </a:prstGeom>
          <a:solidFill>
            <a:srgbClr val="D8D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4360" y="4384040"/>
            <a:ext cx="502920" cy="425196"/>
          </a:xfrm>
          <a:prstGeom prst="rect">
            <a:avLst/>
          </a:prstGeom>
          <a:noFill/>
        </p:spPr>
        <p:txBody>
          <a:bodyPr wrap="square"/>
          <a:lstStyle/>
          <a:p>
            <a:pPr algn="l"/>
            <a:r>
              <a:rPr sz="1100" b="0" i="0">
                <a:solidFill>
                  <a:srgbClr val="2A2D2B"/>
                </a:solidFill>
                <a:latin typeface="Arial"/>
              </a:rPr>
              <a:t>7</a:t>
            </a:r>
          </a:p>
        </p:txBody>
      </p:sp>
      <p:sp>
        <p:nvSpPr>
          <p:cNvPr id="42" name="TextBox 41"/>
          <p:cNvSpPr txBox="1"/>
          <p:nvPr/>
        </p:nvSpPr>
        <p:spPr>
          <a:xfrm>
            <a:off x="1161288" y="4384040"/>
            <a:ext cx="5669280" cy="425196"/>
          </a:xfrm>
          <a:prstGeom prst="rect">
            <a:avLst/>
          </a:prstGeom>
          <a:noFill/>
        </p:spPr>
        <p:txBody>
          <a:bodyPr wrap="square"/>
          <a:lstStyle/>
          <a:p>
            <a:pPr algn="l"/>
            <a:r>
              <a:rPr sz="1100" b="0" i="0">
                <a:solidFill>
                  <a:srgbClr val="2A2D2B"/>
                </a:solidFill>
                <a:latin typeface="Arial"/>
              </a:rPr>
              <a:t>Matched-day DiD</a:t>
            </a:r>
          </a:p>
        </p:txBody>
      </p:sp>
      <p:sp>
        <p:nvSpPr>
          <p:cNvPr id="43" name="TextBox 42"/>
          <p:cNvSpPr txBox="1"/>
          <p:nvPr/>
        </p:nvSpPr>
        <p:spPr>
          <a:xfrm>
            <a:off x="7178040" y="4384040"/>
            <a:ext cx="4465015" cy="425196"/>
          </a:xfrm>
          <a:prstGeom prst="rect">
            <a:avLst/>
          </a:prstGeom>
          <a:noFill/>
        </p:spPr>
        <p:txBody>
          <a:bodyPr wrap="square"/>
          <a:lstStyle/>
          <a:p>
            <a:pPr algn="l"/>
            <a:r>
              <a:rPr sz="1100" b="0" i="0">
                <a:solidFill>
                  <a:srgbClr val="2A2D2B"/>
                </a:solidFill>
                <a:latin typeface="Arial"/>
              </a:rPr>
              <a:t>Consistent</a:t>
            </a:r>
          </a:p>
        </p:txBody>
      </p:sp>
      <p:sp>
        <p:nvSpPr>
          <p:cNvPr id="44" name="Rectangle 43"/>
          <p:cNvSpPr/>
          <p:nvPr/>
        </p:nvSpPr>
        <p:spPr>
          <a:xfrm>
            <a:off x="502920" y="4745736"/>
            <a:ext cx="11185855" cy="4251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 y="5164582"/>
            <a:ext cx="11185855" cy="6350"/>
          </a:xfrm>
          <a:prstGeom prst="rect">
            <a:avLst/>
          </a:prstGeom>
          <a:solidFill>
            <a:srgbClr val="D8D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94360" y="4809236"/>
            <a:ext cx="502920" cy="425196"/>
          </a:xfrm>
          <a:prstGeom prst="rect">
            <a:avLst/>
          </a:prstGeom>
          <a:noFill/>
        </p:spPr>
        <p:txBody>
          <a:bodyPr wrap="square"/>
          <a:lstStyle/>
          <a:p>
            <a:pPr algn="l"/>
            <a:r>
              <a:rPr sz="1100" b="0" i="0">
                <a:solidFill>
                  <a:srgbClr val="2A2D2B"/>
                </a:solidFill>
                <a:latin typeface="Arial"/>
              </a:rPr>
              <a:t>8</a:t>
            </a:r>
          </a:p>
        </p:txBody>
      </p:sp>
      <p:sp>
        <p:nvSpPr>
          <p:cNvPr id="47" name="TextBox 46"/>
          <p:cNvSpPr txBox="1"/>
          <p:nvPr/>
        </p:nvSpPr>
        <p:spPr>
          <a:xfrm>
            <a:off x="1161288" y="4809236"/>
            <a:ext cx="5669280" cy="425196"/>
          </a:xfrm>
          <a:prstGeom prst="rect">
            <a:avLst/>
          </a:prstGeom>
          <a:noFill/>
        </p:spPr>
        <p:txBody>
          <a:bodyPr wrap="square"/>
          <a:lstStyle/>
          <a:p>
            <a:pPr algn="l"/>
            <a:r>
              <a:rPr sz="1100" b="0" i="0">
                <a:solidFill>
                  <a:srgbClr val="2A2D2B"/>
                </a:solidFill>
                <a:latin typeface="Arial"/>
              </a:rPr>
              <a:t>Step-only ITS</a:t>
            </a:r>
          </a:p>
        </p:txBody>
      </p:sp>
      <p:sp>
        <p:nvSpPr>
          <p:cNvPr id="48" name="TextBox 47"/>
          <p:cNvSpPr txBox="1"/>
          <p:nvPr/>
        </p:nvSpPr>
        <p:spPr>
          <a:xfrm>
            <a:off x="7178040" y="4809236"/>
            <a:ext cx="4465015" cy="425196"/>
          </a:xfrm>
          <a:prstGeom prst="rect">
            <a:avLst/>
          </a:prstGeom>
          <a:noFill/>
        </p:spPr>
        <p:txBody>
          <a:bodyPr wrap="square"/>
          <a:lstStyle/>
          <a:p>
            <a:pPr algn="l"/>
            <a:r>
              <a:rPr sz="1100" b="0" i="0">
                <a:solidFill>
                  <a:srgbClr val="2A2D2B"/>
                </a:solidFill>
                <a:latin typeface="Arial"/>
              </a:rPr>
              <a:t>Mixed</a:t>
            </a:r>
          </a:p>
        </p:txBody>
      </p:sp>
      <p:sp>
        <p:nvSpPr>
          <p:cNvPr id="49" name="Rectangle 48"/>
          <p:cNvSpPr/>
          <p:nvPr/>
        </p:nvSpPr>
        <p:spPr>
          <a:xfrm>
            <a:off x="502920" y="5170932"/>
            <a:ext cx="11185855" cy="425196"/>
          </a:xfrm>
          <a:prstGeom prst="rect">
            <a:avLst/>
          </a:prstGeom>
          <a:solidFill>
            <a:srgbClr val="F2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02920" y="5589778"/>
            <a:ext cx="11185855" cy="6350"/>
          </a:xfrm>
          <a:prstGeom prst="rect">
            <a:avLst/>
          </a:prstGeom>
          <a:solidFill>
            <a:srgbClr val="D8D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94360" y="5234432"/>
            <a:ext cx="502920" cy="425196"/>
          </a:xfrm>
          <a:prstGeom prst="rect">
            <a:avLst/>
          </a:prstGeom>
          <a:noFill/>
        </p:spPr>
        <p:txBody>
          <a:bodyPr wrap="square"/>
          <a:lstStyle/>
          <a:p>
            <a:pPr algn="l"/>
            <a:r>
              <a:rPr sz="1100" b="0" i="0">
                <a:solidFill>
                  <a:srgbClr val="2A2D2B"/>
                </a:solidFill>
                <a:latin typeface="Arial"/>
              </a:rPr>
              <a:t>9</a:t>
            </a:r>
          </a:p>
        </p:txBody>
      </p:sp>
      <p:sp>
        <p:nvSpPr>
          <p:cNvPr id="52" name="TextBox 51"/>
          <p:cNvSpPr txBox="1"/>
          <p:nvPr/>
        </p:nvSpPr>
        <p:spPr>
          <a:xfrm>
            <a:off x="1161288" y="5234432"/>
            <a:ext cx="5669280" cy="425196"/>
          </a:xfrm>
          <a:prstGeom prst="rect">
            <a:avLst/>
          </a:prstGeom>
          <a:noFill/>
        </p:spPr>
        <p:txBody>
          <a:bodyPr wrap="square"/>
          <a:lstStyle/>
          <a:p>
            <a:pPr algn="l"/>
            <a:r>
              <a:rPr sz="1100" b="0" i="0">
                <a:solidFill>
                  <a:srgbClr val="2A2D2B"/>
                </a:solidFill>
                <a:latin typeface="Arial"/>
              </a:rPr>
              <a:t>Outside-zone PurpleAir sensors</a:t>
            </a:r>
          </a:p>
        </p:txBody>
      </p:sp>
      <p:sp>
        <p:nvSpPr>
          <p:cNvPr id="53" name="TextBox 52"/>
          <p:cNvSpPr txBox="1"/>
          <p:nvPr/>
        </p:nvSpPr>
        <p:spPr>
          <a:xfrm>
            <a:off x="7178040" y="5234432"/>
            <a:ext cx="4465015" cy="425196"/>
          </a:xfrm>
          <a:prstGeom prst="rect">
            <a:avLst/>
          </a:prstGeom>
          <a:noFill/>
        </p:spPr>
        <p:txBody>
          <a:bodyPr wrap="square"/>
          <a:lstStyle/>
          <a:p>
            <a:pPr algn="l"/>
            <a:r>
              <a:rPr sz="1100" b="0" i="0">
                <a:solidFill>
                  <a:srgbClr val="2A2D2B"/>
                </a:solidFill>
                <a:latin typeface="Arial"/>
              </a:rPr>
              <a:t>No EJ gap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4B2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85855" cy="347472"/>
          </a:xfrm>
          <a:prstGeom prst="rect">
            <a:avLst/>
          </a:prstGeom>
          <a:noFill/>
        </p:spPr>
        <p:txBody>
          <a:bodyPr wrap="square"/>
          <a:lstStyle/>
          <a:p>
            <a:pPr algn="l"/>
            <a:r>
              <a:rPr sz="1000" b="1" i="0">
                <a:solidFill>
                  <a:srgbClr val="4B2E83"/>
                </a:solidFill>
                <a:latin typeface="Arial"/>
              </a:rPr>
              <a:t>FINDING 3 — EQUITY</a:t>
            </a:r>
          </a:p>
        </p:txBody>
      </p:sp>
      <p:sp>
        <p:nvSpPr>
          <p:cNvPr id="4" name="TextBox 3"/>
          <p:cNvSpPr txBox="1"/>
          <p:nvPr/>
        </p:nvSpPr>
        <p:spPr>
          <a:xfrm>
            <a:off x="502920" y="758952"/>
            <a:ext cx="11185855" cy="502920"/>
          </a:xfrm>
          <a:prstGeom prst="rect">
            <a:avLst/>
          </a:prstGeom>
          <a:noFill/>
        </p:spPr>
        <p:txBody>
          <a:bodyPr wrap="square"/>
          <a:lstStyle/>
          <a:p>
            <a:pPr algn="l"/>
            <a:r>
              <a:rPr sz="2600" b="1" i="0">
                <a:solidFill>
                  <a:srgbClr val="2A2D2B"/>
                </a:solidFill>
                <a:latin typeface="Arial"/>
              </a:rPr>
              <a:t>EJ can’t be separated from the zone.</a:t>
            </a:r>
          </a:p>
        </p:txBody>
      </p:sp>
      <p:sp>
        <p:nvSpPr>
          <p:cNvPr id="5" name="TextBox 4"/>
          <p:cNvSpPr txBox="1"/>
          <p:nvPr/>
        </p:nvSpPr>
        <p:spPr>
          <a:xfrm>
            <a:off x="502920" y="1298448"/>
            <a:ext cx="8686800" cy="1051560"/>
          </a:xfrm>
          <a:prstGeom prst="rect">
            <a:avLst/>
          </a:prstGeom>
          <a:noFill/>
        </p:spPr>
        <p:txBody>
          <a:bodyPr wrap="square"/>
          <a:lstStyle/>
          <a:p>
            <a:pPr algn="l"/>
            <a:r>
              <a:rPr sz="5800" b="1" i="0">
                <a:solidFill>
                  <a:srgbClr val="2A2D2B"/>
                </a:solidFill>
                <a:latin typeface="Arial"/>
              </a:rPr>
              <a:t>β_EJ  −0.38 to +0.02 µg/m³</a:t>
            </a:r>
          </a:p>
        </p:txBody>
      </p:sp>
      <p:sp>
        <p:nvSpPr>
          <p:cNvPr id="6" name="TextBox 5"/>
          <p:cNvSpPr txBox="1"/>
          <p:nvPr/>
        </p:nvSpPr>
        <p:spPr>
          <a:xfrm>
            <a:off x="502920" y="2304288"/>
            <a:ext cx="10058400" cy="384048"/>
          </a:xfrm>
          <a:prstGeom prst="rect">
            <a:avLst/>
          </a:prstGeom>
          <a:noFill/>
        </p:spPr>
        <p:txBody>
          <a:bodyPr wrap="square"/>
          <a:lstStyle/>
          <a:p>
            <a:pPr algn="l"/>
            <a:r>
              <a:rPr sz="1300" b="0" i="1">
                <a:solidFill>
                  <a:srgbClr val="2A2D2B"/>
                </a:solidFill>
                <a:latin typeface="Arial"/>
              </a:rPr>
              <a:t>None significant  (p = 0.65–0.96)  across all three EJ-flag definitions</a:t>
            </a:r>
          </a:p>
        </p:txBody>
      </p:sp>
      <p:pic>
        <p:nvPicPr>
          <p:cNvPr id="7" name="Picture 6" descr="equity_scatter.png"/>
          <p:cNvPicPr>
            <a:picLocks noChangeAspect="1"/>
          </p:cNvPicPr>
          <p:nvPr/>
        </p:nvPicPr>
        <p:blipFill>
          <a:blip r:embed="rId2"/>
          <a:stretch>
            <a:fillRect/>
          </a:stretch>
        </p:blipFill>
        <p:spPr>
          <a:xfrm>
            <a:off x="502920" y="2743200"/>
            <a:ext cx="11185855" cy="3429000"/>
          </a:xfrm>
          <a:prstGeom prst="rect">
            <a:avLst/>
          </a:prstGeom>
        </p:spPr>
      </p:pic>
      <p:sp>
        <p:nvSpPr>
          <p:cNvPr id="8" name="TextBox 7"/>
          <p:cNvSpPr txBox="1"/>
          <p:nvPr/>
        </p:nvSpPr>
        <p:spPr>
          <a:xfrm>
            <a:off x="502920" y="6309360"/>
            <a:ext cx="11185855" cy="438912"/>
          </a:xfrm>
          <a:prstGeom prst="rect">
            <a:avLst/>
          </a:prstGeom>
          <a:noFill/>
        </p:spPr>
        <p:txBody>
          <a:bodyPr wrap="square"/>
          <a:lstStyle/>
          <a:p>
            <a:pPr algn="l"/>
            <a:r>
              <a:rPr sz="800" b="0" i="1">
                <a:solidFill>
                  <a:srgbClr val="6B706C"/>
                </a:solidFill>
                <a:latin typeface="Arial"/>
              </a:rPr>
              <a:t>Section 4: β_post by EJ status and zone membership. No fitted line. EJ flag: NYS DAC point-in-polygon. Panel: 11 sites, site + date FE, wild-cluster bootstrap. Source: ITS results × DAC spatial join. NYCCAS 2019–2026.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4B2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85855" cy="347472"/>
          </a:xfrm>
          <a:prstGeom prst="rect">
            <a:avLst/>
          </a:prstGeom>
          <a:noFill/>
        </p:spPr>
        <p:txBody>
          <a:bodyPr wrap="square"/>
          <a:lstStyle/>
          <a:p>
            <a:pPr algn="l"/>
            <a:r>
              <a:rPr sz="1000" b="1" i="0">
                <a:solidFill>
                  <a:srgbClr val="4B2E83"/>
                </a:solidFill>
                <a:latin typeface="Arial"/>
              </a:rPr>
              <a:t>RECONCILING WITH SOUTH BRONX UNITE</a:t>
            </a:r>
          </a:p>
        </p:txBody>
      </p:sp>
      <p:sp>
        <p:nvSpPr>
          <p:cNvPr id="4" name="TextBox 3"/>
          <p:cNvSpPr txBox="1"/>
          <p:nvPr/>
        </p:nvSpPr>
        <p:spPr>
          <a:xfrm>
            <a:off x="502920" y="758952"/>
            <a:ext cx="11185855" cy="502920"/>
          </a:xfrm>
          <a:prstGeom prst="rect">
            <a:avLst/>
          </a:prstGeom>
          <a:noFill/>
        </p:spPr>
        <p:txBody>
          <a:bodyPr wrap="square"/>
          <a:lstStyle/>
          <a:p>
            <a:pPr algn="l"/>
            <a:r>
              <a:rPr sz="2600" b="1" i="0">
                <a:solidFill>
                  <a:srgbClr val="2A2D2B"/>
                </a:solidFill>
                <a:latin typeface="Arial"/>
              </a:rPr>
              <a:t>Same data. Different counterfactual.</a:t>
            </a:r>
          </a:p>
        </p:txBody>
      </p:sp>
      <p:sp>
        <p:nvSpPr>
          <p:cNvPr id="5" name="Rectangle 4"/>
          <p:cNvSpPr/>
          <p:nvPr/>
        </p:nvSpPr>
        <p:spPr>
          <a:xfrm>
            <a:off x="502920" y="1417320"/>
            <a:ext cx="5410047" cy="402336"/>
          </a:xfrm>
          <a:prstGeom prst="rect">
            <a:avLst/>
          </a:prstGeom>
          <a:solidFill>
            <a:srgbClr val="B439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444752"/>
            <a:ext cx="5227167" cy="402336"/>
          </a:xfrm>
          <a:prstGeom prst="rect">
            <a:avLst/>
          </a:prstGeom>
          <a:noFill/>
        </p:spPr>
        <p:txBody>
          <a:bodyPr wrap="square"/>
          <a:lstStyle/>
          <a:p>
            <a:pPr algn="l"/>
            <a:r>
              <a:rPr sz="1200" b="1" i="0">
                <a:solidFill>
                  <a:srgbClr val="FFFFFF"/>
                </a:solidFill>
                <a:latin typeface="Arial"/>
              </a:rPr>
              <a:t>South Bronx Unite (raw)</a:t>
            </a:r>
          </a:p>
        </p:txBody>
      </p:sp>
      <p:sp>
        <p:nvSpPr>
          <p:cNvPr id="7" name="Rectangle 6"/>
          <p:cNvSpPr/>
          <p:nvPr/>
        </p:nvSpPr>
        <p:spPr>
          <a:xfrm>
            <a:off x="6278727" y="1417320"/>
            <a:ext cx="5410047" cy="402336"/>
          </a:xfrm>
          <a:prstGeom prst="rect">
            <a:avLst/>
          </a:prstGeom>
          <a:solidFill>
            <a:srgbClr val="2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8455" y="1444752"/>
            <a:ext cx="5227167" cy="402336"/>
          </a:xfrm>
          <a:prstGeom prst="rect">
            <a:avLst/>
          </a:prstGeom>
          <a:noFill/>
        </p:spPr>
        <p:txBody>
          <a:bodyPr wrap="square"/>
          <a:lstStyle/>
          <a:p>
            <a:pPr algn="l"/>
            <a:r>
              <a:rPr sz="1200" b="1" i="0">
                <a:solidFill>
                  <a:srgbClr val="FFFFFF"/>
                </a:solidFill>
                <a:latin typeface="Arial"/>
              </a:rPr>
              <a:t>This study (control-adjusted)</a:t>
            </a:r>
          </a:p>
        </p:txBody>
      </p:sp>
      <p:sp>
        <p:nvSpPr>
          <p:cNvPr id="9" name="Rectangle 8"/>
          <p:cNvSpPr/>
          <p:nvPr/>
        </p:nvSpPr>
        <p:spPr>
          <a:xfrm>
            <a:off x="502920" y="1819656"/>
            <a:ext cx="5410047" cy="502920"/>
          </a:xfrm>
          <a:prstGeom prst="rect">
            <a:avLst/>
          </a:prstGeom>
          <a:solidFill>
            <a:srgbClr val="F2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78727" y="1819656"/>
            <a:ext cx="5410047" cy="502920"/>
          </a:xfrm>
          <a:prstGeom prst="rect">
            <a:avLst/>
          </a:prstGeom>
          <a:solidFill>
            <a:srgbClr val="F2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883156"/>
            <a:ext cx="2975526" cy="502920"/>
          </a:xfrm>
          <a:prstGeom prst="rect">
            <a:avLst/>
          </a:prstGeom>
          <a:noFill/>
        </p:spPr>
        <p:txBody>
          <a:bodyPr wrap="square"/>
          <a:lstStyle/>
          <a:p>
            <a:pPr algn="l"/>
            <a:r>
              <a:rPr sz="1100" b="0" i="0">
                <a:solidFill>
                  <a:srgbClr val="2A2D2B"/>
                </a:solidFill>
                <a:latin typeface="Arial"/>
              </a:rPr>
              <a:t>Sensors showing increase</a:t>
            </a:r>
          </a:p>
        </p:txBody>
      </p:sp>
      <p:sp>
        <p:nvSpPr>
          <p:cNvPr id="12" name="TextBox 11"/>
          <p:cNvSpPr txBox="1"/>
          <p:nvPr/>
        </p:nvSpPr>
        <p:spPr>
          <a:xfrm>
            <a:off x="3478446" y="1883156"/>
            <a:ext cx="2326320" cy="502920"/>
          </a:xfrm>
          <a:prstGeom prst="rect">
            <a:avLst/>
          </a:prstGeom>
          <a:noFill/>
        </p:spPr>
        <p:txBody>
          <a:bodyPr wrap="square"/>
          <a:lstStyle/>
          <a:p>
            <a:pPr algn="r"/>
            <a:r>
              <a:rPr sz="1100" b="0" i="0">
                <a:solidFill>
                  <a:srgbClr val="2A2D2B"/>
                </a:solidFill>
                <a:latin typeface="Arial"/>
              </a:rPr>
              <a:t>12–14 of 19</a:t>
            </a:r>
          </a:p>
        </p:txBody>
      </p:sp>
      <p:sp>
        <p:nvSpPr>
          <p:cNvPr id="13" name="TextBox 12"/>
          <p:cNvSpPr txBox="1"/>
          <p:nvPr/>
        </p:nvSpPr>
        <p:spPr>
          <a:xfrm>
            <a:off x="6370167" y="1883156"/>
            <a:ext cx="3246028" cy="502920"/>
          </a:xfrm>
          <a:prstGeom prst="rect">
            <a:avLst/>
          </a:prstGeom>
          <a:noFill/>
        </p:spPr>
        <p:txBody>
          <a:bodyPr wrap="square"/>
          <a:lstStyle/>
          <a:p>
            <a:pPr algn="l"/>
            <a:r>
              <a:rPr sz="1100" b="0" i="0">
                <a:solidFill>
                  <a:srgbClr val="2A2D2B"/>
                </a:solidFill>
                <a:latin typeface="Arial"/>
              </a:rPr>
              <a:t>Mott Haven raw 2025 vs 2024</a:t>
            </a:r>
          </a:p>
        </p:txBody>
      </p:sp>
      <p:sp>
        <p:nvSpPr>
          <p:cNvPr id="14" name="TextBox 13"/>
          <p:cNvSpPr txBox="1"/>
          <p:nvPr/>
        </p:nvSpPr>
        <p:spPr>
          <a:xfrm>
            <a:off x="9524756" y="1883156"/>
            <a:ext cx="2055818" cy="502920"/>
          </a:xfrm>
          <a:prstGeom prst="rect">
            <a:avLst/>
          </a:prstGeom>
          <a:noFill/>
        </p:spPr>
        <p:txBody>
          <a:bodyPr wrap="square"/>
          <a:lstStyle/>
          <a:p>
            <a:pPr algn="r"/>
            <a:r>
              <a:rPr sz="1100" b="0" i="0">
                <a:solidFill>
                  <a:srgbClr val="4B2E83"/>
                </a:solidFill>
                <a:latin typeface="Arial"/>
              </a:rPr>
              <a:t>+0.08 µg/m³</a:t>
            </a:r>
          </a:p>
        </p:txBody>
      </p:sp>
      <p:sp>
        <p:nvSpPr>
          <p:cNvPr id="15" name="Rectangle 14"/>
          <p:cNvSpPr/>
          <p:nvPr/>
        </p:nvSpPr>
        <p:spPr>
          <a:xfrm>
            <a:off x="502920" y="2322576"/>
            <a:ext cx="5410047"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8727" y="2322576"/>
            <a:ext cx="5410047"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2386076"/>
            <a:ext cx="2975526" cy="502920"/>
          </a:xfrm>
          <a:prstGeom prst="rect">
            <a:avLst/>
          </a:prstGeom>
          <a:noFill/>
        </p:spPr>
        <p:txBody>
          <a:bodyPr wrap="square"/>
          <a:lstStyle/>
          <a:p>
            <a:pPr algn="l"/>
            <a:r>
              <a:rPr sz="1100" b="0" i="0">
                <a:solidFill>
                  <a:srgbClr val="2A2D2B"/>
                </a:solidFill>
                <a:latin typeface="Arial"/>
              </a:rPr>
              <a:t>Average year-over-year</a:t>
            </a:r>
          </a:p>
        </p:txBody>
      </p:sp>
      <p:sp>
        <p:nvSpPr>
          <p:cNvPr id="18" name="TextBox 17"/>
          <p:cNvSpPr txBox="1"/>
          <p:nvPr/>
        </p:nvSpPr>
        <p:spPr>
          <a:xfrm>
            <a:off x="3478446" y="2386076"/>
            <a:ext cx="2326320" cy="502920"/>
          </a:xfrm>
          <a:prstGeom prst="rect">
            <a:avLst/>
          </a:prstGeom>
          <a:noFill/>
        </p:spPr>
        <p:txBody>
          <a:bodyPr wrap="square"/>
          <a:lstStyle/>
          <a:p>
            <a:pPr algn="r"/>
            <a:r>
              <a:rPr sz="1100" b="1" i="0">
                <a:solidFill>
                  <a:srgbClr val="B4391B"/>
                </a:solidFill>
                <a:latin typeface="Arial"/>
              </a:rPr>
              <a:t>+0.22 µg/m³</a:t>
            </a:r>
          </a:p>
        </p:txBody>
      </p:sp>
      <p:sp>
        <p:nvSpPr>
          <p:cNvPr id="19" name="TextBox 18"/>
          <p:cNvSpPr txBox="1"/>
          <p:nvPr/>
        </p:nvSpPr>
        <p:spPr>
          <a:xfrm>
            <a:off x="6370167" y="2386076"/>
            <a:ext cx="3246028" cy="502920"/>
          </a:xfrm>
          <a:prstGeom prst="rect">
            <a:avLst/>
          </a:prstGeom>
          <a:noFill/>
        </p:spPr>
        <p:txBody>
          <a:bodyPr wrap="square"/>
          <a:lstStyle/>
          <a:p>
            <a:pPr algn="l"/>
            <a:r>
              <a:rPr sz="1100" b="0" i="0">
                <a:solidFill>
                  <a:srgbClr val="2A2D2B"/>
                </a:solidFill>
                <a:latin typeface="Arial"/>
              </a:rPr>
              <a:t>Mott Haven ITS β_post</a:t>
            </a:r>
          </a:p>
        </p:txBody>
      </p:sp>
      <p:sp>
        <p:nvSpPr>
          <p:cNvPr id="20" name="TextBox 19"/>
          <p:cNvSpPr txBox="1"/>
          <p:nvPr/>
        </p:nvSpPr>
        <p:spPr>
          <a:xfrm>
            <a:off x="9524756" y="2386076"/>
            <a:ext cx="2055818" cy="502920"/>
          </a:xfrm>
          <a:prstGeom prst="rect">
            <a:avLst/>
          </a:prstGeom>
          <a:noFill/>
        </p:spPr>
        <p:txBody>
          <a:bodyPr wrap="square"/>
          <a:lstStyle/>
          <a:p>
            <a:pPr algn="r"/>
            <a:r>
              <a:rPr sz="1100" b="0" i="0">
                <a:solidFill>
                  <a:srgbClr val="4B2E83"/>
                </a:solidFill>
                <a:latin typeface="Arial"/>
              </a:rPr>
              <a:t>+0.30 (p = 0.61)</a:t>
            </a:r>
          </a:p>
        </p:txBody>
      </p:sp>
      <p:sp>
        <p:nvSpPr>
          <p:cNvPr id="21" name="Rectangle 20"/>
          <p:cNvSpPr/>
          <p:nvPr/>
        </p:nvSpPr>
        <p:spPr>
          <a:xfrm>
            <a:off x="502920" y="2825496"/>
            <a:ext cx="5410047" cy="502920"/>
          </a:xfrm>
          <a:prstGeom prst="rect">
            <a:avLst/>
          </a:prstGeom>
          <a:solidFill>
            <a:srgbClr val="F2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78727" y="2825496"/>
            <a:ext cx="5410047" cy="502920"/>
          </a:xfrm>
          <a:prstGeom prst="rect">
            <a:avLst/>
          </a:prstGeom>
          <a:solidFill>
            <a:srgbClr val="F2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2888996"/>
            <a:ext cx="2975526" cy="502920"/>
          </a:xfrm>
          <a:prstGeom prst="rect">
            <a:avLst/>
          </a:prstGeom>
          <a:noFill/>
        </p:spPr>
        <p:txBody>
          <a:bodyPr wrap="square"/>
          <a:lstStyle/>
          <a:p>
            <a:pPr algn="l"/>
            <a:r>
              <a:rPr sz="1100" b="0" i="0">
                <a:solidFill>
                  <a:srgbClr val="2A2D2B"/>
                </a:solidFill>
                <a:latin typeface="Arial"/>
              </a:rPr>
              <a:t>Near expressways (max)</a:t>
            </a:r>
          </a:p>
        </p:txBody>
      </p:sp>
      <p:sp>
        <p:nvSpPr>
          <p:cNvPr id="24" name="TextBox 23"/>
          <p:cNvSpPr txBox="1"/>
          <p:nvPr/>
        </p:nvSpPr>
        <p:spPr>
          <a:xfrm>
            <a:off x="3478446" y="2888996"/>
            <a:ext cx="2326320" cy="502920"/>
          </a:xfrm>
          <a:prstGeom prst="rect">
            <a:avLst/>
          </a:prstGeom>
          <a:noFill/>
        </p:spPr>
        <p:txBody>
          <a:bodyPr wrap="square"/>
          <a:lstStyle/>
          <a:p>
            <a:pPr algn="r"/>
            <a:r>
              <a:rPr sz="1100" b="1" i="0">
                <a:solidFill>
                  <a:srgbClr val="B4391B"/>
                </a:solidFill>
                <a:latin typeface="Arial"/>
              </a:rPr>
              <a:t>+1.29 µg/m³</a:t>
            </a:r>
          </a:p>
        </p:txBody>
      </p:sp>
      <p:sp>
        <p:nvSpPr>
          <p:cNvPr id="25" name="TextBox 24"/>
          <p:cNvSpPr txBox="1"/>
          <p:nvPr/>
        </p:nvSpPr>
        <p:spPr>
          <a:xfrm>
            <a:off x="6370167" y="2888996"/>
            <a:ext cx="3246028" cy="502920"/>
          </a:xfrm>
          <a:prstGeom prst="rect">
            <a:avLst/>
          </a:prstGeom>
          <a:noFill/>
        </p:spPr>
        <p:txBody>
          <a:bodyPr wrap="square"/>
          <a:lstStyle/>
          <a:p>
            <a:pPr algn="l"/>
            <a:r>
              <a:rPr sz="1100" b="0" i="0">
                <a:solidFill>
                  <a:srgbClr val="2A2D2B"/>
                </a:solidFill>
                <a:latin typeface="Arial"/>
              </a:rPr>
              <a:t>Cross Bronx peak-hour (wkday) ★</a:t>
            </a:r>
          </a:p>
        </p:txBody>
      </p:sp>
      <p:sp>
        <p:nvSpPr>
          <p:cNvPr id="26" name="TextBox 25"/>
          <p:cNvSpPr txBox="1"/>
          <p:nvPr/>
        </p:nvSpPr>
        <p:spPr>
          <a:xfrm>
            <a:off x="9524756" y="2888996"/>
            <a:ext cx="2055818" cy="502920"/>
          </a:xfrm>
          <a:prstGeom prst="rect">
            <a:avLst/>
          </a:prstGeom>
          <a:noFill/>
        </p:spPr>
        <p:txBody>
          <a:bodyPr wrap="square"/>
          <a:lstStyle/>
          <a:p>
            <a:pPr algn="r"/>
            <a:r>
              <a:rPr sz="1100" b="0" i="0">
                <a:solidFill>
                  <a:srgbClr val="4B2E83"/>
                </a:solidFill>
                <a:latin typeface="Arial"/>
              </a:rPr>
              <a:t>+0.90 (p = 0.04)</a:t>
            </a:r>
          </a:p>
        </p:txBody>
      </p:sp>
      <p:sp>
        <p:nvSpPr>
          <p:cNvPr id="27" name="Rectangle 26"/>
          <p:cNvSpPr/>
          <p:nvPr/>
        </p:nvSpPr>
        <p:spPr>
          <a:xfrm>
            <a:off x="502920" y="3328416"/>
            <a:ext cx="5410047"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78727" y="3328416"/>
            <a:ext cx="5410047"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3391916"/>
            <a:ext cx="2975526" cy="502920"/>
          </a:xfrm>
          <a:prstGeom prst="rect">
            <a:avLst/>
          </a:prstGeom>
          <a:noFill/>
        </p:spPr>
        <p:txBody>
          <a:bodyPr wrap="square"/>
          <a:lstStyle/>
          <a:p>
            <a:pPr algn="l"/>
            <a:r>
              <a:rPr sz="1100" b="0" i="0">
                <a:solidFill>
                  <a:srgbClr val="2A2D2B"/>
                </a:solidFill>
                <a:latin typeface="Arial"/>
              </a:rPr>
              <a:t>Counterfactual</a:t>
            </a:r>
          </a:p>
        </p:txBody>
      </p:sp>
      <p:sp>
        <p:nvSpPr>
          <p:cNvPr id="30" name="TextBox 29"/>
          <p:cNvSpPr txBox="1"/>
          <p:nvPr/>
        </p:nvSpPr>
        <p:spPr>
          <a:xfrm>
            <a:off x="3478446" y="3391916"/>
            <a:ext cx="2326320" cy="502920"/>
          </a:xfrm>
          <a:prstGeom prst="rect">
            <a:avLst/>
          </a:prstGeom>
          <a:noFill/>
        </p:spPr>
        <p:txBody>
          <a:bodyPr wrap="square"/>
          <a:lstStyle/>
          <a:p>
            <a:pPr algn="r"/>
            <a:r>
              <a:rPr sz="1100" b="0" i="0">
                <a:solidFill>
                  <a:srgbClr val="2A2D2B"/>
                </a:solidFill>
                <a:latin typeface="Arial"/>
              </a:rPr>
              <a:t>Raw 2024 → 2025</a:t>
            </a:r>
          </a:p>
        </p:txBody>
      </p:sp>
      <p:sp>
        <p:nvSpPr>
          <p:cNvPr id="31" name="TextBox 30"/>
          <p:cNvSpPr txBox="1"/>
          <p:nvPr/>
        </p:nvSpPr>
        <p:spPr>
          <a:xfrm>
            <a:off x="6370167" y="3391916"/>
            <a:ext cx="3246028" cy="502920"/>
          </a:xfrm>
          <a:prstGeom prst="rect">
            <a:avLst/>
          </a:prstGeom>
          <a:noFill/>
        </p:spPr>
        <p:txBody>
          <a:bodyPr wrap="square"/>
          <a:lstStyle/>
          <a:p>
            <a:pPr algn="l"/>
            <a:r>
              <a:rPr sz="1100" b="0" i="0">
                <a:solidFill>
                  <a:srgbClr val="2A2D2B"/>
                </a:solidFill>
                <a:latin typeface="Arial"/>
              </a:rPr>
              <a:t>Counterfactual</a:t>
            </a:r>
          </a:p>
        </p:txBody>
      </p:sp>
      <p:sp>
        <p:nvSpPr>
          <p:cNvPr id="32" name="TextBox 31"/>
          <p:cNvSpPr txBox="1"/>
          <p:nvPr/>
        </p:nvSpPr>
        <p:spPr>
          <a:xfrm>
            <a:off x="9524756" y="3391916"/>
            <a:ext cx="2055818" cy="502920"/>
          </a:xfrm>
          <a:prstGeom prst="rect">
            <a:avLst/>
          </a:prstGeom>
          <a:noFill/>
        </p:spPr>
        <p:txBody>
          <a:bodyPr wrap="square"/>
          <a:lstStyle/>
          <a:p>
            <a:pPr algn="r"/>
            <a:r>
              <a:rPr sz="1100" b="0" i="0">
                <a:solidFill>
                  <a:srgbClr val="4B2E83"/>
                </a:solidFill>
                <a:latin typeface="Arial"/>
              </a:rPr>
              <a:t>QC + Van Wyck trend</a:t>
            </a:r>
          </a:p>
        </p:txBody>
      </p:sp>
      <p:cxnSp>
        <p:nvCxnSpPr>
          <p:cNvPr id="33" name="Connector 32"/>
          <p:cNvCxnSpPr/>
          <p:nvPr/>
        </p:nvCxnSpPr>
        <p:spPr>
          <a:xfrm>
            <a:off x="502920" y="3895344"/>
            <a:ext cx="11185855" cy="0"/>
          </a:xfrm>
          <a:prstGeom prst="line">
            <a:avLst/>
          </a:prstGeom>
          <a:ln w="9525">
            <a:solidFill>
              <a:srgbClr val="D8DBD8"/>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920" y="3977639"/>
            <a:ext cx="11185855" cy="804672"/>
          </a:xfrm>
          <a:prstGeom prst="rect">
            <a:avLst/>
          </a:prstGeom>
          <a:noFill/>
        </p:spPr>
        <p:txBody>
          <a:bodyPr wrap="square"/>
          <a:lstStyle/>
          <a:p>
            <a:pPr algn="l"/>
            <a:r>
              <a:rPr sz="1400" b="0" i="0">
                <a:solidFill>
                  <a:srgbClr val="2A2D2B"/>
                </a:solidFill>
                <a:latin typeface="Arial"/>
              </a:rPr>
              <a:t>South Bronx Unite’s increases are real. Our control-adjusted estimates show the same underlying signal — but the regional PM₂.₅ trend moved every outside-zone site identically, regardless of borough or EJ status.</a:t>
            </a:r>
          </a:p>
        </p:txBody>
      </p:sp>
      <p:sp>
        <p:nvSpPr>
          <p:cNvPr id="35" name="TextBox 34"/>
          <p:cNvSpPr txBox="1"/>
          <p:nvPr/>
        </p:nvSpPr>
        <p:spPr>
          <a:xfrm>
            <a:off x="502920" y="6309360"/>
            <a:ext cx="11185855" cy="438912"/>
          </a:xfrm>
          <a:prstGeom prst="rect">
            <a:avLst/>
          </a:prstGeom>
          <a:noFill/>
        </p:spPr>
        <p:txBody>
          <a:bodyPr wrap="square"/>
          <a:lstStyle/>
          <a:p>
            <a:pPr algn="l"/>
            <a:r>
              <a:rPr sz="800" b="0" i="1">
                <a:solidFill>
                  <a:srgbClr val="6B706C"/>
                </a:solidFill>
                <a:latin typeface="Arial"/>
              </a:rPr>
              <a:t>Check 2 (peak-hour ITS) and Check 7 (matched-day DiD). ★ = one significant result among 22 peak/overnight tests.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2A2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85855" cy="347472"/>
          </a:xfrm>
          <a:prstGeom prst="rect">
            <a:avLst/>
          </a:prstGeom>
          <a:noFill/>
        </p:spPr>
        <p:txBody>
          <a:bodyPr wrap="square"/>
          <a:lstStyle/>
          <a:p>
            <a:pPr algn="l"/>
            <a:r>
              <a:rPr sz="1000" b="1" i="0">
                <a:solidFill>
                  <a:srgbClr val="6B706C"/>
                </a:solidFill>
                <a:latin typeface="Arial"/>
              </a:rPr>
              <a:t>SO WHAT REACHES THE BRONX?</a:t>
            </a:r>
          </a:p>
        </p:txBody>
      </p:sp>
      <p:sp>
        <p:nvSpPr>
          <p:cNvPr id="4" name="TextBox 3"/>
          <p:cNvSpPr txBox="1"/>
          <p:nvPr/>
        </p:nvSpPr>
        <p:spPr>
          <a:xfrm>
            <a:off x="502920" y="758952"/>
            <a:ext cx="11185855" cy="502920"/>
          </a:xfrm>
          <a:prstGeom prst="rect">
            <a:avLst/>
          </a:prstGeom>
          <a:noFill/>
        </p:spPr>
        <p:txBody>
          <a:bodyPr wrap="square"/>
          <a:lstStyle/>
          <a:p>
            <a:pPr algn="l"/>
            <a:r>
              <a:rPr sz="2600" b="1" i="0">
                <a:solidFill>
                  <a:srgbClr val="2A2D2B"/>
                </a:solidFill>
                <a:latin typeface="Arial"/>
              </a:rPr>
              <a:t>The leverage is in the boulevard, not the toll.</a:t>
            </a:r>
          </a:p>
        </p:txBody>
      </p:sp>
      <p:sp>
        <p:nvSpPr>
          <p:cNvPr id="5" name="TextBox 4"/>
          <p:cNvSpPr txBox="1"/>
          <p:nvPr/>
        </p:nvSpPr>
        <p:spPr>
          <a:xfrm>
            <a:off x="502920" y="1353312"/>
            <a:ext cx="3728618" cy="960120"/>
          </a:xfrm>
          <a:prstGeom prst="rect">
            <a:avLst/>
          </a:prstGeom>
          <a:noFill/>
        </p:spPr>
        <p:txBody>
          <a:bodyPr wrap="square"/>
          <a:lstStyle/>
          <a:p>
            <a:pPr algn="ctr"/>
            <a:r>
              <a:rPr sz="6400" b="1" i="0">
                <a:solidFill>
                  <a:srgbClr val="4B2E83"/>
                </a:solidFill>
                <a:latin typeface="Arial"/>
              </a:rPr>
              <a:t>44 m</a:t>
            </a:r>
          </a:p>
        </p:txBody>
      </p:sp>
      <p:sp>
        <p:nvSpPr>
          <p:cNvPr id="6" name="TextBox 5"/>
          <p:cNvSpPr txBox="1"/>
          <p:nvPr/>
        </p:nvSpPr>
        <p:spPr>
          <a:xfrm>
            <a:off x="594360" y="2267712"/>
            <a:ext cx="3545738" cy="658368"/>
          </a:xfrm>
          <a:prstGeom prst="rect">
            <a:avLst/>
          </a:prstGeom>
          <a:noFill/>
        </p:spPr>
        <p:txBody>
          <a:bodyPr wrap="square"/>
          <a:lstStyle/>
          <a:p>
            <a:pPr algn="ctr"/>
            <a:r>
              <a:rPr sz="1200" b="0" i="0">
                <a:solidFill>
                  <a:srgbClr val="2A2D2B"/>
                </a:solidFill>
                <a:latin typeface="Arial"/>
              </a:rPr>
              <a:t>from the Major Deegan
to the Mott Haven monitor</a:t>
            </a:r>
          </a:p>
        </p:txBody>
      </p:sp>
      <p:sp>
        <p:nvSpPr>
          <p:cNvPr id="7" name="TextBox 6"/>
          <p:cNvSpPr txBox="1"/>
          <p:nvPr/>
        </p:nvSpPr>
        <p:spPr>
          <a:xfrm>
            <a:off x="4231538" y="1353312"/>
            <a:ext cx="3728618" cy="960120"/>
          </a:xfrm>
          <a:prstGeom prst="rect">
            <a:avLst/>
          </a:prstGeom>
          <a:noFill/>
        </p:spPr>
        <p:txBody>
          <a:bodyPr wrap="square"/>
          <a:lstStyle/>
          <a:p>
            <a:pPr algn="ctr"/>
            <a:r>
              <a:rPr sz="6400" b="1" i="0">
                <a:solidFill>
                  <a:srgbClr val="4B2E83"/>
                </a:solidFill>
                <a:latin typeface="Arial"/>
              </a:rPr>
              <a:t>6 km</a:t>
            </a:r>
          </a:p>
        </p:txBody>
      </p:sp>
      <p:sp>
        <p:nvSpPr>
          <p:cNvPr id="8" name="TextBox 7"/>
          <p:cNvSpPr txBox="1"/>
          <p:nvPr/>
        </p:nvSpPr>
        <p:spPr>
          <a:xfrm>
            <a:off x="4322978" y="2267712"/>
            <a:ext cx="3545738" cy="658368"/>
          </a:xfrm>
          <a:prstGeom prst="rect">
            <a:avLst/>
          </a:prstGeom>
          <a:noFill/>
        </p:spPr>
        <p:txBody>
          <a:bodyPr wrap="square"/>
          <a:lstStyle/>
          <a:p>
            <a:pPr algn="ctr"/>
            <a:r>
              <a:rPr sz="1200" b="0" i="0">
                <a:solidFill>
                  <a:srgbClr val="2A2D2B"/>
                </a:solidFill>
                <a:latin typeface="Arial"/>
              </a:rPr>
              <a:t>from Mott Haven
to the nearest CRZ toll point</a:t>
            </a:r>
          </a:p>
        </p:txBody>
      </p:sp>
      <p:sp>
        <p:nvSpPr>
          <p:cNvPr id="9" name="TextBox 8"/>
          <p:cNvSpPr txBox="1"/>
          <p:nvPr/>
        </p:nvSpPr>
        <p:spPr>
          <a:xfrm>
            <a:off x="7960156" y="1353312"/>
            <a:ext cx="3728618" cy="960120"/>
          </a:xfrm>
          <a:prstGeom prst="rect">
            <a:avLst/>
          </a:prstGeom>
          <a:noFill/>
        </p:spPr>
        <p:txBody>
          <a:bodyPr wrap="square"/>
          <a:lstStyle/>
          <a:p>
            <a:pPr algn="ctr"/>
            <a:r>
              <a:rPr sz="6400" b="1" i="0">
                <a:solidFill>
                  <a:srgbClr val="4B2E83"/>
                </a:solidFill>
                <a:latin typeface="Arial"/>
              </a:rPr>
              <a:t>9</a:t>
            </a:r>
          </a:p>
        </p:txBody>
      </p:sp>
      <p:sp>
        <p:nvSpPr>
          <p:cNvPr id="10" name="TextBox 9"/>
          <p:cNvSpPr txBox="1"/>
          <p:nvPr/>
        </p:nvSpPr>
        <p:spPr>
          <a:xfrm>
            <a:off x="8051596" y="2267712"/>
            <a:ext cx="3545738" cy="658368"/>
          </a:xfrm>
          <a:prstGeom prst="rect">
            <a:avLst/>
          </a:prstGeom>
          <a:noFill/>
        </p:spPr>
        <p:txBody>
          <a:bodyPr wrap="square"/>
          <a:lstStyle/>
          <a:p>
            <a:pPr algn="ctr"/>
            <a:r>
              <a:rPr sz="1200" b="0" i="0">
                <a:solidFill>
                  <a:srgbClr val="2A2D2B"/>
                </a:solidFill>
                <a:latin typeface="Arial"/>
              </a:rPr>
              <a:t>school entries within
400 m of the monitor</a:t>
            </a:r>
          </a:p>
        </p:txBody>
      </p:sp>
      <p:cxnSp>
        <p:nvCxnSpPr>
          <p:cNvPr id="11" name="Connector 10"/>
          <p:cNvCxnSpPr/>
          <p:nvPr/>
        </p:nvCxnSpPr>
        <p:spPr>
          <a:xfrm>
            <a:off x="502920" y="2999232"/>
            <a:ext cx="11185855" cy="0"/>
          </a:xfrm>
          <a:prstGeom prst="line">
            <a:avLst/>
          </a:prstGeom>
          <a:ln w="9525">
            <a:solidFill>
              <a:srgbClr val="D8DBD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02920" y="3072384"/>
            <a:ext cx="11185855" cy="384048"/>
          </a:xfrm>
          <a:prstGeom prst="rect">
            <a:avLst/>
          </a:prstGeom>
          <a:noFill/>
        </p:spPr>
        <p:txBody>
          <a:bodyPr wrap="square"/>
          <a:lstStyle/>
          <a:p>
            <a:pPr algn="l"/>
            <a:r>
              <a:rPr sz="1300" b="1" i="0">
                <a:solidFill>
                  <a:srgbClr val="2A2D2B"/>
                </a:solidFill>
                <a:latin typeface="Arial"/>
              </a:rPr>
              <a:t>Traffic → PM₂.₅ at Mott Haven  (back-of-envelope, honest about it)</a:t>
            </a:r>
          </a:p>
        </p:txBody>
      </p:sp>
      <p:sp>
        <p:nvSpPr>
          <p:cNvPr id="13" name="Rectangle 12"/>
          <p:cNvSpPr/>
          <p:nvPr/>
        </p:nvSpPr>
        <p:spPr>
          <a:xfrm>
            <a:off x="502920" y="3493008"/>
            <a:ext cx="11185855" cy="548640"/>
          </a:xfrm>
          <a:prstGeom prst="rect">
            <a:avLst/>
          </a:prstGeom>
          <a:solidFill>
            <a:srgbClr val="F2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569208"/>
            <a:ext cx="7772400" cy="548640"/>
          </a:xfrm>
          <a:prstGeom prst="rect">
            <a:avLst/>
          </a:prstGeom>
          <a:noFill/>
        </p:spPr>
        <p:txBody>
          <a:bodyPr wrap="square"/>
          <a:lstStyle/>
          <a:p>
            <a:pPr algn="l"/>
            <a:r>
              <a:rPr sz="1200" b="0" i="0">
                <a:solidFill>
                  <a:srgbClr val="2A2D2B"/>
                </a:solidFill>
                <a:latin typeface="Arial"/>
              </a:rPr>
              <a:t>Current traffic contribution at this monitor</a:t>
            </a:r>
          </a:p>
        </p:txBody>
      </p:sp>
      <p:sp>
        <p:nvSpPr>
          <p:cNvPr id="15" name="TextBox 14"/>
          <p:cNvSpPr txBox="1"/>
          <p:nvPr/>
        </p:nvSpPr>
        <p:spPr>
          <a:xfrm>
            <a:off x="8396935" y="3569208"/>
            <a:ext cx="3200400" cy="548640"/>
          </a:xfrm>
          <a:prstGeom prst="rect">
            <a:avLst/>
          </a:prstGeom>
          <a:noFill/>
        </p:spPr>
        <p:txBody>
          <a:bodyPr wrap="square"/>
          <a:lstStyle/>
          <a:p>
            <a:pPr algn="r"/>
            <a:r>
              <a:rPr sz="1200" b="1" i="0">
                <a:solidFill>
                  <a:srgbClr val="2A2D2B"/>
                </a:solidFill>
                <a:latin typeface="Arial"/>
              </a:rPr>
              <a:t>~1–2 µg/m³</a:t>
            </a:r>
          </a:p>
        </p:txBody>
      </p:sp>
      <p:sp>
        <p:nvSpPr>
          <p:cNvPr id="16" name="Rectangle 15"/>
          <p:cNvSpPr/>
          <p:nvPr/>
        </p:nvSpPr>
        <p:spPr>
          <a:xfrm>
            <a:off x="502920" y="4041648"/>
            <a:ext cx="11185855"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117848"/>
            <a:ext cx="7772400" cy="548640"/>
          </a:xfrm>
          <a:prstGeom prst="rect">
            <a:avLst/>
          </a:prstGeom>
          <a:noFill/>
        </p:spPr>
        <p:txBody>
          <a:bodyPr wrap="square"/>
          <a:lstStyle/>
          <a:p>
            <a:pPr algn="l"/>
            <a:r>
              <a:rPr sz="1200" b="0" i="0">
                <a:solidFill>
                  <a:srgbClr val="2A2D2B"/>
                </a:solidFill>
                <a:latin typeface="Arial"/>
              </a:rPr>
              <a:t>Effect of halving corridor traffic</a:t>
            </a:r>
          </a:p>
        </p:txBody>
      </p:sp>
      <p:sp>
        <p:nvSpPr>
          <p:cNvPr id="18" name="TextBox 17"/>
          <p:cNvSpPr txBox="1"/>
          <p:nvPr/>
        </p:nvSpPr>
        <p:spPr>
          <a:xfrm>
            <a:off x="8396935" y="4117848"/>
            <a:ext cx="3200400" cy="548640"/>
          </a:xfrm>
          <a:prstGeom prst="rect">
            <a:avLst/>
          </a:prstGeom>
          <a:noFill/>
        </p:spPr>
        <p:txBody>
          <a:bodyPr wrap="square"/>
          <a:lstStyle/>
          <a:p>
            <a:pPr algn="r"/>
            <a:r>
              <a:rPr sz="1200" b="1" i="0">
                <a:solidFill>
                  <a:srgbClr val="2F6B3A"/>
                </a:solidFill>
                <a:latin typeface="Arial"/>
              </a:rPr>
              <a:t>~0.5–1 µg/m³ reduction</a:t>
            </a:r>
          </a:p>
        </p:txBody>
      </p:sp>
      <p:sp>
        <p:nvSpPr>
          <p:cNvPr id="19" name="Rectangle 18"/>
          <p:cNvSpPr/>
          <p:nvPr/>
        </p:nvSpPr>
        <p:spPr>
          <a:xfrm>
            <a:off x="502920" y="4590288"/>
            <a:ext cx="11185855" cy="548640"/>
          </a:xfrm>
          <a:prstGeom prst="rect">
            <a:avLst/>
          </a:prstGeom>
          <a:solidFill>
            <a:srgbClr val="F2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666488"/>
            <a:ext cx="7772400" cy="548640"/>
          </a:xfrm>
          <a:prstGeom prst="rect">
            <a:avLst/>
          </a:prstGeom>
          <a:noFill/>
        </p:spPr>
        <p:txBody>
          <a:bodyPr wrap="square"/>
          <a:lstStyle/>
          <a:p>
            <a:pPr algn="l"/>
            <a:r>
              <a:rPr sz="1200" b="0" i="0">
                <a:solidFill>
                  <a:srgbClr val="2A2D2B"/>
                </a:solidFill>
                <a:latin typeface="Arial"/>
              </a:rPr>
              <a:t>Largest toll effect measured outside the zone</a:t>
            </a:r>
          </a:p>
        </p:txBody>
      </p:sp>
      <p:sp>
        <p:nvSpPr>
          <p:cNvPr id="21" name="TextBox 20"/>
          <p:cNvSpPr txBox="1"/>
          <p:nvPr/>
        </p:nvSpPr>
        <p:spPr>
          <a:xfrm>
            <a:off x="8396935" y="4666488"/>
            <a:ext cx="3200400" cy="548640"/>
          </a:xfrm>
          <a:prstGeom prst="rect">
            <a:avLst/>
          </a:prstGeom>
          <a:noFill/>
        </p:spPr>
        <p:txBody>
          <a:bodyPr wrap="square"/>
          <a:lstStyle/>
          <a:p>
            <a:pPr algn="r"/>
            <a:r>
              <a:rPr sz="1200" b="1" i="0">
                <a:solidFill>
                  <a:srgbClr val="B4391B"/>
                </a:solidFill>
                <a:latin typeface="Arial"/>
              </a:rPr>
              <a:t>~0 (statistically null)</a:t>
            </a:r>
          </a:p>
        </p:txBody>
      </p:sp>
      <p:sp>
        <p:nvSpPr>
          <p:cNvPr id="22" name="TextBox 21"/>
          <p:cNvSpPr txBox="1"/>
          <p:nvPr/>
        </p:nvSpPr>
        <p:spPr>
          <a:xfrm>
            <a:off x="502920" y="6291072"/>
            <a:ext cx="11185855" cy="438912"/>
          </a:xfrm>
          <a:prstGeom prst="rect">
            <a:avLst/>
          </a:prstGeom>
          <a:noFill/>
        </p:spPr>
        <p:txBody>
          <a:bodyPr wrap="square"/>
          <a:lstStyle/>
          <a:p>
            <a:pPr algn="l"/>
            <a:r>
              <a:rPr sz="800" b="0" i="1">
                <a:solidFill>
                  <a:srgbClr val="6B706C"/>
                </a:solidFill>
                <a:latin typeface="Arial"/>
              </a:rPr>
              <a:t>Mechanism slope: +0.018 µg/m³ per 1,000 veh/day at Throgs Neck (p=0.27, 2022–2024). Halving estimate is back-of-envelope. Schools: NYC DOE geocoded within 400 m of monitor.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2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85855" cy="347472"/>
          </a:xfrm>
          <a:prstGeom prst="rect">
            <a:avLst/>
          </a:prstGeom>
          <a:noFill/>
        </p:spPr>
        <p:txBody>
          <a:bodyPr wrap="square"/>
          <a:lstStyle/>
          <a:p>
            <a:pPr algn="l"/>
            <a:r>
              <a:rPr sz="1000" b="1" i="0">
                <a:solidFill>
                  <a:srgbClr val="2F6B3A"/>
                </a:solidFill>
                <a:latin typeface="Arial"/>
              </a:rPr>
              <a:t>PART II — THE GREEN CORRIDOR</a:t>
            </a:r>
          </a:p>
        </p:txBody>
      </p:sp>
      <p:sp>
        <p:nvSpPr>
          <p:cNvPr id="4" name="TextBox 3"/>
          <p:cNvSpPr txBox="1"/>
          <p:nvPr/>
        </p:nvSpPr>
        <p:spPr>
          <a:xfrm>
            <a:off x="502920" y="758952"/>
            <a:ext cx="11185855" cy="502920"/>
          </a:xfrm>
          <a:prstGeom prst="rect">
            <a:avLst/>
          </a:prstGeom>
          <a:noFill/>
        </p:spPr>
        <p:txBody>
          <a:bodyPr wrap="square"/>
          <a:lstStyle/>
          <a:p>
            <a:pPr algn="l"/>
            <a:r>
              <a:rPr sz="2600" b="1" i="0">
                <a:solidFill>
                  <a:srgbClr val="2A2D2B"/>
                </a:solidFill>
                <a:latin typeface="Arial"/>
              </a:rPr>
              <a:t>What the mitigation money already on the table should buy.</a:t>
            </a:r>
          </a:p>
        </p:txBody>
      </p:sp>
      <p:sp>
        <p:nvSpPr>
          <p:cNvPr id="5" name="TextBox 4"/>
          <p:cNvSpPr txBox="1"/>
          <p:nvPr/>
        </p:nvSpPr>
        <p:spPr>
          <a:xfrm>
            <a:off x="502920" y="1298448"/>
            <a:ext cx="11185855" cy="347472"/>
          </a:xfrm>
          <a:prstGeom prst="rect">
            <a:avLst/>
          </a:prstGeom>
          <a:noFill/>
        </p:spPr>
        <p:txBody>
          <a:bodyPr wrap="square"/>
          <a:lstStyle/>
          <a:p>
            <a:pPr algn="l"/>
            <a:r>
              <a:rPr sz="1200" b="0" i="1">
                <a:solidFill>
                  <a:srgbClr val="6B706C"/>
                </a:solidFill>
                <a:latin typeface="Arial"/>
              </a:rPr>
              <a:t>Mott Haven  ·  H/W 1.02  ·  existing canopy 4% vs. 22% citywide  ·  canyon discount 13%</a:t>
            </a:r>
          </a:p>
        </p:txBody>
      </p:sp>
      <p:sp>
        <p:nvSpPr>
          <p:cNvPr id="6" name="Rectangle 5"/>
          <p:cNvSpPr/>
          <p:nvPr/>
        </p:nvSpPr>
        <p:spPr>
          <a:xfrm>
            <a:off x="502920" y="1719072"/>
            <a:ext cx="11185855" cy="512064"/>
          </a:xfrm>
          <a:prstGeom prst="rect">
            <a:avLst/>
          </a:prstGeom>
          <a:solidFill>
            <a:srgbClr val="2A2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 y="1769872"/>
            <a:ext cx="3429000" cy="512064"/>
          </a:xfrm>
          <a:prstGeom prst="rect">
            <a:avLst/>
          </a:prstGeom>
          <a:noFill/>
        </p:spPr>
        <p:txBody>
          <a:bodyPr wrap="square"/>
          <a:lstStyle/>
          <a:p>
            <a:pPr algn="l"/>
            <a:r>
              <a:rPr sz="1000" b="1" i="0">
                <a:solidFill>
                  <a:srgbClr val="FFFFFF"/>
                </a:solidFill>
                <a:latin typeface="Arial"/>
              </a:rPr>
              <a:t>Typology</a:t>
            </a:r>
          </a:p>
        </p:txBody>
      </p:sp>
      <p:sp>
        <p:nvSpPr>
          <p:cNvPr id="8" name="TextBox 7"/>
          <p:cNvSpPr txBox="1"/>
          <p:nvPr/>
        </p:nvSpPr>
        <p:spPr>
          <a:xfrm>
            <a:off x="4233672" y="1769872"/>
            <a:ext cx="2743200" cy="512064"/>
          </a:xfrm>
          <a:prstGeom prst="rect">
            <a:avLst/>
          </a:prstGeom>
          <a:noFill/>
        </p:spPr>
        <p:txBody>
          <a:bodyPr wrap="square"/>
          <a:lstStyle/>
          <a:p>
            <a:pPr algn="r"/>
            <a:r>
              <a:rPr sz="1000" b="1" i="0">
                <a:solidFill>
                  <a:srgbClr val="FFFFFF"/>
                </a:solidFill>
                <a:latin typeface="Arial"/>
              </a:rPr>
              <a:t>PM₂.₅ removed (canyon-adj., maturity)</a:t>
            </a:r>
          </a:p>
        </p:txBody>
      </p:sp>
      <p:sp>
        <p:nvSpPr>
          <p:cNvPr id="9" name="TextBox 8"/>
          <p:cNvSpPr txBox="1"/>
          <p:nvPr/>
        </p:nvSpPr>
        <p:spPr>
          <a:xfrm>
            <a:off x="7159752" y="1769872"/>
            <a:ext cx="2057400" cy="512064"/>
          </a:xfrm>
          <a:prstGeom prst="rect">
            <a:avLst/>
          </a:prstGeom>
          <a:noFill/>
        </p:spPr>
        <p:txBody>
          <a:bodyPr wrap="square"/>
          <a:lstStyle/>
          <a:p>
            <a:pPr algn="r"/>
            <a:r>
              <a:rPr sz="1000" b="1" i="0">
                <a:solidFill>
                  <a:srgbClr val="FFFFFF"/>
                </a:solidFill>
                <a:latin typeface="Arial"/>
              </a:rPr>
              <a:t>Stormwater (maturity)</a:t>
            </a:r>
          </a:p>
        </p:txBody>
      </p:sp>
      <p:sp>
        <p:nvSpPr>
          <p:cNvPr id="10" name="TextBox 9"/>
          <p:cNvSpPr txBox="1"/>
          <p:nvPr/>
        </p:nvSpPr>
        <p:spPr>
          <a:xfrm>
            <a:off x="9400032" y="1769872"/>
            <a:ext cx="2270455" cy="512064"/>
          </a:xfrm>
          <a:prstGeom prst="rect">
            <a:avLst/>
          </a:prstGeom>
          <a:noFill/>
        </p:spPr>
        <p:txBody>
          <a:bodyPr wrap="square"/>
          <a:lstStyle/>
          <a:p>
            <a:pPr algn="r"/>
            <a:r>
              <a:rPr sz="1000" b="1" i="0">
                <a:solidFill>
                  <a:srgbClr val="FFFFFF"/>
                </a:solidFill>
                <a:latin typeface="Arial"/>
              </a:rPr>
              <a:t>Trees</a:t>
            </a:r>
          </a:p>
        </p:txBody>
      </p:sp>
      <p:sp>
        <p:nvSpPr>
          <p:cNvPr id="11" name="Rectangle 10"/>
          <p:cNvSpPr/>
          <p:nvPr/>
        </p:nvSpPr>
        <p:spPr>
          <a:xfrm>
            <a:off x="502920" y="2231136"/>
            <a:ext cx="11185855" cy="512064"/>
          </a:xfrm>
          <a:prstGeom prst="rect">
            <a:avLst/>
          </a:prstGeom>
          <a:solidFill>
            <a:srgbClr val="F2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 y="2307336"/>
            <a:ext cx="3429000" cy="512064"/>
          </a:xfrm>
          <a:prstGeom prst="rect">
            <a:avLst/>
          </a:prstGeom>
          <a:noFill/>
        </p:spPr>
        <p:txBody>
          <a:bodyPr wrap="square"/>
          <a:lstStyle/>
          <a:p>
            <a:pPr algn="l"/>
            <a:r>
              <a:rPr sz="1200" b="0" i="0">
                <a:solidFill>
                  <a:srgbClr val="2A2D2B"/>
                </a:solidFill>
                <a:latin typeface="Arial"/>
              </a:rPr>
              <a:t>Dense street trees (20 ft spacing)</a:t>
            </a:r>
          </a:p>
        </p:txBody>
      </p:sp>
      <p:sp>
        <p:nvSpPr>
          <p:cNvPr id="13" name="TextBox 12"/>
          <p:cNvSpPr txBox="1"/>
          <p:nvPr/>
        </p:nvSpPr>
        <p:spPr>
          <a:xfrm>
            <a:off x="4233672" y="2307336"/>
            <a:ext cx="2743200" cy="512064"/>
          </a:xfrm>
          <a:prstGeom prst="rect">
            <a:avLst/>
          </a:prstGeom>
          <a:noFill/>
        </p:spPr>
        <p:txBody>
          <a:bodyPr wrap="square"/>
          <a:lstStyle/>
          <a:p>
            <a:pPr algn="r"/>
            <a:r>
              <a:rPr sz="1200" b="1" i="0">
                <a:solidFill>
                  <a:srgbClr val="2F6B3A"/>
                </a:solidFill>
                <a:latin typeface="Arial"/>
              </a:rPr>
              <a:t>6,030 kg/yr</a:t>
            </a:r>
          </a:p>
        </p:txBody>
      </p:sp>
      <p:sp>
        <p:nvSpPr>
          <p:cNvPr id="14" name="TextBox 13"/>
          <p:cNvSpPr txBox="1"/>
          <p:nvPr/>
        </p:nvSpPr>
        <p:spPr>
          <a:xfrm>
            <a:off x="7159752" y="2307336"/>
            <a:ext cx="2057400" cy="512064"/>
          </a:xfrm>
          <a:prstGeom prst="rect">
            <a:avLst/>
          </a:prstGeom>
          <a:noFill/>
        </p:spPr>
        <p:txBody>
          <a:bodyPr wrap="square"/>
          <a:lstStyle/>
          <a:p>
            <a:pPr algn="r"/>
            <a:r>
              <a:rPr sz="1200" b="1" i="0">
                <a:solidFill>
                  <a:srgbClr val="2A2D2B"/>
                </a:solidFill>
                <a:latin typeface="Arial"/>
              </a:rPr>
              <a:t>80,573 kL/yr</a:t>
            </a:r>
          </a:p>
        </p:txBody>
      </p:sp>
      <p:sp>
        <p:nvSpPr>
          <p:cNvPr id="15" name="TextBox 14"/>
          <p:cNvSpPr txBox="1"/>
          <p:nvPr/>
        </p:nvSpPr>
        <p:spPr>
          <a:xfrm>
            <a:off x="9400032" y="2307336"/>
            <a:ext cx="2270455" cy="512064"/>
          </a:xfrm>
          <a:prstGeom prst="rect">
            <a:avLst/>
          </a:prstGeom>
          <a:noFill/>
        </p:spPr>
        <p:txBody>
          <a:bodyPr wrap="square"/>
          <a:lstStyle/>
          <a:p>
            <a:pPr algn="r"/>
            <a:r>
              <a:rPr sz="1200" b="1" i="0">
                <a:solidFill>
                  <a:srgbClr val="2A2D2B"/>
                </a:solidFill>
                <a:latin typeface="Arial"/>
              </a:rPr>
              <a:t>14,864</a:t>
            </a:r>
          </a:p>
        </p:txBody>
      </p:sp>
      <p:sp>
        <p:nvSpPr>
          <p:cNvPr id="16" name="Rectangle 15"/>
          <p:cNvSpPr/>
          <p:nvPr/>
        </p:nvSpPr>
        <p:spPr>
          <a:xfrm>
            <a:off x="502920" y="2743200"/>
            <a:ext cx="11185855"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072" y="2819400"/>
            <a:ext cx="3429000" cy="512064"/>
          </a:xfrm>
          <a:prstGeom prst="rect">
            <a:avLst/>
          </a:prstGeom>
          <a:noFill/>
        </p:spPr>
        <p:txBody>
          <a:bodyPr wrap="square"/>
          <a:lstStyle/>
          <a:p>
            <a:pPr algn="l"/>
            <a:r>
              <a:rPr sz="1200" b="0" i="0">
                <a:solidFill>
                  <a:srgbClr val="2A2D2B"/>
                </a:solidFill>
                <a:latin typeface="Arial"/>
              </a:rPr>
              <a:t>Spaced street trees (40 ft spacing)</a:t>
            </a:r>
          </a:p>
        </p:txBody>
      </p:sp>
      <p:sp>
        <p:nvSpPr>
          <p:cNvPr id="18" name="TextBox 17"/>
          <p:cNvSpPr txBox="1"/>
          <p:nvPr/>
        </p:nvSpPr>
        <p:spPr>
          <a:xfrm>
            <a:off x="4233672" y="2819400"/>
            <a:ext cx="2743200" cy="512064"/>
          </a:xfrm>
          <a:prstGeom prst="rect">
            <a:avLst/>
          </a:prstGeom>
          <a:noFill/>
        </p:spPr>
        <p:txBody>
          <a:bodyPr wrap="square"/>
          <a:lstStyle/>
          <a:p>
            <a:pPr algn="r"/>
            <a:r>
              <a:rPr sz="1200" b="1" i="0">
                <a:solidFill>
                  <a:srgbClr val="2A2D2B"/>
                </a:solidFill>
                <a:latin typeface="Arial"/>
              </a:rPr>
              <a:t>3,286 kg/yr</a:t>
            </a:r>
          </a:p>
        </p:txBody>
      </p:sp>
      <p:sp>
        <p:nvSpPr>
          <p:cNvPr id="19" name="TextBox 18"/>
          <p:cNvSpPr txBox="1"/>
          <p:nvPr/>
        </p:nvSpPr>
        <p:spPr>
          <a:xfrm>
            <a:off x="7159752" y="2819400"/>
            <a:ext cx="2057400" cy="512064"/>
          </a:xfrm>
          <a:prstGeom prst="rect">
            <a:avLst/>
          </a:prstGeom>
          <a:noFill/>
        </p:spPr>
        <p:txBody>
          <a:bodyPr wrap="square"/>
          <a:lstStyle/>
          <a:p>
            <a:pPr algn="r"/>
            <a:r>
              <a:rPr sz="1200" b="1" i="0">
                <a:solidFill>
                  <a:srgbClr val="2A2D2B"/>
                </a:solidFill>
                <a:latin typeface="Arial"/>
              </a:rPr>
              <a:t>40,287 kL/yr</a:t>
            </a:r>
          </a:p>
        </p:txBody>
      </p:sp>
      <p:sp>
        <p:nvSpPr>
          <p:cNvPr id="20" name="TextBox 19"/>
          <p:cNvSpPr txBox="1"/>
          <p:nvPr/>
        </p:nvSpPr>
        <p:spPr>
          <a:xfrm>
            <a:off x="9400032" y="2819400"/>
            <a:ext cx="2270455" cy="512064"/>
          </a:xfrm>
          <a:prstGeom prst="rect">
            <a:avLst/>
          </a:prstGeom>
          <a:noFill/>
        </p:spPr>
        <p:txBody>
          <a:bodyPr wrap="square"/>
          <a:lstStyle/>
          <a:p>
            <a:pPr algn="r"/>
            <a:r>
              <a:rPr sz="1200" b="1" i="0">
                <a:solidFill>
                  <a:srgbClr val="2A2D2B"/>
                </a:solidFill>
                <a:latin typeface="Arial"/>
              </a:rPr>
              <a:t>7,432</a:t>
            </a:r>
          </a:p>
        </p:txBody>
      </p:sp>
      <p:sp>
        <p:nvSpPr>
          <p:cNvPr id="21" name="Rectangle 20"/>
          <p:cNvSpPr/>
          <p:nvPr/>
        </p:nvSpPr>
        <p:spPr>
          <a:xfrm>
            <a:off x="502920" y="3255264"/>
            <a:ext cx="11185855" cy="512064"/>
          </a:xfrm>
          <a:prstGeom prst="rect">
            <a:avLst/>
          </a:prstGeom>
          <a:solidFill>
            <a:srgbClr val="F2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 y="3331464"/>
            <a:ext cx="3429000" cy="512064"/>
          </a:xfrm>
          <a:prstGeom prst="rect">
            <a:avLst/>
          </a:prstGeom>
          <a:noFill/>
        </p:spPr>
        <p:txBody>
          <a:bodyPr wrap="square"/>
          <a:lstStyle/>
          <a:p>
            <a:pPr algn="l"/>
            <a:r>
              <a:rPr sz="1200" b="0" i="0">
                <a:solidFill>
                  <a:srgbClr val="2A2D2B"/>
                </a:solidFill>
                <a:latin typeface="Arial"/>
              </a:rPr>
              <a:t>Green wall (south-facing, 2 m height)</a:t>
            </a:r>
          </a:p>
        </p:txBody>
      </p:sp>
      <p:sp>
        <p:nvSpPr>
          <p:cNvPr id="23" name="TextBox 22"/>
          <p:cNvSpPr txBox="1"/>
          <p:nvPr/>
        </p:nvSpPr>
        <p:spPr>
          <a:xfrm>
            <a:off x="4233672" y="3331464"/>
            <a:ext cx="2743200" cy="512064"/>
          </a:xfrm>
          <a:prstGeom prst="rect">
            <a:avLst/>
          </a:prstGeom>
          <a:noFill/>
        </p:spPr>
        <p:txBody>
          <a:bodyPr wrap="square"/>
          <a:lstStyle/>
          <a:p>
            <a:pPr algn="r"/>
            <a:r>
              <a:rPr sz="1200" b="1" i="0">
                <a:solidFill>
                  <a:srgbClr val="2A2D2B"/>
                </a:solidFill>
                <a:latin typeface="Arial"/>
              </a:rPr>
              <a:t>14.2 kg/yr</a:t>
            </a:r>
          </a:p>
        </p:txBody>
      </p:sp>
      <p:sp>
        <p:nvSpPr>
          <p:cNvPr id="24" name="TextBox 23"/>
          <p:cNvSpPr txBox="1"/>
          <p:nvPr/>
        </p:nvSpPr>
        <p:spPr>
          <a:xfrm>
            <a:off x="7159752" y="3331464"/>
            <a:ext cx="2057400" cy="512064"/>
          </a:xfrm>
          <a:prstGeom prst="rect">
            <a:avLst/>
          </a:prstGeom>
          <a:noFill/>
        </p:spPr>
        <p:txBody>
          <a:bodyPr wrap="square"/>
          <a:lstStyle/>
          <a:p>
            <a:pPr algn="r"/>
            <a:r>
              <a:rPr sz="1200" b="1" i="0">
                <a:solidFill>
                  <a:srgbClr val="2A2D2B"/>
                </a:solidFill>
                <a:latin typeface="Arial"/>
              </a:rPr>
              <a:t>not est.</a:t>
            </a:r>
          </a:p>
        </p:txBody>
      </p:sp>
      <p:sp>
        <p:nvSpPr>
          <p:cNvPr id="25" name="TextBox 24"/>
          <p:cNvSpPr txBox="1"/>
          <p:nvPr/>
        </p:nvSpPr>
        <p:spPr>
          <a:xfrm>
            <a:off x="9400032" y="3331464"/>
            <a:ext cx="2270455" cy="512064"/>
          </a:xfrm>
          <a:prstGeom prst="rect">
            <a:avLst/>
          </a:prstGeom>
          <a:noFill/>
        </p:spPr>
        <p:txBody>
          <a:bodyPr wrap="square"/>
          <a:lstStyle/>
          <a:p>
            <a:pPr algn="r"/>
            <a:r>
              <a:rPr sz="1200" b="1" i="0">
                <a:solidFill>
                  <a:srgbClr val="2A2D2B"/>
                </a:solidFill>
                <a:latin typeface="Arial"/>
              </a:rPr>
              <a:t>n/a</a:t>
            </a:r>
          </a:p>
        </p:txBody>
      </p:sp>
      <p:cxnSp>
        <p:nvCxnSpPr>
          <p:cNvPr id="26" name="Connector 25"/>
          <p:cNvCxnSpPr/>
          <p:nvPr/>
        </p:nvCxnSpPr>
        <p:spPr>
          <a:xfrm>
            <a:off x="502920" y="4251960"/>
            <a:ext cx="11185855" cy="0"/>
          </a:xfrm>
          <a:prstGeom prst="line">
            <a:avLst/>
          </a:prstGeom>
          <a:ln w="9525">
            <a:solidFill>
              <a:srgbClr val="D8DBD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02920" y="4325112"/>
            <a:ext cx="11185855" cy="594360"/>
          </a:xfrm>
          <a:prstGeom prst="rect">
            <a:avLst/>
          </a:prstGeom>
          <a:noFill/>
        </p:spPr>
        <p:txBody>
          <a:bodyPr wrap="square"/>
          <a:lstStyle/>
          <a:p>
            <a:pPr algn="l"/>
            <a:r>
              <a:rPr sz="1200" b="0" i="0">
                <a:solidFill>
                  <a:srgbClr val="2A2D2B"/>
                </a:solidFill>
                <a:latin typeface="Arial"/>
              </a:rPr>
              <a:t>Dense canopy in a street canyon traps more particulates than open canopy — hence the 13% discount. Year-1 removal is 10% of maturity; year-20 is 90%.</a:t>
            </a:r>
          </a:p>
        </p:txBody>
      </p:sp>
      <p:sp>
        <p:nvSpPr>
          <p:cNvPr id="28" name="TextBox 27"/>
          <p:cNvSpPr txBox="1"/>
          <p:nvPr/>
        </p:nvSpPr>
        <p:spPr>
          <a:xfrm>
            <a:off x="502920" y="4956048"/>
            <a:ext cx="11185855" cy="475488"/>
          </a:xfrm>
          <a:prstGeom prst="rect">
            <a:avLst/>
          </a:prstGeom>
          <a:noFill/>
        </p:spPr>
        <p:txBody>
          <a:bodyPr wrap="square"/>
          <a:lstStyle/>
          <a:p>
            <a:pPr algn="l"/>
            <a:r>
              <a:rPr sz="2000" b="1" i="0">
                <a:solidFill>
                  <a:srgbClr val="2F6B3A"/>
                </a:solidFill>
                <a:latin typeface="Arial"/>
              </a:rPr>
              <a:t>Best typology at maturity: 6,030 kg PM₂.₅/yr  ·  80,573 kL stormwater/yr</a:t>
            </a:r>
          </a:p>
        </p:txBody>
      </p:sp>
      <p:sp>
        <p:nvSpPr>
          <p:cNvPr id="29" name="TextBox 28"/>
          <p:cNvSpPr txBox="1"/>
          <p:nvPr/>
        </p:nvSpPr>
        <p:spPr>
          <a:xfrm>
            <a:off x="502920" y="6291072"/>
            <a:ext cx="11185855" cy="438912"/>
          </a:xfrm>
          <a:prstGeom prst="rect">
            <a:avLst/>
          </a:prstGeom>
          <a:noFill/>
        </p:spPr>
        <p:txBody>
          <a:bodyPr wrap="square"/>
          <a:lstStyle/>
          <a:p>
            <a:pPr algn="l"/>
            <a:r>
              <a:rPr sz="800" b="0" i="1">
                <a:solidFill>
                  <a:srgbClr val="6B706C"/>
                </a:solidFill>
                <a:latin typeface="Arial"/>
              </a:rPr>
              <a:t>PM₂.₅ removal: Nowak et al. 2006/2018; DBH scaling Hirabayashi 2012. Canyon discount: Li et al. 2019 LES (H/W ramp 0.5–2.5, max 60%). Stormwater: Peper et al. 2007 (i-Tree Streets / USDA). Street-tree census: NYC Parks 2015.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4B2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85855" cy="347472"/>
          </a:xfrm>
          <a:prstGeom prst="rect">
            <a:avLst/>
          </a:prstGeom>
          <a:noFill/>
        </p:spPr>
        <p:txBody>
          <a:bodyPr wrap="square"/>
          <a:lstStyle/>
          <a:p>
            <a:pPr algn="l"/>
            <a:r>
              <a:rPr sz="1000" b="1" i="0">
                <a:solidFill>
                  <a:srgbClr val="4B2E83"/>
                </a:solidFill>
                <a:latin typeface="Arial"/>
              </a:rPr>
              <a:t>THE CLAIM</a:t>
            </a:r>
          </a:p>
        </p:txBody>
      </p:sp>
      <p:sp>
        <p:nvSpPr>
          <p:cNvPr id="4" name="TextBox 3"/>
          <p:cNvSpPr txBox="1"/>
          <p:nvPr/>
        </p:nvSpPr>
        <p:spPr>
          <a:xfrm>
            <a:off x="502920" y="822960"/>
            <a:ext cx="11185855" cy="3474720"/>
          </a:xfrm>
          <a:prstGeom prst="rect">
            <a:avLst/>
          </a:prstGeom>
          <a:noFill/>
        </p:spPr>
        <p:txBody>
          <a:bodyPr wrap="square"/>
          <a:lstStyle/>
          <a:p>
            <a:pPr algn="l"/>
            <a:r>
              <a:rPr sz="2800" b="0" i="0">
                <a:solidFill>
                  <a:srgbClr val="2A2D2B"/>
                </a:solidFill>
                <a:latin typeface="Arial"/>
              </a:rPr>
              <a:t>“Congestion pricing is eliminating pollution, not moving it — but only inside the zone. Outside, air quality is unchanged everywhere we can measure, and the most burdened neighborhoods are exactly where they were.”</a:t>
            </a:r>
          </a:p>
        </p:txBody>
      </p:sp>
      <p:cxnSp>
        <p:nvCxnSpPr>
          <p:cNvPr id="5" name="Connector 4"/>
          <p:cNvCxnSpPr/>
          <p:nvPr/>
        </p:nvCxnSpPr>
        <p:spPr>
          <a:xfrm>
            <a:off x="502920" y="4434840"/>
            <a:ext cx="11185855" cy="0"/>
          </a:xfrm>
          <a:prstGeom prst="line">
            <a:avLst/>
          </a:prstGeom>
          <a:ln w="9525">
            <a:solidFill>
              <a:srgbClr val="D8DBD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4572000"/>
            <a:ext cx="5592927" cy="384048"/>
          </a:xfrm>
          <a:prstGeom prst="rect">
            <a:avLst/>
          </a:prstGeom>
          <a:noFill/>
        </p:spPr>
        <p:txBody>
          <a:bodyPr wrap="square"/>
          <a:lstStyle/>
          <a:p>
            <a:pPr algn="l"/>
            <a:r>
              <a:rPr sz="1300" b="0" i="0">
                <a:solidFill>
                  <a:srgbClr val="4B2E83"/>
                </a:solidFill>
                <a:latin typeface="Arial"/>
              </a:rPr>
              <a:t>furkanberatay.github.io/The_Toll_it_Takes_Project/</a:t>
            </a:r>
          </a:p>
        </p:txBody>
      </p:sp>
      <p:sp>
        <p:nvSpPr>
          <p:cNvPr id="7" name="TextBox 6"/>
          <p:cNvSpPr txBox="1"/>
          <p:nvPr/>
        </p:nvSpPr>
        <p:spPr>
          <a:xfrm>
            <a:off x="6095847" y="4572000"/>
            <a:ext cx="5592927" cy="384048"/>
          </a:xfrm>
          <a:prstGeom prst="rect">
            <a:avLst/>
          </a:prstGeom>
          <a:noFill/>
        </p:spPr>
        <p:txBody>
          <a:bodyPr wrap="square"/>
          <a:lstStyle/>
          <a:p>
            <a:pPr algn="r"/>
            <a:r>
              <a:rPr sz="1300" b="0" i="0">
                <a:solidFill>
                  <a:srgbClr val="4B2E83"/>
                </a:solidFill>
                <a:latin typeface="Arial"/>
              </a:rPr>
              <a:t>github.com/furkanberatay/The_Toll_it_Takes_Project</a:t>
            </a:r>
          </a:p>
        </p:txBody>
      </p:sp>
      <p:cxnSp>
        <p:nvCxnSpPr>
          <p:cNvPr id="8" name="Connector 7"/>
          <p:cNvCxnSpPr/>
          <p:nvPr/>
        </p:nvCxnSpPr>
        <p:spPr>
          <a:xfrm>
            <a:off x="502920" y="5047488"/>
            <a:ext cx="11185855" cy="0"/>
          </a:xfrm>
          <a:prstGeom prst="line">
            <a:avLst/>
          </a:prstGeom>
          <a:ln w="9525">
            <a:solidFill>
              <a:srgbClr val="D8DBD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2920" y="5138928"/>
            <a:ext cx="3728618" cy="566928"/>
          </a:xfrm>
          <a:prstGeom prst="rect">
            <a:avLst/>
          </a:prstGeom>
          <a:noFill/>
        </p:spPr>
        <p:txBody>
          <a:bodyPr wrap="square"/>
          <a:lstStyle/>
          <a:p>
            <a:pPr algn="ctr"/>
            <a:r>
              <a:rPr sz="2600" b="1" i="0">
                <a:solidFill>
                  <a:srgbClr val="2F6B3A"/>
                </a:solidFill>
                <a:latin typeface="Arial"/>
              </a:rPr>
              <a:t>−1.33 µg/m³</a:t>
            </a:r>
          </a:p>
        </p:txBody>
      </p:sp>
      <p:sp>
        <p:nvSpPr>
          <p:cNvPr id="10" name="TextBox 9"/>
          <p:cNvSpPr txBox="1"/>
          <p:nvPr/>
        </p:nvSpPr>
        <p:spPr>
          <a:xfrm>
            <a:off x="502920" y="5687568"/>
            <a:ext cx="3728618" cy="347472"/>
          </a:xfrm>
          <a:prstGeom prst="rect">
            <a:avLst/>
          </a:prstGeom>
          <a:noFill/>
        </p:spPr>
        <p:txBody>
          <a:bodyPr wrap="square"/>
          <a:lstStyle/>
          <a:p>
            <a:pPr algn="ctr"/>
            <a:r>
              <a:rPr sz="1000" b="0" i="0">
                <a:solidFill>
                  <a:srgbClr val="6B706C"/>
                </a:solidFill>
                <a:latin typeface="Arial"/>
              </a:rPr>
              <a:t>Manhattan Bridge (p = 0.03)</a:t>
            </a:r>
          </a:p>
        </p:txBody>
      </p:sp>
      <p:sp>
        <p:nvSpPr>
          <p:cNvPr id="11" name="TextBox 10"/>
          <p:cNvSpPr txBox="1"/>
          <p:nvPr/>
        </p:nvSpPr>
        <p:spPr>
          <a:xfrm>
            <a:off x="4231538" y="5138928"/>
            <a:ext cx="3728618" cy="566928"/>
          </a:xfrm>
          <a:prstGeom prst="rect">
            <a:avLst/>
          </a:prstGeom>
          <a:noFill/>
        </p:spPr>
        <p:txBody>
          <a:bodyPr wrap="square"/>
          <a:lstStyle/>
          <a:p>
            <a:pPr algn="ctr"/>
            <a:r>
              <a:rPr sz="2600" b="1" i="0">
                <a:solidFill>
                  <a:srgbClr val="B4391B"/>
                </a:solidFill>
                <a:latin typeface="Arial"/>
              </a:rPr>
              <a:t>+0.30 µg/m³</a:t>
            </a:r>
          </a:p>
        </p:txBody>
      </p:sp>
      <p:sp>
        <p:nvSpPr>
          <p:cNvPr id="12" name="TextBox 11"/>
          <p:cNvSpPr txBox="1"/>
          <p:nvPr/>
        </p:nvSpPr>
        <p:spPr>
          <a:xfrm>
            <a:off x="4231538" y="5687568"/>
            <a:ext cx="3728618" cy="347472"/>
          </a:xfrm>
          <a:prstGeom prst="rect">
            <a:avLst/>
          </a:prstGeom>
          <a:noFill/>
        </p:spPr>
        <p:txBody>
          <a:bodyPr wrap="square"/>
          <a:lstStyle/>
          <a:p>
            <a:pPr algn="ctr"/>
            <a:r>
              <a:rPr sz="1000" b="0" i="0">
                <a:solidFill>
                  <a:srgbClr val="6B706C"/>
                </a:solidFill>
                <a:latin typeface="Arial"/>
              </a:rPr>
              <a:t>Mott Haven (p = 0.61, n.s.)</a:t>
            </a:r>
          </a:p>
        </p:txBody>
      </p:sp>
      <p:sp>
        <p:nvSpPr>
          <p:cNvPr id="13" name="TextBox 12"/>
          <p:cNvSpPr txBox="1"/>
          <p:nvPr/>
        </p:nvSpPr>
        <p:spPr>
          <a:xfrm>
            <a:off x="7960156" y="5138928"/>
            <a:ext cx="3728618" cy="566928"/>
          </a:xfrm>
          <a:prstGeom prst="rect">
            <a:avLst/>
          </a:prstGeom>
          <a:noFill/>
        </p:spPr>
        <p:txBody>
          <a:bodyPr wrap="square"/>
          <a:lstStyle/>
          <a:p>
            <a:pPr algn="ctr"/>
            <a:r>
              <a:rPr sz="2600" b="1" i="0">
                <a:solidFill>
                  <a:srgbClr val="2A2D2B"/>
                </a:solidFill>
                <a:latin typeface="Arial"/>
              </a:rPr>
              <a:t>−0.38 to +0.02</a:t>
            </a:r>
          </a:p>
        </p:txBody>
      </p:sp>
      <p:sp>
        <p:nvSpPr>
          <p:cNvPr id="14" name="TextBox 13"/>
          <p:cNvSpPr txBox="1"/>
          <p:nvPr/>
        </p:nvSpPr>
        <p:spPr>
          <a:xfrm>
            <a:off x="7960156" y="5687568"/>
            <a:ext cx="3728618" cy="347472"/>
          </a:xfrm>
          <a:prstGeom prst="rect">
            <a:avLst/>
          </a:prstGeom>
          <a:noFill/>
        </p:spPr>
        <p:txBody>
          <a:bodyPr wrap="square"/>
          <a:lstStyle/>
          <a:p>
            <a:pPr algn="ctr"/>
            <a:r>
              <a:rPr sz="1000" b="0" i="0">
                <a:solidFill>
                  <a:srgbClr val="6B706C"/>
                </a:solidFill>
                <a:latin typeface="Arial"/>
              </a:rPr>
              <a:t>EJ gap (none significant)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F2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85855" cy="347472"/>
          </a:xfrm>
          <a:prstGeom prst="rect">
            <a:avLst/>
          </a:prstGeom>
          <a:noFill/>
        </p:spPr>
        <p:txBody>
          <a:bodyPr wrap="square"/>
          <a:lstStyle/>
          <a:p>
            <a:pPr algn="l"/>
            <a:r>
              <a:rPr sz="1000" b="1" i="0">
                <a:solidFill>
                  <a:srgbClr val="6B706C"/>
                </a:solidFill>
                <a:latin typeface="Arial"/>
              </a:rPr>
              <a:t>APPENDIX — not presented</a:t>
            </a:r>
          </a:p>
        </p:txBody>
      </p:sp>
      <p:sp>
        <p:nvSpPr>
          <p:cNvPr id="4" name="TextBox 3"/>
          <p:cNvSpPr txBox="1"/>
          <p:nvPr/>
        </p:nvSpPr>
        <p:spPr>
          <a:xfrm>
            <a:off x="502920" y="758952"/>
            <a:ext cx="11185855" cy="502920"/>
          </a:xfrm>
          <a:prstGeom prst="rect">
            <a:avLst/>
          </a:prstGeom>
          <a:noFill/>
        </p:spPr>
        <p:txBody>
          <a:bodyPr wrap="square"/>
          <a:lstStyle/>
          <a:p>
            <a:pPr algn="l"/>
            <a:r>
              <a:rPr sz="2000" b="1" i="0">
                <a:solidFill>
                  <a:srgbClr val="2A2D2B"/>
                </a:solidFill>
                <a:latin typeface="Arial"/>
              </a:rPr>
              <a:t>ITS full results  ·  Check 9 sensor QC  ·  Limitations</a:t>
            </a:r>
          </a:p>
        </p:txBody>
      </p:sp>
      <p:pic>
        <p:nvPicPr>
          <p:cNvPr id="5" name="Picture 4" descr="check9_table.png"/>
          <p:cNvPicPr>
            <a:picLocks noChangeAspect="1"/>
          </p:cNvPicPr>
          <p:nvPr/>
        </p:nvPicPr>
        <p:blipFill>
          <a:blip r:embed="rId2"/>
          <a:stretch>
            <a:fillRect/>
          </a:stretch>
        </p:blipFill>
        <p:spPr>
          <a:xfrm>
            <a:off x="502920" y="1353312"/>
            <a:ext cx="11185855" cy="3200400"/>
          </a:xfrm>
          <a:prstGeom prst="rect">
            <a:avLst/>
          </a:prstGeom>
        </p:spPr>
      </p:pic>
      <p:cxnSp>
        <p:nvCxnSpPr>
          <p:cNvPr id="6" name="Connector 5"/>
          <p:cNvCxnSpPr/>
          <p:nvPr/>
        </p:nvCxnSpPr>
        <p:spPr>
          <a:xfrm>
            <a:off x="502920" y="4645152"/>
            <a:ext cx="11185855" cy="0"/>
          </a:xfrm>
          <a:prstGeom prst="line">
            <a:avLst/>
          </a:prstGeom>
          <a:ln w="9525">
            <a:solidFill>
              <a:srgbClr val="D8DBD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4718304"/>
            <a:ext cx="11185855" cy="347472"/>
          </a:xfrm>
          <a:prstGeom prst="rect">
            <a:avLst/>
          </a:prstGeom>
          <a:noFill/>
        </p:spPr>
        <p:txBody>
          <a:bodyPr wrap="square"/>
          <a:lstStyle/>
          <a:p>
            <a:pPr algn="l"/>
            <a:r>
              <a:rPr sz="1300" b="1" i="0">
                <a:solidFill>
                  <a:srgbClr val="2A2D2B"/>
                </a:solidFill>
                <a:latin typeface="Arial"/>
              </a:rPr>
              <a:t>Limitations</a:t>
            </a:r>
          </a:p>
        </p:txBody>
      </p:sp>
      <p:sp>
        <p:nvSpPr>
          <p:cNvPr id="8" name="TextBox 7"/>
          <p:cNvSpPr txBox="1"/>
          <p:nvPr/>
        </p:nvSpPr>
        <p:spPr>
          <a:xfrm>
            <a:off x="502920" y="5084064"/>
            <a:ext cx="11185855" cy="256032"/>
          </a:xfrm>
          <a:prstGeom prst="rect">
            <a:avLst/>
          </a:prstGeom>
          <a:noFill/>
        </p:spPr>
        <p:txBody>
          <a:bodyPr wrap="square"/>
          <a:lstStyle/>
          <a:p>
            <a:pPr algn="l"/>
            <a:r>
              <a:rPr sz="1100" b="0" i="0">
                <a:solidFill>
                  <a:srgbClr val="2A2D2B"/>
                </a:solidFill>
                <a:latin typeface="Arial"/>
              </a:rPr>
              <a:t>•  Control drift: Van Wyck trend differs from QC by ~0.2 µg/m³ — choice of control shifts outside-zone estimates.</a:t>
            </a:r>
          </a:p>
        </p:txBody>
      </p:sp>
      <p:sp>
        <p:nvSpPr>
          <p:cNvPr id="9" name="TextBox 8"/>
          <p:cNvSpPr txBox="1"/>
          <p:nvPr/>
        </p:nvSpPr>
        <p:spPr>
          <a:xfrm>
            <a:off x="502920" y="5358384"/>
            <a:ext cx="11185855" cy="256032"/>
          </a:xfrm>
          <a:prstGeom prst="rect">
            <a:avLst/>
          </a:prstGeom>
          <a:noFill/>
        </p:spPr>
        <p:txBody>
          <a:bodyPr wrap="square"/>
          <a:lstStyle/>
          <a:p>
            <a:pPr algn="l"/>
            <a:r>
              <a:rPr sz="1100" b="0" i="0">
                <a:solidFill>
                  <a:srgbClr val="2A2D2B"/>
                </a:solidFill>
                <a:latin typeface="Arial"/>
              </a:rPr>
              <a:t>•  PurpleAir coverage: three primary-set sensors (Bay Ridge, Brooklyn Heights, East Harlem); none in the Bronx outside NYCCAS.</a:t>
            </a:r>
          </a:p>
        </p:txBody>
      </p:sp>
      <p:sp>
        <p:nvSpPr>
          <p:cNvPr id="10" name="TextBox 9"/>
          <p:cNvSpPr txBox="1"/>
          <p:nvPr/>
        </p:nvSpPr>
        <p:spPr>
          <a:xfrm>
            <a:off x="502920" y="5632704"/>
            <a:ext cx="11185855" cy="256032"/>
          </a:xfrm>
          <a:prstGeom prst="rect">
            <a:avLst/>
          </a:prstGeom>
          <a:noFill/>
        </p:spPr>
        <p:txBody>
          <a:bodyPr wrap="square"/>
          <a:lstStyle/>
          <a:p>
            <a:pPr algn="l"/>
            <a:r>
              <a:rPr sz="1100" b="0" i="0">
                <a:solidFill>
                  <a:srgbClr val="2A2D2B"/>
                </a:solidFill>
                <a:latin typeface="Arial"/>
              </a:rPr>
              <a:t>•  Nine pre-toll months at Mott Haven in the VW window (monitor online Apr 2024, nine months before the toll).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